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0" r:id="rId4"/>
    <p:sldId id="277" r:id="rId5"/>
    <p:sldId id="261" r:id="rId6"/>
    <p:sldId id="263" r:id="rId7"/>
    <p:sldId id="264" r:id="rId8"/>
    <p:sldId id="265" r:id="rId9"/>
    <p:sldId id="266" r:id="rId10"/>
    <p:sldId id="271" r:id="rId11"/>
    <p:sldId id="272" r:id="rId12"/>
    <p:sldId id="267" r:id="rId13"/>
    <p:sldId id="268" r:id="rId14"/>
    <p:sldId id="273" r:id="rId15"/>
    <p:sldId id="274" r:id="rId16"/>
    <p:sldId id="275" r:id="rId17"/>
    <p:sldId id="276" r:id="rId18"/>
    <p:sldId id="278" r:id="rId19"/>
    <p:sldId id="279" r:id="rId20"/>
    <p:sldId id="280" r:id="rId21"/>
    <p:sldId id="281" r:id="rId22"/>
    <p:sldId id="282" r:id="rId23"/>
    <p:sldId id="283" r:id="rId24"/>
    <p:sldId id="258" r:id="rId2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1" autoAdjust="0"/>
    <p:restoredTop sz="94660"/>
  </p:normalViewPr>
  <p:slideViewPr>
    <p:cSldViewPr>
      <p:cViewPr>
        <p:scale>
          <a:sx n="81" d="100"/>
          <a:sy n="81" d="100"/>
        </p:scale>
        <p:origin x="-978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AD8CDD65-8FD2-45AA-82E1-E8BBD7877CF8}" type="datetimeFigureOut">
              <a:rPr lang="en-US" smtClean="0"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5135AA1-A8AA-4569-9B57-625D8693D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05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77B19546-7CE1-4A60-9279-BCADC0161DB1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DFCFCD5-CD5E-46DE-A74D-45535A5495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4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side.jpg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side.jpg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DB14-79F9-42D3-A497-CA8BB002A855}" type="datetimeFigureOut">
              <a:rPr lang="en-US" smtClean="0"/>
              <a:pPr/>
              <a:t>8/10/2018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DA64D-14F3-4C1A-B2EF-677A5777FE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5188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28600" y="4267200"/>
            <a:ext cx="6027737" cy="904875"/>
          </a:xfrm>
        </p:spPr>
        <p:txBody>
          <a:bodyPr lIns="91440" rIns="91440">
            <a:normAutofit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C.R.A.P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609600" y="1676400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Phát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triển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ứng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</a:t>
            </a:r>
            <a:r>
              <a:rPr kumimoji="0" lang="de-DE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dụng</a:t>
            </a:r>
            <a:r>
              <a:rPr kumimoji="0" lang="de-DE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 web 1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828800" y="2362200"/>
            <a:ext cx="6027737" cy="9048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sz="22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Đại</a:t>
            </a:r>
            <a:r>
              <a:rPr kumimoji="0" lang="en-US" sz="3200" b="0" i="0" u="none" strike="noStrike" kern="1200" cap="none" spc="0" normalizeH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n-ea"/>
                <a:cs typeface="+mn-cs"/>
              </a:rPr>
              <a:t> Học Sài Gòn – Khoa CNTT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uLnTx/>
                <a:uFillTx/>
                <a:latin typeface="Verdana" pitchFamily="34" charset="0"/>
                <a:ea typeface="+mj-ea"/>
                <a:cs typeface="+mj-cs"/>
              </a:rPr>
              <a:t>Nội dung buổi học trước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0" y="6457950"/>
            <a:ext cx="320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</a:t>
            </a:r>
            <a:r>
              <a:rPr lang="de-DE" sz="1800" dirty="0" smtClean="0">
                <a:solidFill>
                  <a:schemeClr val="bg1"/>
                </a:solidFill>
                <a:latin typeface="Verdana" pitchFamily="34" charset="0"/>
              </a:rPr>
              <a:t> – C.R.A.P</a:t>
            </a:r>
            <a:endParaRPr lang="de-DE" sz="1800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458200" y="6477000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2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508049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Giới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thiệu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CSS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Định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nghĩa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Style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và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các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đơn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vị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tính</a:t>
            </a:r>
            <a:endParaRPr lang="en-US" sz="3600" dirty="0" smtClean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Phân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loại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CSS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Phạm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vi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áp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dụng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CSS (selector)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Một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số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tag HTML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dùng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riêng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 CSS</a:t>
            </a:r>
          </a:p>
          <a:p>
            <a:pPr marL="627063" indent="-627063" algn="just">
              <a:lnSpc>
                <a:spcPct val="150000"/>
              </a:lnSpc>
              <a:buFont typeface="Calibri" pitchFamily="32" charset="0"/>
              <a:buAutoNum type="arabicPeriod"/>
              <a:tabLst>
                <a:tab pos="627063" algn="l"/>
                <a:tab pos="1541463" algn="l"/>
                <a:tab pos="2455863" algn="l"/>
                <a:tab pos="3370263" algn="l"/>
                <a:tab pos="4284663" algn="l"/>
                <a:tab pos="5199063" algn="l"/>
                <a:tab pos="6113463" algn="l"/>
                <a:tab pos="7027863" algn="l"/>
                <a:tab pos="7942263" algn="l"/>
                <a:tab pos="8856663" algn="l"/>
                <a:tab pos="9771063" algn="l"/>
                <a:tab pos="10685463" algn="l"/>
              </a:tabLst>
            </a:pP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Thực</a:t>
            </a:r>
            <a:r>
              <a:rPr lang="en-US" sz="3600" dirty="0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 </a:t>
            </a:r>
            <a:r>
              <a:rPr lang="en-US" sz="3600" dirty="0" err="1" smtClean="0">
                <a:solidFill>
                  <a:srgbClr val="000000"/>
                </a:solidFill>
                <a:latin typeface="Verdana" pitchFamily="32" charset="0"/>
                <a:ea typeface="DejaVu Sans" charset="0"/>
                <a:cs typeface="DejaVu Sans" charset="0"/>
              </a:rPr>
              <a:t>hành</a:t>
            </a:r>
            <a:endParaRPr lang="en-US" sz="3600" dirty="0">
              <a:solidFill>
                <a:srgbClr val="000000"/>
              </a:solidFill>
              <a:latin typeface="Verdana" pitchFamily="32" charset="0"/>
              <a:ea typeface="DejaVu Sans" charset="0"/>
              <a:cs typeface="DejaVu San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Nội dung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3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685800"/>
            <a:ext cx="8686800" cy="3934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latin typeface="Verdana" pitchFamily="34" charset="0"/>
              </a:rPr>
              <a:t>Cung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cấp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kiến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thức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về</a:t>
            </a:r>
            <a:r>
              <a:rPr lang="en-US" sz="2800" dirty="0">
                <a:latin typeface="Verdana" pitchFamily="34" charset="0"/>
              </a:rPr>
              <a:t> </a:t>
            </a:r>
            <a:r>
              <a:rPr lang="en-US" sz="2800" dirty="0" smtClean="0">
                <a:latin typeface="Verdana" pitchFamily="34" charset="0"/>
              </a:rPr>
              <a:t>C.R.A.P cho thiết kế: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 smtClean="0">
                <a:latin typeface="Verdana" pitchFamily="34" charset="0"/>
              </a:rPr>
              <a:t>C : Contrast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Verdana" pitchFamily="34" charset="0"/>
              </a:rPr>
              <a:t>R : Repetition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Verdana" pitchFamily="34" charset="0"/>
              </a:rPr>
              <a:t>A : Alignment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 smtClean="0">
                <a:latin typeface="Verdana" pitchFamily="34" charset="0"/>
              </a:rPr>
              <a:t>P: Proximity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800" dirty="0" smtClean="0">
              <a:latin typeface="Verdana" pitchFamily="34" charset="0"/>
            </a:endParaRPr>
          </a:p>
        </p:txBody>
      </p:sp>
      <p:pic>
        <p:nvPicPr>
          <p:cNvPr id="2" name="Picture 1" descr="CRAP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828800"/>
            <a:ext cx="4179664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Tổng quan C.R.A.P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4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685800"/>
            <a:ext cx="8686800" cy="3934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 smtClean="0">
                <a:latin typeface="Verdana" pitchFamily="34" charset="0"/>
              </a:rPr>
              <a:t>Cung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cấp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kiến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thức</a:t>
            </a:r>
            <a:r>
              <a:rPr lang="en-US" sz="2800" dirty="0" smtClean="0">
                <a:latin typeface="Verdana" pitchFamily="34" charset="0"/>
              </a:rPr>
              <a:t> </a:t>
            </a:r>
            <a:r>
              <a:rPr lang="en-US" sz="2800" dirty="0" err="1" smtClean="0">
                <a:latin typeface="Verdana" pitchFamily="34" charset="0"/>
              </a:rPr>
              <a:t>về</a:t>
            </a:r>
            <a:r>
              <a:rPr lang="en-US" sz="2800" dirty="0">
                <a:latin typeface="Verdana" pitchFamily="34" charset="0"/>
              </a:rPr>
              <a:t> </a:t>
            </a:r>
            <a:r>
              <a:rPr lang="en-US" sz="2800" dirty="0" smtClean="0">
                <a:latin typeface="Verdana" pitchFamily="34" charset="0"/>
              </a:rPr>
              <a:t>C.R.A.P cho thiết kế: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 smtClean="0">
                <a:latin typeface="Verdana" pitchFamily="34" charset="0"/>
              </a:rPr>
              <a:t>C : Contrast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Verdana" pitchFamily="34" charset="0"/>
              </a:rPr>
              <a:t>R : Repetition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latin typeface="Verdana" pitchFamily="34" charset="0"/>
              </a:rPr>
              <a:t>A : Alignment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dirty="0" smtClean="0">
                <a:latin typeface="Verdana" pitchFamily="34" charset="0"/>
              </a:rPr>
              <a:t>P: Proximity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800" dirty="0" smtClean="0">
              <a:latin typeface="Verdana" pitchFamily="34" charset="0"/>
            </a:endParaRPr>
          </a:p>
        </p:txBody>
      </p:sp>
      <p:pic>
        <p:nvPicPr>
          <p:cNvPr id="2" name="Picture 1" descr="CRAP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828800"/>
            <a:ext cx="4179664" cy="4038600"/>
          </a:xfrm>
          <a:prstGeom prst="rect">
            <a:avLst/>
          </a:prstGeom>
        </p:spPr>
      </p:pic>
      <p:pic>
        <p:nvPicPr>
          <p:cNvPr id="3" name="Picture 2" descr="CRAP1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"/>
            <a:ext cx="9144000" cy="592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3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Giới thiệu C.R.A.P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5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33400"/>
            <a:ext cx="8839200" cy="6673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4863" indent="-4635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800"/>
              <a:t>C.R.A.P. sẽ không đảm bảo thiết kế hoàn hảo </a:t>
            </a:r>
          </a:p>
          <a:p>
            <a:pPr marL="804863" indent="-4635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800"/>
              <a:t>Bài giảng này là không đủ cho bạn để hiểu đầy đủ về C.R.A.P. </a:t>
            </a:r>
          </a:p>
          <a:p>
            <a:pPr marL="804863" indent="-4635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800"/>
              <a:t>Chỉ khi bạn thật sự hiểu C.R.A.P. bạn sẽ biết khi sử dụng nó và làm thế nào.</a:t>
            </a:r>
          </a:p>
          <a:p>
            <a:pPr marL="804863" indent="-4635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800"/>
              <a:t>Cần đọc Non –Designer’s Book nếu bạn muốn trở thành một nhà thiết kế tốt</a:t>
            </a:r>
          </a:p>
          <a:p>
            <a:pPr marL="804863" indent="-4635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vi-VN" sz="2800"/>
              <a:t>Tôi không phải là một chuyên gia về thiết kế , nhưng tôi biết C.R.A.P. khi tôi nhìn thấy nó</a:t>
            </a:r>
          </a:p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endParaRPr lang="pt-B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C : Contrast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6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33400"/>
            <a:ext cx="8839200" cy="150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vi-VN" sz="2800" b="1" dirty="0" smtClean="0"/>
              <a:t>Contrast : sự tương phản</a:t>
            </a:r>
          </a:p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vi-VN" sz="2800" dirty="0"/>
              <a:t>Thu hút sự quan tâm của người xem</a:t>
            </a:r>
            <a:endParaRPr lang="pt-BR" sz="2800" dirty="0" smtClean="0"/>
          </a:p>
        </p:txBody>
      </p:sp>
      <p:pic>
        <p:nvPicPr>
          <p:cNvPr id="2" name="Picture 1" descr="Screen Shot 2015-11-02 at 1.40.09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"/>
          <a:stretch/>
        </p:blipFill>
        <p:spPr>
          <a:xfrm>
            <a:off x="2133600" y="2209800"/>
            <a:ext cx="4127842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6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C : Contrast – Exhibit 1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7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3" name="Picture 2" descr="Contrast1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33400"/>
            <a:ext cx="4839151" cy="3429000"/>
          </a:xfrm>
          <a:prstGeom prst="rect">
            <a:avLst/>
          </a:prstGeom>
        </p:spPr>
      </p:pic>
      <p:pic>
        <p:nvPicPr>
          <p:cNvPr id="4" name="Picture 3" descr="contrast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962400"/>
            <a:ext cx="4630475" cy="2298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2133600"/>
            <a:ext cx="3584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17375E"/>
                </a:solidFill>
                <a:latin typeface="Tahoma"/>
                <a:cs typeface="Tahoma"/>
              </a:rPr>
              <a:t>GOOD DESIGN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953000"/>
            <a:ext cx="3171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800000"/>
                </a:solidFill>
                <a:latin typeface="Tahoma"/>
                <a:cs typeface="Tahoma"/>
              </a:rPr>
              <a:t>BAD DESIGN ?</a:t>
            </a:r>
          </a:p>
        </p:txBody>
      </p:sp>
    </p:spTree>
    <p:extLst>
      <p:ext uri="{BB962C8B-B14F-4D97-AF65-F5344CB8AC3E}">
        <p14:creationId xmlns:p14="http://schemas.microsoft.com/office/powerpoint/2010/main" val="275654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C : Contrast – Exhibit 2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8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Contrast3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85800"/>
            <a:ext cx="8153400" cy="4586288"/>
          </a:xfrm>
          <a:prstGeom prst="rect">
            <a:avLst/>
          </a:prstGeom>
          <a:ln w="19050" cmpd="sng"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04800" y="5410200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latin typeface="Tahoma"/>
                <a:cs typeface="Tahoma"/>
              </a:rPr>
              <a:t>Độ tương phản không tốt sẽ làm trang web mất đi sức  hút đối với người xem.</a:t>
            </a:r>
          </a:p>
        </p:txBody>
      </p:sp>
    </p:spTree>
    <p:extLst>
      <p:ext uri="{BB962C8B-B14F-4D97-AF65-F5344CB8AC3E}">
        <p14:creationId xmlns:p14="http://schemas.microsoft.com/office/powerpoint/2010/main" val="140914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R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: Repetition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9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33400"/>
            <a:ext cx="8839200" cy="150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vi-VN" sz="2800" b="1" dirty="0" smtClean="0"/>
              <a:t>Repetition : sự lập lại</a:t>
            </a:r>
          </a:p>
          <a:p>
            <a:pPr marL="814388">
              <a:lnSpc>
                <a:spcPct val="150000"/>
              </a:lnSpc>
              <a:spcBef>
                <a:spcPts val="1200"/>
              </a:spcBef>
            </a:pPr>
            <a:r>
              <a:rPr lang="en-US" sz="2800" dirty="0" smtClean="0"/>
              <a:t>L</a:t>
            </a:r>
            <a:r>
              <a:rPr lang="vi-VN" sz="2800" dirty="0" smtClean="0"/>
              <a:t>àm cho website trở nên có tổ chức</a:t>
            </a:r>
          </a:p>
        </p:txBody>
      </p:sp>
      <p:pic>
        <p:nvPicPr>
          <p:cNvPr id="3" name="Picture 2" descr="Screen Shot 2015-11-02 at 1.55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133600"/>
            <a:ext cx="4396350" cy="4038600"/>
          </a:xfrm>
          <a:prstGeom prst="rect">
            <a:avLst/>
          </a:prstGeom>
          <a:ln>
            <a:solidFill>
              <a:srgbClr val="1F497D"/>
            </a:solidFill>
          </a:ln>
        </p:spPr>
      </p:pic>
    </p:spTree>
    <p:extLst>
      <p:ext uri="{BB962C8B-B14F-4D97-AF65-F5344CB8AC3E}">
        <p14:creationId xmlns:p14="http://schemas.microsoft.com/office/powerpoint/2010/main" val="120914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R : Repetition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– Exhibit1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492498"/>
            <a:ext cx="609600" cy="304800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10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3" name="Picture 2" descr="repetition2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685800"/>
            <a:ext cx="5943600" cy="5378958"/>
          </a:xfrm>
          <a:prstGeom prst="rect">
            <a:avLst/>
          </a:prstGeom>
          <a:ln>
            <a:solidFill>
              <a:srgbClr val="1F497D"/>
            </a:solidFill>
          </a:ln>
        </p:spPr>
      </p:pic>
    </p:spTree>
    <p:extLst>
      <p:ext uri="{BB962C8B-B14F-4D97-AF65-F5344CB8AC3E}">
        <p14:creationId xmlns:p14="http://schemas.microsoft.com/office/powerpoint/2010/main" val="4091959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R : Repetition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– Exhibit2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248400"/>
            <a:ext cx="609600" cy="5488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11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Repetition3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34"/>
          <a:stretch/>
        </p:blipFill>
        <p:spPr>
          <a:xfrm>
            <a:off x="1143000" y="762000"/>
            <a:ext cx="6629400" cy="5359435"/>
          </a:xfrm>
          <a:prstGeom prst="rect">
            <a:avLst/>
          </a:prstGeom>
          <a:ln>
            <a:solidFill>
              <a:srgbClr val="1F497D"/>
            </a:solidFill>
          </a:ln>
        </p:spPr>
      </p:pic>
    </p:spTree>
    <p:extLst>
      <p:ext uri="{BB962C8B-B14F-4D97-AF65-F5344CB8AC3E}">
        <p14:creationId xmlns:p14="http://schemas.microsoft.com/office/powerpoint/2010/main" val="82508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R : Repetition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– Exhibit 3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172200"/>
            <a:ext cx="609600" cy="6250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12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Repetition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000"/>
            <a:ext cx="7620000" cy="5080000"/>
          </a:xfrm>
          <a:prstGeom prst="rect">
            <a:avLst/>
          </a:prstGeom>
          <a:ln>
            <a:solidFill>
              <a:srgbClr val="1F497D"/>
            </a:solidFill>
          </a:ln>
        </p:spPr>
      </p:pic>
    </p:spTree>
    <p:extLst>
      <p:ext uri="{BB962C8B-B14F-4D97-AF65-F5344CB8AC3E}">
        <p14:creationId xmlns:p14="http://schemas.microsoft.com/office/powerpoint/2010/main" val="162861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 : Repetition 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– Exhibit 4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248400"/>
            <a:ext cx="609600" cy="5488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13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5410200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>
              <a:latin typeface="Tahoma"/>
              <a:cs typeface="Tahoma"/>
            </a:endParaRPr>
          </a:p>
          <a:p>
            <a:r>
              <a:rPr lang="en-US" sz="2200">
                <a:latin typeface="Tahoma"/>
                <a:cs typeface="Tahoma"/>
              </a:rPr>
              <a:t>Không có sự lặp lại làm cho trang web mất tổ chức.</a:t>
            </a:r>
          </a:p>
        </p:txBody>
      </p:sp>
      <p:pic>
        <p:nvPicPr>
          <p:cNvPr id="3" name="Picture 2" descr="repetition4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09600"/>
            <a:ext cx="7315200" cy="496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7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noProof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A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: Alignment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172200"/>
            <a:ext cx="609600" cy="6250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14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33400"/>
            <a:ext cx="52578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vi-VN" sz="2800" b="1" dirty="0" smtClean="0"/>
              <a:t>Alignment : sự canh lề</a:t>
            </a:r>
          </a:p>
          <a:p>
            <a:pPr marL="714375">
              <a:spcBef>
                <a:spcPts val="1200"/>
              </a:spcBef>
            </a:pPr>
            <a:r>
              <a:rPr lang="en-US" sz="2800" dirty="0" smtClean="0"/>
              <a:t>Không có gì là tuỳ tiện, không thể có yếu tố ngẫu nhiên để lấp đầy không gian trang web. </a:t>
            </a:r>
            <a:endParaRPr lang="vi-VN" sz="2800" dirty="0" smtClean="0"/>
          </a:p>
        </p:txBody>
      </p:sp>
      <p:pic>
        <p:nvPicPr>
          <p:cNvPr id="4" name="Picture 3" descr="alignment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276600"/>
            <a:ext cx="6771968" cy="2895600"/>
          </a:xfrm>
          <a:prstGeom prst="rect">
            <a:avLst/>
          </a:prstGeom>
          <a:ln>
            <a:solidFill>
              <a:srgbClr val="1F497D"/>
            </a:solidFill>
          </a:ln>
        </p:spPr>
      </p:pic>
      <p:pic>
        <p:nvPicPr>
          <p:cNvPr id="5" name="Picture 4" descr="Algn1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609600"/>
            <a:ext cx="3218688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6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noProof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A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: Alignment 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248400"/>
            <a:ext cx="609600" cy="5488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15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>
            <a:extLst/>
          </a:blip>
          <a:srcRect/>
          <a:stretch>
            <a:fillRect/>
          </a:stretch>
        </p:blipFill>
        <p:spPr bwMode="auto">
          <a:xfrm>
            <a:off x="533400" y="609600"/>
            <a:ext cx="3276600" cy="1981200"/>
          </a:xfrm>
          <a:prstGeom prst="rect">
            <a:avLst/>
          </a:prstGeom>
          <a:extLst/>
        </p:spPr>
      </p:pic>
      <p:pic>
        <p:nvPicPr>
          <p:cNvPr id="12" name="Picture 11"/>
          <p:cNvPicPr/>
          <p:nvPr/>
        </p:nvPicPr>
        <p:blipFill>
          <a:blip r:embed="rId3">
            <a:extLst/>
          </a:blip>
          <a:srcRect/>
          <a:stretch>
            <a:fillRect/>
          </a:stretch>
        </p:blipFill>
        <p:spPr bwMode="auto">
          <a:xfrm>
            <a:off x="4724400" y="685800"/>
            <a:ext cx="3140075" cy="1923415"/>
          </a:xfrm>
          <a:prstGeom prst="rect">
            <a:avLst/>
          </a:prstGeom>
          <a:extLst/>
        </p:spPr>
      </p:pic>
      <p:sp>
        <p:nvSpPr>
          <p:cNvPr id="13" name="TextBox 12"/>
          <p:cNvSpPr txBox="1"/>
          <p:nvPr/>
        </p:nvSpPr>
        <p:spPr>
          <a:xfrm>
            <a:off x="4495800" y="2743200"/>
            <a:ext cx="3584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17375E"/>
                </a:solidFill>
                <a:latin typeface="Tahoma"/>
                <a:cs typeface="Tahoma"/>
              </a:rPr>
              <a:t>GOOD DESIGN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2743200"/>
            <a:ext cx="3171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800000"/>
                </a:solidFill>
                <a:latin typeface="Tahoma"/>
                <a:cs typeface="Tahoma"/>
              </a:rPr>
              <a:t>BAD DESIGN ?</a:t>
            </a:r>
          </a:p>
        </p:txBody>
      </p:sp>
      <p:pic>
        <p:nvPicPr>
          <p:cNvPr id="15" name="Picture 14" descr="grouping4.gif"/>
          <p:cNvPicPr/>
          <p:nvPr/>
        </p:nvPicPr>
        <p:blipFill>
          <a:blip r:embed="rId4">
            <a:extLst/>
          </a:blip>
          <a:srcRect/>
          <a:stretch>
            <a:fillRect/>
          </a:stretch>
        </p:blipFill>
        <p:spPr bwMode="auto">
          <a:xfrm>
            <a:off x="457200" y="3657600"/>
            <a:ext cx="4800600" cy="2286000"/>
          </a:xfrm>
          <a:prstGeom prst="rect">
            <a:avLst/>
          </a:prstGeom>
          <a:extLst/>
        </p:spPr>
      </p:pic>
      <p:sp>
        <p:nvSpPr>
          <p:cNvPr id="16" name="TextBox 15"/>
          <p:cNvSpPr txBox="1"/>
          <p:nvPr/>
        </p:nvSpPr>
        <p:spPr>
          <a:xfrm>
            <a:off x="5867400" y="4495800"/>
            <a:ext cx="1602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rgbClr val="008000"/>
                </a:solidFill>
                <a:latin typeface="Tahoma"/>
                <a:cs typeface="Tahoma"/>
              </a:rPr>
              <a:t>HOW ?</a:t>
            </a:r>
          </a:p>
        </p:txBody>
      </p:sp>
    </p:spTree>
    <p:extLst>
      <p:ext uri="{BB962C8B-B14F-4D97-AF65-F5344CB8AC3E}">
        <p14:creationId xmlns:p14="http://schemas.microsoft.com/office/powerpoint/2010/main" val="102496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 : Alignment 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– Exhibit 1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248400"/>
            <a:ext cx="609600" cy="5488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16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Screen Shot 2015-11-02 at 2.22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38200"/>
            <a:ext cx="8839592" cy="4597400"/>
          </a:xfrm>
          <a:prstGeom prst="rect">
            <a:avLst/>
          </a:prstGeom>
          <a:ln>
            <a:solidFill>
              <a:srgbClr val="1F497D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228600" y="5791200"/>
            <a:ext cx="7428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Canh lề  không tốt làm cho trang web trở nên rối khó nhìn</a:t>
            </a:r>
          </a:p>
        </p:txBody>
      </p:sp>
    </p:spTree>
    <p:extLst>
      <p:ext uri="{BB962C8B-B14F-4D97-AF65-F5344CB8AC3E}">
        <p14:creationId xmlns:p14="http://schemas.microsoft.com/office/powerpoint/2010/main" val="374713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 : Alignment 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– Exhibit 2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5943600"/>
            <a:ext cx="609600" cy="8536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17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3" name="Picture 2" descr="alignment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609600"/>
            <a:ext cx="5108999" cy="5732297"/>
          </a:xfrm>
          <a:prstGeom prst="rect">
            <a:avLst/>
          </a:prstGeom>
          <a:ln>
            <a:solidFill>
              <a:srgbClr val="1F497D"/>
            </a:solidFill>
          </a:ln>
        </p:spPr>
      </p:pic>
    </p:spTree>
    <p:extLst>
      <p:ext uri="{BB962C8B-B14F-4D97-AF65-F5344CB8AC3E}">
        <p14:creationId xmlns:p14="http://schemas.microsoft.com/office/powerpoint/2010/main" val="213823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 : Alignment 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– Exhibit 3 (cont)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5943600"/>
            <a:ext cx="609600" cy="8536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18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Screen Shot 2015-11-02 at 2.36.1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22301"/>
            <a:ext cx="8915400" cy="5450213"/>
          </a:xfrm>
          <a:prstGeom prst="rect">
            <a:avLst/>
          </a:prstGeom>
          <a:ln>
            <a:solidFill>
              <a:srgbClr val="1F497D"/>
            </a:solidFill>
          </a:ln>
        </p:spPr>
      </p:pic>
    </p:spTree>
    <p:extLst>
      <p:ext uri="{BB962C8B-B14F-4D97-AF65-F5344CB8AC3E}">
        <p14:creationId xmlns:p14="http://schemas.microsoft.com/office/powerpoint/2010/main" val="110301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 : Alignment 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– Exhibit 3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5943600"/>
            <a:ext cx="609600" cy="8536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19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4" name="Picture 3" descr="Screen Shot 2015-11-02 at 2.35.5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09600"/>
            <a:ext cx="7943782" cy="5753100"/>
          </a:xfrm>
          <a:prstGeom prst="rect">
            <a:avLst/>
          </a:prstGeom>
          <a:ln>
            <a:solidFill>
              <a:srgbClr val="1F497D"/>
            </a:solidFill>
          </a:ln>
        </p:spPr>
      </p:pic>
    </p:spTree>
    <p:extLst>
      <p:ext uri="{BB962C8B-B14F-4D97-AF65-F5344CB8AC3E}">
        <p14:creationId xmlns:p14="http://schemas.microsoft.com/office/powerpoint/2010/main" val="134964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noProof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 : Proximity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6172200"/>
            <a:ext cx="609600" cy="6250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20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533400"/>
            <a:ext cx="8839200" cy="2149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vi-VN" sz="2800" b="1" dirty="0" smtClean="0"/>
              <a:t>Proximity : sự tương đồng</a:t>
            </a:r>
          </a:p>
          <a:p>
            <a:pPr marL="804863" indent="-463550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US" sz="2800" dirty="0" smtClean="0"/>
              <a:t>Một thành phần này sẽ có sự tương đồng với những cái khác </a:t>
            </a:r>
            <a:r>
              <a:rPr lang="en-US" sz="2800" dirty="0" smtClean="0">
                <a:sym typeface="Wingdings"/>
              </a:rPr>
              <a:t> tạo thành 1 nhóm  nhóm thông tin</a:t>
            </a:r>
            <a:endParaRPr lang="vi-VN" sz="2800" dirty="0" smtClean="0"/>
          </a:p>
        </p:txBody>
      </p:sp>
      <p:pic>
        <p:nvPicPr>
          <p:cNvPr id="2" name="Picture 1" descr="proximity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048000"/>
            <a:ext cx="5943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 : Proximity 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– Exhibit 1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5943600"/>
            <a:ext cx="609600" cy="8536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21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" name="Picture 1" descr="Proximity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685800"/>
            <a:ext cx="7315200" cy="5509071"/>
          </a:xfrm>
          <a:prstGeom prst="rect">
            <a:avLst/>
          </a:prstGeom>
          <a:ln>
            <a:solidFill>
              <a:srgbClr val="1F497D"/>
            </a:solidFill>
          </a:ln>
        </p:spPr>
      </p:pic>
    </p:spTree>
    <p:extLst>
      <p:ext uri="{BB962C8B-B14F-4D97-AF65-F5344CB8AC3E}">
        <p14:creationId xmlns:p14="http://schemas.microsoft.com/office/powerpoint/2010/main" val="142274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5943600"/>
            <a:ext cx="609600" cy="8536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22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 : Proximity </a:t>
            </a: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– Exhibit 2 </a:t>
            </a:r>
            <a:endParaRPr kumimoji="0" lang="de-DE" sz="280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pic>
        <p:nvPicPr>
          <p:cNvPr id="2" name="Picture 1" descr="Proximity2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67201"/>
            <a:ext cx="8654399" cy="649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74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76200" y="6457950"/>
            <a:ext cx="3581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4F4F4F"/>
                </a:solidFill>
              </a:defRPr>
            </a:lvl1pPr>
          </a:lstStyle>
          <a:p>
            <a:pPr algn="l"/>
            <a:r>
              <a:rPr lang="de-DE" sz="1800" dirty="0">
                <a:solidFill>
                  <a:schemeClr val="bg1"/>
                </a:solidFill>
                <a:latin typeface="Verdana" pitchFamily="34" charset="0"/>
              </a:rPr>
              <a:t>7 – C.R.A.P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2114" y="5943600"/>
            <a:ext cx="609600" cy="853698"/>
          </a:xfrm>
        </p:spPr>
        <p:txBody>
          <a:bodyPr/>
          <a:lstStyle>
            <a:lvl1pPr>
              <a:defRPr/>
            </a:lvl1pPr>
          </a:lstStyle>
          <a:p>
            <a:r>
              <a:rPr lang="de-DE" sz="2000" b="1" smtClean="0">
                <a:solidFill>
                  <a:schemeClr val="bg1"/>
                </a:solidFill>
                <a:latin typeface="Verdana" pitchFamily="34" charset="0"/>
              </a:rPr>
              <a:t> </a:t>
            </a:r>
            <a:fld id="{22288E9E-3654-4A97-8EA6-E567F42FEF58}" type="slidenum">
              <a:rPr lang="de-DE" sz="2000" b="1">
                <a:solidFill>
                  <a:schemeClr val="bg1"/>
                </a:solidFill>
                <a:latin typeface="Verdana" pitchFamily="34" charset="0"/>
              </a:rPr>
              <a:pPr/>
              <a:t>23</a:t>
            </a:fld>
            <a:endParaRPr lang="de-DE" sz="2000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6200" y="-76200"/>
            <a:ext cx="89154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de-DE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itchFamily="34" charset="0"/>
                <a:ea typeface="+mj-ea"/>
                <a:cs typeface="+mj-cs"/>
              </a:rPr>
              <a:t>Design – stand out</a:t>
            </a:r>
          </a:p>
        </p:txBody>
      </p:sp>
      <p:pic>
        <p:nvPicPr>
          <p:cNvPr id="3" name="Picture 2" descr="Screen Shot 2015-11-02 at 2.44.3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90600"/>
            <a:ext cx="8728228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3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5188" cy="731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64477" y="2828925"/>
            <a:ext cx="99822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Thank you !</a:t>
            </a:r>
            <a:endParaRPr kumimoji="0" lang="de-DE" sz="6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itchFamily="34" charset="0"/>
              <a:ea typeface="+mj-ea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55805" y="6412468"/>
            <a:ext cx="3135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mtClean="0">
                <a:solidFill>
                  <a:schemeClr val="bg1">
                    <a:lumMod val="85000"/>
                  </a:schemeClr>
                </a:solidFill>
                <a:latin typeface="Verdana" pitchFamily="34" charset="0"/>
              </a:rPr>
              <a:t>GV: Phan Thị Kim Loan</a:t>
            </a:r>
            <a:endParaRPr lang="en-US" b="1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2867</TotalTime>
  <Words>534</Words>
  <Application>Microsoft Office PowerPoint</Application>
  <PresentationFormat>On-screen Show (4:3)</PresentationFormat>
  <Paragraphs>109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Sai Gon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LoanPhan</dc:creator>
  <cp:lastModifiedBy>admin</cp:lastModifiedBy>
  <cp:revision>117</cp:revision>
  <cp:lastPrinted>2015-09-08T02:23:44Z</cp:lastPrinted>
  <dcterms:created xsi:type="dcterms:W3CDTF">2009-01-24T03:00:41Z</dcterms:created>
  <dcterms:modified xsi:type="dcterms:W3CDTF">2018-08-10T10:01:23Z</dcterms:modified>
</cp:coreProperties>
</file>