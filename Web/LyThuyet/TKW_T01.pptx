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7" r:id="rId9"/>
    <p:sldId id="268" r:id="rId10"/>
    <p:sldId id="265" r:id="rId11"/>
    <p:sldId id="266" r:id="rId12"/>
    <p:sldId id="258" r:id="rId1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1" autoAdjust="0"/>
    <p:restoredTop sz="94660"/>
  </p:normalViewPr>
  <p:slideViewPr>
    <p:cSldViewPr>
      <p:cViewPr varScale="1">
        <p:scale>
          <a:sx n="42" d="100"/>
          <a:sy n="42" d="100"/>
        </p:scale>
        <p:origin x="1104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D8CDD65-8FD2-45AA-82E1-E8BBD7877CF8}" type="datetimeFigureOut">
              <a:rPr lang="en-US" smtClean="0"/>
              <a:t>2022-09-05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5135AA1-A8AA-4569-9B57-625D8693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05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7B19546-7CE1-4A60-9279-BCADC0161DB1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D853F-A96D-470D-82E9-DD342E9A6E8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8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ptkloan@sgu.edu.vn" TargetMode="External"/><Relationship Id="rId2" Type="http://schemas.openxmlformats.org/officeDocument/2006/relationships/hyperlink" Target="https://sites.google.com/site/webhoctap2013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8600" y="4267200"/>
            <a:ext cx="6027737" cy="904875"/>
          </a:xfrm>
        </p:spPr>
        <p:txBody>
          <a:bodyPr lIns="91440" rIns="91440">
            <a:norm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r>
              <a:rPr lang="en-US" sz="320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Giới thiệu môn học</a:t>
            </a:r>
            <a:endParaRPr lang="en-US" sz="320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76200" y="2371725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triển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ứng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dụng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web 1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828800" y="2971800"/>
            <a:ext cx="6027737" cy="4524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Giới</a:t>
            </a:r>
            <a:r>
              <a:rPr kumimoji="0" lang="en-US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thiệu môn học</a:t>
            </a:r>
            <a:endParaRPr kumimoji="0" lang="de-DE" sz="280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320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838200"/>
            <a:ext cx="67056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Mục</a:t>
            </a: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tiêu</a:t>
            </a:r>
            <a:endParaRPr lang="en-US" sz="44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Nội</a:t>
            </a:r>
            <a:r>
              <a:rPr lang="en-US" sz="4400" dirty="0" smtClean="0">
                <a:latin typeface="Verdana" pitchFamily="34" charset="0"/>
              </a:rPr>
              <a:t> dung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Cách</a:t>
            </a: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đánh</a:t>
            </a: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giá</a:t>
            </a:r>
            <a:endParaRPr lang="en-US" sz="44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Tham</a:t>
            </a: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khảo</a:t>
            </a:r>
            <a:r>
              <a:rPr lang="en-US" sz="4400" dirty="0" smtClean="0">
                <a:latin typeface="Verdana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Liên</a:t>
            </a: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400" dirty="0" err="1" smtClean="0">
                <a:latin typeface="Verdana" pitchFamily="34" charset="0"/>
              </a:rPr>
              <a:t>hệ</a:t>
            </a:r>
            <a:endParaRPr lang="en-US" sz="44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Mục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tiêu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môn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học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685800"/>
            <a:ext cx="8686800" cy="4703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kiến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thức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 smtClean="0">
                <a:latin typeface="Verdana" pitchFamily="34" charset="0"/>
              </a:rPr>
              <a:t>:</a:t>
            </a:r>
          </a:p>
          <a:p>
            <a:pPr marL="860425" lvl="1" indent="-403225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Nguyên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tắc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hoạt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động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website, </a:t>
            </a:r>
          </a:p>
          <a:p>
            <a:pPr marL="860425" lvl="1" indent="-403225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Nguyên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tắc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cơ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bản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thiết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kế</a:t>
            </a:r>
            <a:r>
              <a:rPr lang="en-US" sz="2800" dirty="0" smtClean="0">
                <a:latin typeface="Verdana" pitchFamily="34" charset="0"/>
              </a:rPr>
              <a:t> website</a:t>
            </a:r>
          </a:p>
          <a:p>
            <a:pPr marL="860425" lvl="1" indent="-403225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Công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cụ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xây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dựng</a:t>
            </a:r>
            <a:r>
              <a:rPr lang="en-US" sz="2800" dirty="0" smtClean="0">
                <a:latin typeface="Verdana" pitchFamily="34" charset="0"/>
              </a:rPr>
              <a:t> website, </a:t>
            </a:r>
          </a:p>
          <a:p>
            <a:pPr marL="860425" lvl="1" indent="-403225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Ngôn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ngữ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thể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hiện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web HTML</a:t>
            </a:r>
          </a:p>
          <a:p>
            <a:pPr marL="860425" lvl="1" indent="-403225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Kĩ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năng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xây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dựng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một</a:t>
            </a:r>
            <a:r>
              <a:rPr lang="en-US" sz="2800" dirty="0" smtClean="0">
                <a:latin typeface="Verdana" pitchFamily="34" charset="0"/>
              </a:rPr>
              <a:t> website </a:t>
            </a:r>
            <a:r>
              <a:rPr lang="en-US" sz="2800" dirty="0" err="1" smtClean="0">
                <a:latin typeface="Verdana" pitchFamily="34" charset="0"/>
              </a:rPr>
              <a:t>tĩnh</a:t>
            </a:r>
            <a:endParaRPr lang="en-US" sz="28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Nội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 dung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môn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học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4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38200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pt-BR" sz="3200" dirty="0" smtClean="0">
                <a:latin typeface="Verdana" pitchFamily="34" charset="0"/>
              </a:rPr>
              <a:t>Khái quát về học phần: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Học phần: Phát triển ứng dụng web 1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Thời gian: </a:t>
            </a:r>
            <a:r>
              <a:rPr lang="pt-BR" sz="2800" dirty="0" smtClean="0">
                <a:latin typeface="Verdana" pitchFamily="34" charset="0"/>
              </a:rPr>
              <a:t>45 </a:t>
            </a:r>
            <a:r>
              <a:rPr lang="pt-BR" sz="2800" dirty="0" smtClean="0">
                <a:latin typeface="Verdana" pitchFamily="34" charset="0"/>
              </a:rPr>
              <a:t>tiết lý </a:t>
            </a:r>
            <a:r>
              <a:rPr lang="pt-BR" sz="2800" dirty="0" smtClean="0">
                <a:latin typeface="Verdana" pitchFamily="34" charset="0"/>
              </a:rPr>
              <a:t>thuyết, 30 </a:t>
            </a:r>
            <a:r>
              <a:rPr lang="pt-BR" sz="2800" dirty="0" smtClean="0">
                <a:latin typeface="Verdana" pitchFamily="34" charset="0"/>
              </a:rPr>
              <a:t>tiết thực hành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Điều kiện tiên quyết: </a:t>
            </a:r>
            <a:br>
              <a:rPr lang="pt-BR" sz="2800" dirty="0" smtClean="0">
                <a:latin typeface="Verdana" pitchFamily="34" charset="0"/>
              </a:rPr>
            </a:br>
            <a:r>
              <a:rPr lang="pt-BR" sz="2800" dirty="0" smtClean="0">
                <a:latin typeface="Verdana" pitchFamily="34" charset="0"/>
              </a:rPr>
              <a:t>Kiến thức về Cơ sở lập trình</a:t>
            </a:r>
          </a:p>
          <a:p>
            <a:pPr marL="342900" indent="-342900">
              <a:lnSpc>
                <a:spcPct val="150000"/>
              </a:lnSpc>
            </a:pPr>
            <a:r>
              <a:rPr lang="pt-BR" sz="2800" b="1" dirty="0" smtClean="0"/>
              <a:t> </a:t>
            </a:r>
          </a:p>
          <a:p>
            <a:pPr marL="342900" indent="-342900">
              <a:lnSpc>
                <a:spcPct val="150000"/>
              </a:lnSpc>
            </a:pPr>
            <a:endParaRPr lang="pt-B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Nội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 dung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môn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học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5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9144000" cy="5504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Khái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niệm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cơ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bản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 smtClean="0">
                <a:latin typeface="Verdana" pitchFamily="34" charset="0"/>
              </a:rPr>
              <a:t> Internet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web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Nguyên tắc hoạt động của website.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Nguyên tắc thiết kế và xây dựng 1 website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Ngôn ngữ thể hiện trang web HTML và CSS 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err="1" smtClean="0">
                <a:latin typeface="Verdana" pitchFamily="34" charset="0"/>
              </a:rPr>
              <a:t>Một</a:t>
            </a:r>
            <a:r>
              <a:rPr lang="pt-BR" sz="2800" dirty="0" smtClean="0">
                <a:latin typeface="Verdana" pitchFamily="34" charset="0"/>
              </a:rPr>
              <a:t> số chủ đề </a:t>
            </a:r>
            <a:r>
              <a:rPr lang="pt-BR" sz="2800" dirty="0" err="1" smtClean="0">
                <a:latin typeface="Verdana" pitchFamily="34" charset="0"/>
              </a:rPr>
              <a:t>nâng</a:t>
            </a:r>
            <a:r>
              <a:rPr lang="pt-BR" sz="2800" dirty="0" smtClean="0">
                <a:latin typeface="Verdana" pitchFamily="34" charset="0"/>
              </a:rPr>
              <a:t> </a:t>
            </a:r>
            <a:r>
              <a:rPr lang="pt-BR" sz="2800" dirty="0" err="1" smtClean="0">
                <a:latin typeface="Verdana" pitchFamily="34" charset="0"/>
              </a:rPr>
              <a:t>cao</a:t>
            </a:r>
            <a:r>
              <a:rPr lang="pt-BR" sz="2800" dirty="0" smtClean="0">
                <a:latin typeface="Verdana" pitchFamily="34" charset="0"/>
              </a:rPr>
              <a:t>: CSS position + HTML5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err="1" smtClean="0">
                <a:latin typeface="Verdana" pitchFamily="34" charset="0"/>
              </a:rPr>
              <a:t>Sử</a:t>
            </a:r>
            <a:r>
              <a:rPr lang="pt-BR" sz="2800" dirty="0" smtClean="0">
                <a:latin typeface="Verdana" pitchFamily="34" charset="0"/>
              </a:rPr>
              <a:t> </a:t>
            </a:r>
            <a:r>
              <a:rPr lang="pt-BR" sz="2800" dirty="0" err="1" smtClean="0">
                <a:latin typeface="Verdana" pitchFamily="34" charset="0"/>
              </a:rPr>
              <a:t>dụng</a:t>
            </a:r>
            <a:r>
              <a:rPr lang="pt-BR" sz="2800" dirty="0" smtClean="0">
                <a:latin typeface="Verdana" pitchFamily="34" charset="0"/>
              </a:rPr>
              <a:t> </a:t>
            </a:r>
            <a:r>
              <a:rPr lang="pt-BR" sz="2800" dirty="0" err="1" smtClean="0">
                <a:latin typeface="Verdana" pitchFamily="34" charset="0"/>
              </a:rPr>
              <a:t>photoshop</a:t>
            </a:r>
            <a:r>
              <a:rPr lang="pt-BR" sz="2800" dirty="0" smtClean="0">
                <a:latin typeface="Verdana" pitchFamily="34" charset="0"/>
              </a:rPr>
              <a:t> </a:t>
            </a:r>
            <a:r>
              <a:rPr lang="pt-BR" sz="2800" dirty="0" err="1" smtClean="0">
                <a:latin typeface="Verdana" pitchFamily="34" charset="0"/>
              </a:rPr>
              <a:t>để</a:t>
            </a:r>
            <a:r>
              <a:rPr lang="pt-BR" sz="2800" dirty="0" smtClean="0">
                <a:latin typeface="Verdana" pitchFamily="34" charset="0"/>
              </a:rPr>
              <a:t> layout web </a:t>
            </a:r>
            <a:r>
              <a:rPr lang="pt-BR" sz="2800" dirty="0" err="1" smtClean="0">
                <a:latin typeface="Verdana" pitchFamily="34" charset="0"/>
              </a:rPr>
              <a:t>template</a:t>
            </a:r>
            <a:endParaRPr lang="pt-BR" sz="2800" dirty="0" smtClean="0">
              <a:latin typeface="Verdana" pitchFamily="34" charset="0"/>
            </a:endParaRP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pt-BR" sz="2800" dirty="0" smtClean="0">
                <a:latin typeface="Verdana" pitchFamily="34" charset="0"/>
              </a:rPr>
              <a:t>Đồ án môn học: xây dựng 1 website </a:t>
            </a:r>
            <a:r>
              <a:rPr lang="pt-BR" sz="2800" dirty="0" err="1" smtClean="0">
                <a:latin typeface="Verdana" pitchFamily="34" charset="0"/>
              </a:rPr>
              <a:t>tĩnh</a:t>
            </a:r>
            <a:r>
              <a:rPr lang="pt-BR" sz="2800" dirty="0" smtClean="0">
                <a:latin typeface="Verdana" pitchFamily="34" charset="0"/>
              </a:rPr>
              <a:t>.</a:t>
            </a:r>
            <a:endParaRPr lang="en-US" sz="26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Cách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đánh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giá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6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686800" cy="5791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giữa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kỳ</a:t>
            </a:r>
            <a:r>
              <a:rPr lang="en-US" sz="2400" dirty="0" smtClean="0">
                <a:latin typeface="Verdana" pitchFamily="34" charset="0"/>
              </a:rPr>
              <a:t> - ĐGK: (50%)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Một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bài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tập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giữa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kỳ</a:t>
            </a:r>
            <a:r>
              <a:rPr lang="en-US" sz="2400" dirty="0" smtClean="0">
                <a:latin typeface="Verdana" pitchFamily="34" charset="0"/>
              </a:rPr>
              <a:t> (</a:t>
            </a:r>
            <a:r>
              <a:rPr lang="en-US" sz="2400" dirty="0" err="1" smtClean="0">
                <a:latin typeface="Verdana" pitchFamily="34" charset="0"/>
              </a:rPr>
              <a:t>đồ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án</a:t>
            </a:r>
            <a:r>
              <a:rPr lang="en-US" sz="2400" dirty="0" smtClean="0">
                <a:latin typeface="Verdana" pitchFamily="34" charset="0"/>
              </a:rPr>
              <a:t>) + </a:t>
            </a:r>
            <a:r>
              <a:rPr lang="en-US" sz="2400" dirty="0" err="1" smtClean="0">
                <a:latin typeface="Verdana" pitchFamily="34" charset="0"/>
              </a:rPr>
              <a:t>kiểm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</a:t>
            </a:r>
            <a:endParaRPr lang="en-US" sz="2400" dirty="0" smtClean="0">
              <a:latin typeface="Verdana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2000" dirty="0" err="1" smtClean="0">
                <a:latin typeface="Verdana" pitchFamily="34" charset="0"/>
              </a:rPr>
              <a:t>Thời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gian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giao</a:t>
            </a:r>
            <a:r>
              <a:rPr lang="en-US" sz="2000" dirty="0" smtClean="0">
                <a:latin typeface="Verdana" pitchFamily="34" charset="0"/>
              </a:rPr>
              <a:t>: </a:t>
            </a:r>
            <a:r>
              <a:rPr lang="en-US" sz="2000" dirty="0" err="1" smtClean="0">
                <a:latin typeface="Verdana" pitchFamily="34" charset="0"/>
              </a:rPr>
              <a:t>Tuần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thứ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>
                <a:latin typeface="Verdana" pitchFamily="34" charset="0"/>
              </a:rPr>
              <a:t>2</a:t>
            </a:r>
            <a:endParaRPr lang="en-US" sz="2000" dirty="0" smtClean="0">
              <a:latin typeface="Verdana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2000" dirty="0" err="1" smtClean="0">
                <a:latin typeface="Verdana" pitchFamily="34" charset="0"/>
              </a:rPr>
              <a:t>Thời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gian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nộp</a:t>
            </a:r>
            <a:r>
              <a:rPr lang="en-US" sz="2000" dirty="0" smtClean="0">
                <a:latin typeface="Verdana" pitchFamily="34" charset="0"/>
              </a:rPr>
              <a:t>: </a:t>
            </a:r>
            <a:r>
              <a:rPr lang="en-US" sz="2000" dirty="0" err="1" smtClean="0">
                <a:latin typeface="Verdana" pitchFamily="34" charset="0"/>
              </a:rPr>
              <a:t>Tuần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thứ</a:t>
            </a:r>
            <a:r>
              <a:rPr lang="en-US" sz="2000" dirty="0" smtClean="0">
                <a:latin typeface="Verdana" pitchFamily="34" charset="0"/>
              </a:rPr>
              <a:t> 13 </a:t>
            </a:r>
            <a:r>
              <a:rPr lang="en-US" sz="2000" dirty="0" err="1" smtClean="0">
                <a:latin typeface="Verdana" pitchFamily="34" charset="0"/>
              </a:rPr>
              <a:t>của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môn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học</a:t>
            </a:r>
            <a:r>
              <a:rPr lang="en-US" sz="2000" dirty="0" smtClean="0">
                <a:latin typeface="Verdana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cuối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kỳ</a:t>
            </a:r>
            <a:r>
              <a:rPr lang="en-US" sz="2400" dirty="0" smtClean="0">
                <a:latin typeface="Verdana" pitchFamily="34" charset="0"/>
              </a:rPr>
              <a:t> - ĐCK: (50%)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Thi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tập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trung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dạng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tổng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hợp</a:t>
            </a:r>
            <a:r>
              <a:rPr lang="en-US" sz="2400" dirty="0" smtClean="0">
                <a:latin typeface="Verdana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học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phần</a:t>
            </a:r>
            <a:r>
              <a:rPr lang="en-US" sz="2400" dirty="0" smtClean="0">
                <a:latin typeface="Verdana" pitchFamily="34" charset="0"/>
              </a:rPr>
              <a:t>:</a:t>
            </a:r>
            <a:br>
              <a:rPr lang="en-US" sz="2400" dirty="0" smtClean="0">
                <a:latin typeface="Verdana" pitchFamily="34" charset="0"/>
              </a:rPr>
            </a:br>
            <a:r>
              <a:rPr lang="en-US" sz="2400" b="1" dirty="0" err="1" smtClean="0">
                <a:latin typeface="Verdana" pitchFamily="34" charset="0"/>
              </a:rPr>
              <a:t>Điểm</a:t>
            </a:r>
            <a:r>
              <a:rPr lang="en-US" sz="2400" b="1" dirty="0" smtClean="0">
                <a:latin typeface="Verdana" pitchFamily="34" charset="0"/>
              </a:rPr>
              <a:t> HP = 50% ĐGK+ 50% ĐCK</a:t>
            </a:r>
            <a:r>
              <a:rPr lang="en-US" sz="2400" dirty="0" smtClean="0">
                <a:latin typeface="Verdana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 smtClean="0">
                <a:latin typeface="Verdana" pitchFamily="34" charset="0"/>
              </a:rPr>
              <a:t>Lưu</a:t>
            </a:r>
            <a:r>
              <a:rPr lang="en-US" sz="2400" dirty="0" smtClean="0">
                <a:latin typeface="Verdana" pitchFamily="34" charset="0"/>
              </a:rPr>
              <a:t> ý: - </a:t>
            </a: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chuyên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cần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thực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hành</a:t>
            </a:r>
            <a:r>
              <a:rPr lang="en-US" sz="2400" dirty="0" smtClean="0">
                <a:latin typeface="Verdana" pitchFamily="34" charset="0"/>
              </a:rPr>
              <a:t> 10%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 smtClean="0">
                <a:latin typeface="Verdana" pitchFamily="34" charset="0"/>
              </a:rPr>
              <a:t>             - </a:t>
            </a: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đồ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án</a:t>
            </a:r>
            <a:r>
              <a:rPr lang="en-US" sz="2400" dirty="0" smtClean="0">
                <a:latin typeface="Verdana" pitchFamily="34" charset="0"/>
              </a:rPr>
              <a:t> +</a:t>
            </a:r>
            <a:r>
              <a:rPr lang="en-US" sz="2400" dirty="0" err="1" smtClean="0">
                <a:latin typeface="Verdana" pitchFamily="34" charset="0"/>
              </a:rPr>
              <a:t>kiểm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tra</a:t>
            </a:r>
            <a:r>
              <a:rPr lang="en-US" sz="2400" dirty="0">
                <a:latin typeface="Verdana" pitchFamily="34" charset="0"/>
              </a:rPr>
              <a:t> = 40%</a:t>
            </a:r>
            <a:endParaRPr lang="en-US" sz="24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thi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giữa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kỳ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: Project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1"/>
            <a:ext cx="9144000" cy="5693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3225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Làm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việc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theo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nhóm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đăng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ký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nhóm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r>
              <a:rPr lang="en-US" sz="2800" dirty="0" smtClean="0">
                <a:latin typeface="Verdana" pitchFamily="34" charset="0"/>
              </a:rPr>
              <a:t> 2</a:t>
            </a:r>
          </a:p>
          <a:p>
            <a:pPr marL="403225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Chọn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đăng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ký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đồ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án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>
                <a:latin typeface="Verdana" pitchFamily="34" charset="0"/>
              </a:rPr>
              <a:t>2</a:t>
            </a:r>
            <a:endParaRPr lang="en-US" sz="2800" dirty="0" smtClean="0">
              <a:latin typeface="Verdana" pitchFamily="34" charset="0"/>
            </a:endParaRPr>
          </a:p>
          <a:p>
            <a:pPr marL="403225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Báo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đồ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án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thứ</a:t>
            </a:r>
            <a:r>
              <a:rPr lang="en-US" sz="2800" dirty="0" smtClean="0">
                <a:latin typeface="Verdana" pitchFamily="34" charset="0"/>
              </a:rPr>
              <a:t> 13</a:t>
            </a:r>
          </a:p>
          <a:p>
            <a:pPr marL="403225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Cách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chấm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điểm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đồ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án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mỗi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nhóm</a:t>
            </a:r>
            <a:r>
              <a:rPr lang="en-US" sz="2800" dirty="0" smtClean="0">
                <a:latin typeface="Verdana" pitchFamily="34" charset="0"/>
              </a:rPr>
              <a:t>:</a:t>
            </a:r>
          </a:p>
          <a:p>
            <a:pPr marL="860425" lvl="1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Yêu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cầu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đồ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án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giao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r>
              <a:rPr lang="en-US" sz="2800" dirty="0" smtClean="0">
                <a:latin typeface="Verdana" pitchFamily="34" charset="0"/>
              </a:rPr>
              <a:t> 2</a:t>
            </a:r>
          </a:p>
          <a:p>
            <a:pPr marL="860425" lvl="1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Thang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điểm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thông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báo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tuần</a:t>
            </a:r>
            <a:r>
              <a:rPr lang="en-US" sz="2800" dirty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cuối</a:t>
            </a:r>
            <a:endParaRPr lang="en-US" sz="2800" dirty="0" smtClean="0">
              <a:latin typeface="Verdana" pitchFamily="34" charset="0"/>
            </a:endParaRPr>
          </a:p>
          <a:p>
            <a:pPr marL="860425" lvl="1" indent="-4032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Cách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chấm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chấm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vấn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đáp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trực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tiếp</a:t>
            </a:r>
            <a:endParaRPr lang="en-US" sz="2800" dirty="0" smtClean="0">
              <a:latin typeface="Verdana" pitchFamily="34" charset="0"/>
            </a:endParaRPr>
          </a:p>
          <a:p>
            <a:pPr marL="7938" lvl="1" indent="-7938">
              <a:lnSpc>
                <a:spcPct val="150000"/>
              </a:lnSpc>
            </a:pPr>
            <a:r>
              <a:rPr lang="en-US" sz="2400" i="1" dirty="0" err="1" smtClean="0">
                <a:solidFill>
                  <a:srgbClr val="FF0000"/>
                </a:solidFill>
                <a:latin typeface="Verdana" pitchFamily="34" charset="0"/>
              </a:rPr>
              <a:t>Lưu</a:t>
            </a:r>
            <a:r>
              <a:rPr lang="en-US" sz="2400" i="1" dirty="0" smtClean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en-US" sz="2400" i="1" dirty="0" err="1" smtClean="0">
                <a:solidFill>
                  <a:srgbClr val="FF0000"/>
                </a:solidFill>
                <a:latin typeface="Verdana" pitchFamily="34" charset="0"/>
              </a:rPr>
              <a:t>ý</a:t>
            </a:r>
            <a:r>
              <a:rPr lang="en-US" sz="2400" i="1" dirty="0" smtClean="0">
                <a:solidFill>
                  <a:srgbClr val="FF0000"/>
                </a:solidFill>
                <a:latin typeface="Verdana" pitchFamily="34" charset="0"/>
              </a:rPr>
              <a:t>:</a:t>
            </a:r>
          </a:p>
          <a:p>
            <a:pPr marL="7938" lvl="1" indent="-7938" algn="ctr">
              <a:lnSpc>
                <a:spcPct val="150000"/>
              </a:lnSpc>
            </a:pPr>
            <a:r>
              <a:rPr lang="en-US" sz="2400" i="1" dirty="0" err="1" smtClean="0">
                <a:latin typeface="Verdana" pitchFamily="34" charset="0"/>
              </a:rPr>
              <a:t>Điểm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cá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nhân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căn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cứ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trên</a:t>
            </a:r>
            <a:r>
              <a:rPr lang="en-US" sz="2400" i="1" dirty="0" smtClean="0">
                <a:latin typeface="Verdana" pitchFamily="34" charset="0"/>
              </a:rPr>
              <a:t> % </a:t>
            </a:r>
            <a:r>
              <a:rPr lang="en-US" sz="2400" i="1" dirty="0" err="1" smtClean="0">
                <a:latin typeface="Verdana" pitchFamily="34" charset="0"/>
              </a:rPr>
              <a:t>công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việc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làm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trong</a:t>
            </a:r>
            <a:r>
              <a:rPr lang="en-US" sz="2400" i="1" dirty="0" smtClean="0">
                <a:latin typeface="Verdana" pitchFamily="34" charset="0"/>
              </a:rPr>
              <a:t> </a:t>
            </a:r>
            <a:r>
              <a:rPr lang="en-US" sz="2400" i="1" dirty="0" err="1" smtClean="0">
                <a:latin typeface="Verdana" pitchFamily="34" charset="0"/>
              </a:rPr>
              <a:t>nhóm</a:t>
            </a:r>
            <a:endParaRPr lang="en-US" sz="28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8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76200"/>
            <a:ext cx="9144000" cy="460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Đồ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án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môn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học</a:t>
            </a:r>
            <a:endParaRPr kumimoji="0" lang="en-US" sz="35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52400" y="609600"/>
            <a:ext cx="8991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Sinh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tự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chọn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làm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việc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: 1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3-4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sv.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Mỗi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chọn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1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đăng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ký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đề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tài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cụ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thể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cho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đồ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án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Các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đề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tài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có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một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danh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sách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yêu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cầu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cụ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thể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Giảng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đưa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ra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các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tiêu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chí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chấm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đề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tài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Thời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gian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cách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thức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nộp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hay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chấm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đề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tài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giảng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thông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báo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cụ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thể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Đánh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giá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đồ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án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môn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học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tính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điểm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cho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mỗi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thành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trong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sẽ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theo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qui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tắc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sau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9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76200"/>
            <a:ext cx="9144000" cy="460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Đánh</a:t>
            </a:r>
            <a:r>
              <a:rPr lang="en-US" sz="35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giá</a:t>
            </a:r>
            <a:r>
              <a:rPr lang="en-US" sz="35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đ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ồ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án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môn</a:t>
            </a:r>
            <a:r>
              <a:rPr kumimoji="0" lang="en-US" sz="3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3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học</a:t>
            </a:r>
            <a:endParaRPr kumimoji="0" lang="en-US" sz="35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04800" y="685800"/>
            <a:ext cx="8534400" cy="525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đồ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án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không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phải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của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mỗi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thành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viên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nhóm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cá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nhân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căn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cứ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trên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%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công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việc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trong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nhóm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đồ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án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của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nhóm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1: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Nhóm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1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có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3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thành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viên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( A, B, C)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Nếu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mỗi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thành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viên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đều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đóng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góp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công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sức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bằng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nhau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(33.33%)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mỗi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thành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viên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8.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Ngược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lại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: 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tính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theo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qui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tắc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sau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)</a:t>
            </a:r>
          </a:p>
          <a:p>
            <a:pPr marL="9144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40%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của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A =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40%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*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)/33.33% 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9.6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9144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30%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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của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B =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30%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*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)/33.33% 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7.2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9144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làm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30%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của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C =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30%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*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)/33.33% 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7.2</a:t>
            </a:r>
          </a:p>
          <a:p>
            <a:pPr marL="51435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Tất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cả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các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điểm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trên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10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sẽ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được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làm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tròn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thành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 10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Tài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liệu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t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ham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khảo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263898"/>
            <a:ext cx="641886" cy="594102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10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757565"/>
            <a:ext cx="9144000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u="sng" dirty="0" smtClean="0">
                <a:latin typeface="Verdana" pitchFamily="34" charset="0"/>
                <a:hlinkClick r:id="rId3"/>
              </a:rPr>
              <a:t>http://www.w3schools.com/</a:t>
            </a:r>
            <a:r>
              <a:rPr lang="en-US" sz="2600" dirty="0" smtClean="0">
                <a:latin typeface="Verdana" pitchFamily="34" charset="0"/>
              </a:rPr>
              <a:t> </a:t>
            </a:r>
            <a:r>
              <a:rPr lang="en-US" sz="2600" dirty="0" err="1" smtClean="0">
                <a:latin typeface="Verdana" pitchFamily="34" charset="0"/>
              </a:rPr>
              <a:t>và</a:t>
            </a:r>
            <a:r>
              <a:rPr lang="en-US" sz="2600" dirty="0" smtClean="0">
                <a:latin typeface="Verdana" pitchFamily="34" charset="0"/>
              </a:rPr>
              <a:t> </a:t>
            </a:r>
            <a:r>
              <a:rPr lang="en-US" sz="2600" dirty="0" smtClean="0">
                <a:latin typeface="Verdana" pitchFamily="34" charset="0"/>
                <a:hlinkClick r:id="rId4"/>
              </a:rPr>
              <a:t>http://www.w3.org/</a:t>
            </a:r>
            <a:endParaRPr lang="en-US" sz="2600" dirty="0" smtClean="0">
              <a:latin typeface="Verdana" pitchFamily="34" charset="0"/>
            </a:endParaRPr>
          </a:p>
          <a:p>
            <a:pPr marL="228600" indent="-2286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 smtClean="0">
                <a:latin typeface="Verdana" pitchFamily="34" charset="0"/>
              </a:rPr>
              <a:t>Lisa </a:t>
            </a:r>
            <a:r>
              <a:rPr lang="en-US" sz="2600" dirty="0" err="1" smtClean="0">
                <a:latin typeface="Verdana" pitchFamily="34" charset="0"/>
              </a:rPr>
              <a:t>Lopuck</a:t>
            </a:r>
            <a:r>
              <a:rPr lang="en-US" sz="2600" dirty="0" smtClean="0">
                <a:latin typeface="Verdana" pitchFamily="34" charset="0"/>
              </a:rPr>
              <a:t>, Web Design For Dummies (2nd Edition), Wiley Publishing, 2006</a:t>
            </a:r>
          </a:p>
          <a:p>
            <a:pPr marL="228600" indent="-2286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 smtClean="0">
                <a:latin typeface="Verdana" pitchFamily="34" charset="0"/>
              </a:rPr>
              <a:t>Craig </a:t>
            </a:r>
            <a:r>
              <a:rPr lang="en-US" sz="2600" dirty="0" err="1" smtClean="0">
                <a:latin typeface="Verdana" pitchFamily="34" charset="0"/>
              </a:rPr>
              <a:t>Grannell</a:t>
            </a:r>
            <a:r>
              <a:rPr lang="en-US" sz="2600" dirty="0" smtClean="0">
                <a:latin typeface="Verdana" pitchFamily="34" charset="0"/>
              </a:rPr>
              <a:t>, The Essential Guide to CSS and HTML Web Design, Friends of ED, 2007</a:t>
            </a:r>
          </a:p>
          <a:p>
            <a:pPr marL="228600" indent="-2286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 smtClean="0">
                <a:latin typeface="Verdana" pitchFamily="34" charset="0"/>
              </a:rPr>
              <a:t>Dave </a:t>
            </a:r>
            <a:r>
              <a:rPr lang="en-US" sz="2600" dirty="0" err="1" smtClean="0">
                <a:latin typeface="Verdana" pitchFamily="34" charset="0"/>
              </a:rPr>
              <a:t>Thau</a:t>
            </a:r>
            <a:r>
              <a:rPr lang="en-US" sz="2600" dirty="0" smtClean="0">
                <a:latin typeface="Verdana" pitchFamily="34" charset="0"/>
              </a:rPr>
              <a:t>, The book of JavaScript (2nd edition), No Starch Press, 2007</a:t>
            </a:r>
          </a:p>
          <a:p>
            <a:pPr marL="279400" indent="-21748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3200" dirty="0" smtClean="0">
                <a:latin typeface="Verdana" pitchFamily="34" charset="0"/>
              </a:rPr>
              <a:t>Google, </a:t>
            </a:r>
            <a:r>
              <a:rPr lang="en-US" sz="3200" dirty="0" err="1" smtClean="0">
                <a:latin typeface="Verdana" pitchFamily="34" charset="0"/>
              </a:rPr>
              <a:t>google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google</a:t>
            </a:r>
            <a:r>
              <a:rPr lang="en-US" sz="3200" dirty="0" smtClean="0">
                <a:latin typeface="Verdana" pitchFamily="34" charset="0"/>
              </a:rPr>
              <a:t> …..</a:t>
            </a:r>
            <a:endParaRPr lang="en-US" sz="26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Liên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hệ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1 – Giới thiệu môn học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11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457200"/>
            <a:ext cx="89154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3600" dirty="0" err="1" smtClean="0">
                <a:latin typeface="Verdana" pitchFamily="34" charset="0"/>
              </a:rPr>
              <a:t>Tài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liệu</a:t>
            </a:r>
            <a:r>
              <a:rPr lang="en-US" sz="3600" dirty="0" smtClean="0">
                <a:latin typeface="Verdana" pitchFamily="34" charset="0"/>
              </a:rPr>
              <a:t>: site </a:t>
            </a:r>
            <a:r>
              <a:rPr lang="en-US" sz="3600" dirty="0" err="1" smtClean="0">
                <a:latin typeface="Verdana" pitchFamily="34" charset="0"/>
              </a:rPr>
              <a:t>môn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học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2800" dirty="0" smtClean="0">
                <a:latin typeface="Verdana" pitchFamily="34" charset="0"/>
                <a:hlinkClick r:id="rId2"/>
              </a:rPr>
              <a:t>https</a:t>
            </a:r>
            <a:r>
              <a:rPr lang="en-US" sz="2800" dirty="0">
                <a:latin typeface="Verdana" pitchFamily="34" charset="0"/>
                <a:hlinkClick r:id="rId2"/>
              </a:rPr>
              <a:t>://</a:t>
            </a:r>
            <a:r>
              <a:rPr lang="en-US" sz="2800" dirty="0" smtClean="0">
                <a:latin typeface="Verdana" pitchFamily="34" charset="0"/>
                <a:hlinkClick r:id="rId2"/>
              </a:rPr>
              <a:t>sites.google.com/site/webhoctap2013/</a:t>
            </a:r>
            <a:endParaRPr lang="en-US" sz="28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3600" dirty="0" err="1" smtClean="0">
                <a:latin typeface="Verdana" pitchFamily="34" charset="0"/>
              </a:rPr>
              <a:t>Giảng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viên</a:t>
            </a:r>
            <a:r>
              <a:rPr lang="en-US" sz="3600" dirty="0" smtClean="0">
                <a:latin typeface="Verdana" pitchFamily="34" charset="0"/>
              </a:rPr>
              <a:t>: </a:t>
            </a:r>
            <a:r>
              <a:rPr lang="en-US" sz="3600" dirty="0" err="1" smtClean="0">
                <a:latin typeface="Verdana" pitchFamily="34" charset="0"/>
              </a:rPr>
              <a:t>Nguyễn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Thanh</a:t>
            </a:r>
            <a:r>
              <a:rPr lang="en-US" sz="3600" dirty="0" smtClean="0">
                <a:latin typeface="Verdana" pitchFamily="34" charset="0"/>
              </a:rPr>
              <a:t> Sang</a:t>
            </a:r>
          </a:p>
          <a:p>
            <a:pPr marL="342900" indent="-342900">
              <a:lnSpc>
                <a:spcPct val="150000"/>
              </a:lnSpc>
            </a:pPr>
            <a:r>
              <a:rPr lang="en-US" sz="3600" dirty="0" err="1" smtClean="0">
                <a:latin typeface="Verdana" pitchFamily="34" charset="0"/>
              </a:rPr>
              <a:t>Khoa</a:t>
            </a:r>
            <a:r>
              <a:rPr lang="en-US" sz="3600" dirty="0" smtClean="0">
                <a:latin typeface="Verdana" pitchFamily="34" charset="0"/>
              </a:rPr>
              <a:t>: </a:t>
            </a:r>
            <a:r>
              <a:rPr lang="en-US" sz="3600" dirty="0" err="1" smtClean="0">
                <a:latin typeface="Verdana" pitchFamily="34" charset="0"/>
              </a:rPr>
              <a:t>Công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Nghệ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Thông</a:t>
            </a:r>
            <a:r>
              <a:rPr lang="en-US" sz="3600" dirty="0" smtClean="0">
                <a:latin typeface="Verdana" pitchFamily="34" charset="0"/>
              </a:rPr>
              <a:t> Tin – ĐHSG</a:t>
            </a:r>
          </a:p>
          <a:p>
            <a:pPr marL="342900" indent="-342900">
              <a:lnSpc>
                <a:spcPct val="150000"/>
              </a:lnSpc>
            </a:pPr>
            <a:r>
              <a:rPr lang="en-US" sz="3600" dirty="0" smtClean="0">
                <a:latin typeface="Verdana" pitchFamily="34" charset="0"/>
              </a:rPr>
              <a:t>Email: 	</a:t>
            </a:r>
            <a:r>
              <a:rPr lang="en-US" sz="3600" dirty="0" smtClean="0">
                <a:latin typeface="Verdana" pitchFamily="34" charset="0"/>
                <a:hlinkClick r:id="rId3"/>
              </a:rPr>
              <a:t>thanhsang@sgu.edu.vn</a:t>
            </a:r>
            <a:endParaRPr lang="en-US" sz="36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3357562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2797</TotalTime>
  <Words>758</Words>
  <Application>Microsoft Office PowerPoint</Application>
  <PresentationFormat>On-screen Show (4:3)</PresentationFormat>
  <Paragraphs>101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 Gon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Microsoft account</cp:lastModifiedBy>
  <cp:revision>77</cp:revision>
  <cp:lastPrinted>2015-09-08T02:23:44Z</cp:lastPrinted>
  <dcterms:created xsi:type="dcterms:W3CDTF">2009-01-24T03:00:41Z</dcterms:created>
  <dcterms:modified xsi:type="dcterms:W3CDTF">2022-09-05T14:16:12Z</dcterms:modified>
</cp:coreProperties>
</file>