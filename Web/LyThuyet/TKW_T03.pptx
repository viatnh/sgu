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256" r:id="rId2"/>
    <p:sldId id="257" r:id="rId3"/>
    <p:sldId id="261" r:id="rId4"/>
    <p:sldId id="262" r:id="rId5"/>
    <p:sldId id="263" r:id="rId6"/>
    <p:sldId id="266" r:id="rId7"/>
    <p:sldId id="267" r:id="rId8"/>
    <p:sldId id="268" r:id="rId9"/>
    <p:sldId id="269" r:id="rId10"/>
    <p:sldId id="318" r:id="rId11"/>
    <p:sldId id="317" r:id="rId12"/>
    <p:sldId id="270" r:id="rId13"/>
    <p:sldId id="271" r:id="rId14"/>
    <p:sldId id="272" r:id="rId15"/>
    <p:sldId id="274" r:id="rId16"/>
    <p:sldId id="279" r:id="rId17"/>
    <p:sldId id="280" r:id="rId18"/>
    <p:sldId id="281" r:id="rId19"/>
    <p:sldId id="282" r:id="rId20"/>
    <p:sldId id="283" r:id="rId21"/>
    <p:sldId id="289" r:id="rId22"/>
    <p:sldId id="290" r:id="rId23"/>
    <p:sldId id="291" r:id="rId24"/>
    <p:sldId id="292" r:id="rId25"/>
    <p:sldId id="320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1" r:id="rId34"/>
    <p:sldId id="300" r:id="rId35"/>
    <p:sldId id="302" r:id="rId36"/>
    <p:sldId id="284" r:id="rId37"/>
    <p:sldId id="303" r:id="rId38"/>
    <p:sldId id="304" r:id="rId39"/>
    <p:sldId id="305" r:id="rId40"/>
    <p:sldId id="306" r:id="rId41"/>
    <p:sldId id="307" r:id="rId42"/>
    <p:sldId id="308" r:id="rId43"/>
    <p:sldId id="310" r:id="rId44"/>
    <p:sldId id="309" r:id="rId45"/>
    <p:sldId id="311" r:id="rId46"/>
    <p:sldId id="312" r:id="rId47"/>
    <p:sldId id="313" r:id="rId48"/>
    <p:sldId id="288" r:id="rId49"/>
    <p:sldId id="314" r:id="rId50"/>
    <p:sldId id="315" r:id="rId51"/>
    <p:sldId id="316" r:id="rId52"/>
    <p:sldId id="278" r:id="rId53"/>
    <p:sldId id="259" r:id="rId54"/>
    <p:sldId id="275" r:id="rId55"/>
    <p:sldId id="277" r:id="rId56"/>
    <p:sldId id="287" r:id="rId57"/>
    <p:sldId id="260" r:id="rId58"/>
    <p:sldId id="285" r:id="rId59"/>
    <p:sldId id="286" r:id="rId60"/>
    <p:sldId id="258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1" autoAdjust="0"/>
    <p:restoredTop sz="94660"/>
  </p:normalViewPr>
  <p:slideViewPr>
    <p:cSldViewPr>
      <p:cViewPr varScale="1">
        <p:scale>
          <a:sx n="69" d="100"/>
          <a:sy n="69" d="100"/>
        </p:scale>
        <p:origin x="-133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8FB68-537D-4119-BD04-9132068DFB8B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B9E56-46F9-4BFA-A39B-47F0923A6E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81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B19546-7CE1-4A60-9279-BCADC0161DB1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CFCD5-CD5E-46DE-A74D-45535A5495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07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FCD5-CD5E-46DE-A74D-45535A54953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ebloe.com/" TargetMode="External"/><Relationship Id="rId2" Type="http://schemas.openxmlformats.org/officeDocument/2006/relationships/hyperlink" Target="http://coding.smashingmagazine.com/2009/06/02/fixed-vs-fluid-vs-elastic-layout-whats-the-right-one-for-you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hyperlink" Target="http://www.google.com.vn/" TargetMode="Externa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free-clip-art.com/" TargetMode="External"/><Relationship Id="rId2" Type="http://schemas.openxmlformats.org/officeDocument/2006/relationships/hyperlink" Target="http://www.clipart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freewebsitetemplates.com/" TargetMode="External"/><Relationship Id="rId4" Type="http://schemas.openxmlformats.org/officeDocument/2006/relationships/hyperlink" Target="http://www.1001freefonts.com/fontfiles/main.htm" TargetMode="Externa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itepoint.com/article/principles-beautifulweb-design/" TargetMode="External"/><Relationship Id="rId2" Type="http://schemas.openxmlformats.org/officeDocument/2006/relationships/hyperlink" Target="http://www.smashingmagazine.com/2008/01/31/10-principles-of-effective-web-desig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draydesign.com/website_development_process.htm" TargetMode="External"/><Relationship Id="rId5" Type="http://schemas.openxmlformats.org/officeDocument/2006/relationships/hyperlink" Target="http://webstyleguide.com/process/index.html" TargetMode="External"/><Relationship Id="rId4" Type="http://schemas.openxmlformats.org/officeDocument/2006/relationships/hyperlink" Target="http://www.december.com/web/develop/processes.html" TargetMode="Externa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753600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47800" y="4343400"/>
            <a:ext cx="6553200" cy="1219200"/>
          </a:xfrm>
        </p:spPr>
        <p:txBody>
          <a:bodyPr lIns="91440" rIns="91440">
            <a:noAutofit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pPr>
              <a:lnSpc>
                <a:spcPct val="130000"/>
              </a:lnSpc>
            </a:pPr>
            <a:r>
              <a:rPr lang="en-US" sz="32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Tổng</a:t>
            </a:r>
            <a:r>
              <a:rPr lang="en-US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quan</a:t>
            </a:r>
            <a:r>
              <a:rPr lang="en-US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về</a:t>
            </a:r>
            <a:r>
              <a:rPr lang="en-US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xây</a:t>
            </a:r>
            <a:r>
              <a:rPr lang="en-US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dựng</a:t>
            </a:r>
            <a:r>
              <a:rPr lang="en-US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/>
            </a:r>
            <a:br>
              <a:rPr lang="en-US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</a:br>
            <a:r>
              <a:rPr lang="en-US" sz="32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ứng</a:t>
            </a:r>
            <a:r>
              <a:rPr lang="en-US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dụng</a:t>
            </a:r>
            <a:r>
              <a:rPr lang="en-US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web</a:t>
            </a:r>
            <a:endParaRPr lang="en-US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-76200" y="2362200"/>
            <a:ext cx="9982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Phát triển ứng dụng web 1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862931" y="2898198"/>
            <a:ext cx="6027737" cy="6070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Đại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Học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Sài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Gòn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–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Khoa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CNTT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Nội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dung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2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609600"/>
            <a:ext cx="838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4000" dirty="0" err="1" smtClean="0">
                <a:latin typeface="Verdana" pitchFamily="34" charset="0"/>
              </a:rPr>
              <a:t>Các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bước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thiết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lập</a:t>
            </a:r>
            <a:r>
              <a:rPr lang="en-US" sz="4000" dirty="0" smtClean="0">
                <a:latin typeface="Verdana" pitchFamily="34" charset="0"/>
              </a:rPr>
              <a:t> website </a:t>
            </a:r>
          </a:p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4000" dirty="0" err="1" smtClean="0">
                <a:latin typeface="Verdana" pitchFamily="34" charset="0"/>
              </a:rPr>
              <a:t>Thiết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kế</a:t>
            </a:r>
            <a:r>
              <a:rPr lang="en-US" sz="4000" dirty="0" smtClean="0">
                <a:latin typeface="Verdana" pitchFamily="34" charset="0"/>
              </a:rPr>
              <a:t> website</a:t>
            </a:r>
          </a:p>
          <a:p>
            <a:pPr marL="1085850" lvl="1" indent="-4000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000" dirty="0" err="1" smtClean="0">
                <a:latin typeface="Verdana" pitchFamily="34" charset="0"/>
              </a:rPr>
              <a:t>Thiết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kế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giao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diện</a:t>
            </a:r>
            <a:endParaRPr lang="en-US" sz="4000" dirty="0" smtClean="0">
              <a:latin typeface="Verdana" pitchFamily="34" charset="0"/>
            </a:endParaRPr>
          </a:p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4000" dirty="0" err="1" smtClean="0">
                <a:latin typeface="Verdana" pitchFamily="34" charset="0"/>
              </a:rPr>
              <a:t>Xây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dựng</a:t>
            </a:r>
            <a:r>
              <a:rPr lang="en-US" sz="4000" dirty="0" smtClean="0">
                <a:latin typeface="Verdana" pitchFamily="34" charset="0"/>
              </a:rPr>
              <a:t> website </a:t>
            </a:r>
            <a:r>
              <a:rPr lang="en-US" sz="4000" dirty="0" err="1" smtClean="0">
                <a:latin typeface="Verdana" pitchFamily="34" charset="0"/>
              </a:rPr>
              <a:t>dưới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góc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nhìn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ngộ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nghĩnh</a:t>
            </a:r>
            <a:endParaRPr lang="en-US" sz="4000" dirty="0" smtClean="0">
              <a:latin typeface="Verdana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4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Các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bước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thiết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lập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web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3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304800"/>
            <a:ext cx="8915400" cy="689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200" dirty="0" smtClean="0"/>
          </a:p>
          <a:p>
            <a:pPr marL="457200" indent="-457200"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Xác định yêu cầu Website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Mua tên miền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Thuê chỗ hosting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Xây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dựng</a:t>
            </a:r>
            <a:r>
              <a:rPr lang="en-US" sz="3200" dirty="0" smtClean="0">
                <a:latin typeface="Verdana" pitchFamily="34" charset="0"/>
              </a:rPr>
              <a:t> Website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Đưa vào hoạt động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Duy trì thông tin, bảo dưỡng website</a:t>
            </a:r>
          </a:p>
          <a:p>
            <a:pPr marL="519113" indent="-519113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endParaRPr lang="en-US" sz="3200" dirty="0" smtClean="0"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Xác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định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yêu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cầu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4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304800"/>
            <a:ext cx="89154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200" dirty="0" smtClean="0"/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Mục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tiêu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yêu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cầu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cơ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bản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của</a:t>
            </a:r>
            <a:r>
              <a:rPr lang="en-US" sz="3200" dirty="0" smtClean="0">
                <a:latin typeface="Verdana" pitchFamily="34" charset="0"/>
              </a:rPr>
              <a:t> website</a:t>
            </a:r>
            <a:endParaRPr lang="vi-VN" sz="3200" dirty="0" smtClean="0">
              <a:latin typeface="Verdana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Đối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tượng</a:t>
            </a:r>
            <a:r>
              <a:rPr lang="en-US" sz="3200" dirty="0" smtClean="0">
                <a:latin typeface="Verdana" pitchFamily="34" charset="0"/>
              </a:rPr>
              <a:t> website </a:t>
            </a:r>
            <a:r>
              <a:rPr lang="en-US" sz="3200" dirty="0" err="1" smtClean="0">
                <a:latin typeface="Verdana" pitchFamily="34" charset="0"/>
              </a:rPr>
              <a:t>phục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vụ</a:t>
            </a:r>
            <a:endParaRPr lang="vi-VN" sz="3200" dirty="0" smtClean="0">
              <a:latin typeface="Verdana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Chủ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đề</a:t>
            </a:r>
            <a:r>
              <a:rPr lang="en-US" sz="3200" dirty="0" smtClean="0">
                <a:latin typeface="Verdana" pitchFamily="34" charset="0"/>
              </a:rPr>
              <a:t> website</a:t>
            </a:r>
            <a:endParaRPr lang="vi-VN" sz="3200" dirty="0" smtClean="0">
              <a:latin typeface="Verdana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  <a:p>
            <a:pPr marL="519113" indent="-519113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"/>
            </a:pPr>
            <a:r>
              <a:rPr lang="en-US" sz="3200" dirty="0" err="1" smtClean="0">
                <a:latin typeface="Verdana" pitchFamily="34" charset="0"/>
              </a:rPr>
              <a:t>Kết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quả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được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sẽ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là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những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thông</a:t>
            </a:r>
            <a:r>
              <a:rPr lang="en-US" sz="3200" dirty="0" smtClean="0">
                <a:latin typeface="Verdana" pitchFamily="34" charset="0"/>
              </a:rPr>
              <a:t> tin </a:t>
            </a:r>
            <a:r>
              <a:rPr lang="en-US" sz="3200" dirty="0" err="1" smtClean="0">
                <a:latin typeface="Verdana" pitchFamily="34" charset="0"/>
              </a:rPr>
              <a:t>quan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trọng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trong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giai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đoạn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xây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dựng</a:t>
            </a:r>
            <a:r>
              <a:rPr lang="en-US" sz="3200" dirty="0" smtClean="0">
                <a:latin typeface="Verdana" pitchFamily="34" charset="0"/>
              </a:rPr>
              <a:t> web (Planning).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Mục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tiêu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yêu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cầ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u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cơ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bản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5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" y="567690"/>
            <a:ext cx="8610600" cy="6271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US" sz="3200" dirty="0" err="1" smtClean="0">
                <a:latin typeface="Verdana" pitchFamily="34" charset="0"/>
              </a:rPr>
              <a:t>Đề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ra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mục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tiêu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khái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quát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ngắn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gọn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rõ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ràng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của</a:t>
            </a:r>
            <a:r>
              <a:rPr lang="en-US" sz="3200" dirty="0" smtClean="0">
                <a:latin typeface="Verdana" pitchFamily="34" charset="0"/>
              </a:rPr>
              <a:t> website </a:t>
            </a:r>
            <a:r>
              <a:rPr lang="en-US" sz="3200" dirty="0" err="1" smtClean="0">
                <a:latin typeface="Verdana" pitchFamily="34" charset="0"/>
              </a:rPr>
              <a:t>cần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thiết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kế</a:t>
            </a:r>
            <a:endParaRPr lang="en-US" sz="3200" dirty="0" smtClean="0">
              <a:latin typeface="Verdana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vi-VN" sz="3200" dirty="0" smtClean="0">
                <a:latin typeface="Verdana" pitchFamily="34" charset="0"/>
              </a:rPr>
              <a:t>Là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công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cụ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để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đánh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giá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sự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thành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bại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của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một</a:t>
            </a:r>
            <a:r>
              <a:rPr lang="en-US" sz="3200" dirty="0" smtClean="0">
                <a:latin typeface="Verdana" pitchFamily="34" charset="0"/>
              </a:rPr>
              <a:t> w</a:t>
            </a:r>
            <a:r>
              <a:rPr lang="vi-VN" sz="3200" dirty="0" smtClean="0">
                <a:latin typeface="Verdana" pitchFamily="34" charset="0"/>
              </a:rPr>
              <a:t>ebsite</a:t>
            </a:r>
            <a:endParaRPr lang="en-US" sz="3200" dirty="0" smtClean="0">
              <a:latin typeface="Verdana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US" sz="3200" dirty="0" err="1" smtClean="0">
                <a:latin typeface="Verdana" pitchFamily="34" charset="0"/>
              </a:rPr>
              <a:t>Mục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tiêu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phải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dài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hạn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bao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trùm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toàn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bộ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kế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hoạch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phát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triển</a:t>
            </a:r>
            <a:endParaRPr lang="vi-VN" sz="3200" dirty="0" smtClean="0">
              <a:latin typeface="Verdana" pitchFamily="34" charset="0"/>
            </a:endParaRPr>
          </a:p>
          <a:p>
            <a:pPr marL="457200" indent="-457200">
              <a:spcBef>
                <a:spcPts val="1200"/>
              </a:spcBef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  <a:p>
            <a:pPr marL="519113" indent="-519113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endParaRPr lang="en-US" sz="3200" dirty="0" smtClean="0"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Đối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tượng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phục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vụ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6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" y="381000"/>
            <a:ext cx="8991600" cy="7063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3200" dirty="0" err="1" smtClean="0">
                <a:latin typeface="Verdana" pitchFamily="34" charset="0"/>
              </a:rPr>
              <a:t>Xác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định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loại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đối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tượng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phục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vụ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chính</a:t>
            </a:r>
            <a:endParaRPr lang="en-US" sz="3200" dirty="0" smtClean="0">
              <a:latin typeface="Verdana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3200" dirty="0" err="1" smtClean="0">
                <a:latin typeface="Verdana" pitchFamily="34" charset="0"/>
              </a:rPr>
              <a:t>Tìm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hiểu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đối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tượng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phục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vụ</a:t>
            </a:r>
            <a:endParaRPr lang="en-US" sz="3200" dirty="0" smtClean="0">
              <a:latin typeface="Verdana" pitchFamily="3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ts val="600"/>
              </a:spcBef>
              <a:buFont typeface="Verdana" pitchFamily="34" charset="0"/>
              <a:buChar char="−"/>
            </a:pPr>
            <a:r>
              <a:rPr lang="en-US" sz="2800" dirty="0" err="1" smtClean="0">
                <a:latin typeface="Verdana" pitchFamily="34" charset="0"/>
              </a:rPr>
              <a:t>Sự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hiểu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biết</a:t>
            </a:r>
            <a:endParaRPr lang="en-US" sz="2800" dirty="0" smtClean="0">
              <a:latin typeface="Verdana" pitchFamily="3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ts val="600"/>
              </a:spcBef>
              <a:buFont typeface="Verdana" pitchFamily="34" charset="0"/>
              <a:buChar char="−"/>
            </a:pPr>
            <a:r>
              <a:rPr lang="en-US" sz="2800" dirty="0" err="1" smtClean="0">
                <a:latin typeface="Verdana" pitchFamily="34" charset="0"/>
              </a:rPr>
              <a:t>Trình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độ</a:t>
            </a:r>
            <a:r>
              <a:rPr lang="en-US" sz="2800" dirty="0" smtClean="0">
                <a:latin typeface="Verdana" pitchFamily="34" charset="0"/>
              </a:rPr>
              <a:t> </a:t>
            </a:r>
          </a:p>
          <a:p>
            <a:pPr marL="742950" lvl="1" indent="-285750" algn="just">
              <a:lnSpc>
                <a:spcPct val="150000"/>
              </a:lnSpc>
              <a:spcBef>
                <a:spcPts val="600"/>
              </a:spcBef>
              <a:buFont typeface="Verdana" pitchFamily="34" charset="0"/>
              <a:buChar char="−"/>
            </a:pPr>
            <a:r>
              <a:rPr lang="en-US" sz="2800" dirty="0" err="1" smtClean="0">
                <a:latin typeface="Verdana" pitchFamily="34" charset="0"/>
              </a:rPr>
              <a:t>Sở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thích</a:t>
            </a:r>
            <a:endParaRPr lang="en-US" sz="2800" dirty="0" smtClean="0">
              <a:latin typeface="Verdana" pitchFamily="3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ts val="600"/>
              </a:spcBef>
              <a:buFont typeface="Verdana" pitchFamily="34" charset="0"/>
              <a:buChar char="−"/>
            </a:pPr>
            <a:r>
              <a:rPr lang="en-US" sz="2800" dirty="0" err="1" smtClean="0">
                <a:latin typeface="Verdana" pitchFamily="34" charset="0"/>
              </a:rPr>
              <a:t>Kinh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nghiệm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duyệt</a:t>
            </a:r>
            <a:r>
              <a:rPr lang="en-US" sz="2800" dirty="0" smtClean="0">
                <a:latin typeface="Verdana" pitchFamily="34" charset="0"/>
              </a:rPr>
              <a:t> web ..</a:t>
            </a:r>
            <a:endParaRPr lang="vi-VN" sz="28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Thiết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kế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tốt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sẽ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thích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hợp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nhiều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dạng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đối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tượng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trìh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độ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cầu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khác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nhau</a:t>
            </a:r>
            <a:endParaRPr lang="en-US" sz="3200" dirty="0" smtClean="0">
              <a:latin typeface="Verdana" pitchFamily="34" charset="0"/>
            </a:endParaRPr>
          </a:p>
          <a:p>
            <a:pPr marL="519113" indent="-519113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endParaRPr lang="en-US" sz="3200" dirty="0" smtClean="0"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Chủ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đề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website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7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" y="381000"/>
            <a:ext cx="8991600" cy="5740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3200" dirty="0" err="1" smtClean="0">
                <a:latin typeface="Verdana" pitchFamily="34" charset="0"/>
              </a:rPr>
              <a:t>Giúp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định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hướng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công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việc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thiết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kế</a:t>
            </a:r>
            <a:endParaRPr lang="en-US" sz="3200" dirty="0" smtClean="0">
              <a:latin typeface="Verdana" pitchFamily="3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ts val="600"/>
              </a:spcBef>
              <a:buFont typeface="Verdana" pitchFamily="34" charset="0"/>
              <a:buChar char="−"/>
            </a:pPr>
            <a:r>
              <a:rPr lang="en-US" sz="2800" dirty="0" err="1" smtClean="0">
                <a:latin typeface="Verdana" pitchFamily="34" charset="0"/>
              </a:rPr>
              <a:t>Giới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thiệu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công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ty</a:t>
            </a:r>
            <a:r>
              <a:rPr lang="en-US" sz="2800" dirty="0" smtClean="0">
                <a:latin typeface="Verdana" pitchFamily="34" charset="0"/>
              </a:rPr>
              <a:t>, </a:t>
            </a:r>
            <a:r>
              <a:rPr lang="en-US" sz="2800" dirty="0" err="1" smtClean="0">
                <a:latin typeface="Verdana" pitchFamily="34" charset="0"/>
              </a:rPr>
              <a:t>tổ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chức</a:t>
            </a:r>
            <a:r>
              <a:rPr lang="en-US" sz="2800" dirty="0" smtClean="0">
                <a:latin typeface="Verdana" pitchFamily="34" charset="0"/>
              </a:rPr>
              <a:t>, </a:t>
            </a:r>
            <a:r>
              <a:rPr lang="en-US" sz="2800" dirty="0" err="1" smtClean="0">
                <a:latin typeface="Verdana" pitchFamily="34" charset="0"/>
              </a:rPr>
              <a:t>hàng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hoá</a:t>
            </a:r>
            <a:r>
              <a:rPr lang="en-US" sz="2800" dirty="0" smtClean="0">
                <a:latin typeface="Verdana" pitchFamily="34" charset="0"/>
              </a:rPr>
              <a:t>, …</a:t>
            </a:r>
          </a:p>
          <a:p>
            <a:pPr marL="742950" lvl="1" indent="-285750" algn="just">
              <a:lnSpc>
                <a:spcPct val="150000"/>
              </a:lnSpc>
              <a:spcBef>
                <a:spcPts val="600"/>
              </a:spcBef>
              <a:buFont typeface="Verdana" pitchFamily="34" charset="0"/>
              <a:buChar char="−"/>
            </a:pPr>
            <a:r>
              <a:rPr lang="en-US" sz="2800" dirty="0" err="1" smtClean="0">
                <a:latin typeface="Verdana" pitchFamily="34" charset="0"/>
              </a:rPr>
              <a:t>Tuỳ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thuộc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ngành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nghề</a:t>
            </a:r>
            <a:r>
              <a:rPr lang="en-US" sz="2800" dirty="0" smtClean="0">
                <a:latin typeface="Verdana" pitchFamily="34" charset="0"/>
              </a:rPr>
              <a:t>: </a:t>
            </a:r>
            <a:r>
              <a:rPr lang="en-US" sz="2800" dirty="0" err="1" smtClean="0">
                <a:latin typeface="Verdana" pitchFamily="34" charset="0"/>
              </a:rPr>
              <a:t>giáo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dục</a:t>
            </a:r>
            <a:r>
              <a:rPr lang="en-US" sz="2800" dirty="0" smtClean="0">
                <a:latin typeface="Verdana" pitchFamily="34" charset="0"/>
              </a:rPr>
              <a:t>, </a:t>
            </a:r>
            <a:r>
              <a:rPr lang="en-US" sz="2800" dirty="0" err="1" smtClean="0">
                <a:latin typeface="Verdana" pitchFamily="34" charset="0"/>
              </a:rPr>
              <a:t>giải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trí</a:t>
            </a:r>
            <a:r>
              <a:rPr lang="en-US" sz="2800" dirty="0" smtClean="0">
                <a:latin typeface="Verdana" pitchFamily="34" charset="0"/>
              </a:rPr>
              <a:t> … </a:t>
            </a:r>
          </a:p>
          <a:p>
            <a:pPr marL="742950" lvl="1" indent="-285750" algn="just">
              <a:lnSpc>
                <a:spcPct val="150000"/>
              </a:lnSpc>
              <a:spcBef>
                <a:spcPts val="600"/>
              </a:spcBef>
              <a:buFont typeface="Verdana" pitchFamily="34" charset="0"/>
              <a:buChar char="−"/>
            </a:pPr>
            <a:r>
              <a:rPr lang="en-US" sz="2800" dirty="0" err="1" smtClean="0">
                <a:latin typeface="Verdana" pitchFamily="34" charset="0"/>
              </a:rPr>
              <a:t>Diễn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đàn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trao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đổi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thảo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luận</a:t>
            </a:r>
            <a:endParaRPr lang="en-US" sz="2800" dirty="0" smtClean="0">
              <a:latin typeface="Verdana" pitchFamily="3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ts val="600"/>
              </a:spcBef>
              <a:buFont typeface="Verdana" pitchFamily="34" charset="0"/>
              <a:buChar char="−"/>
            </a:pPr>
            <a:r>
              <a:rPr lang="en-US" sz="2800" dirty="0" err="1" smtClean="0">
                <a:latin typeface="Verdana" pitchFamily="34" charset="0"/>
              </a:rPr>
              <a:t>Diễn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đàn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trao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đổi</a:t>
            </a:r>
            <a:r>
              <a:rPr lang="en-US" sz="2800" dirty="0" smtClean="0">
                <a:latin typeface="Verdana" pitchFamily="34" charset="0"/>
              </a:rPr>
              <a:t>, </a:t>
            </a:r>
            <a:r>
              <a:rPr lang="en-US" sz="2800" dirty="0" err="1" smtClean="0">
                <a:latin typeface="Verdana" pitchFamily="34" charset="0"/>
              </a:rPr>
              <a:t>mua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bán</a:t>
            </a:r>
            <a:r>
              <a:rPr lang="en-US" sz="2800" dirty="0" smtClean="0">
                <a:latin typeface="Verdana" pitchFamily="34" charset="0"/>
              </a:rPr>
              <a:t>, </a:t>
            </a:r>
            <a:r>
              <a:rPr lang="en-US" sz="2800" dirty="0" err="1" smtClean="0">
                <a:latin typeface="Verdana" pitchFamily="34" charset="0"/>
              </a:rPr>
              <a:t>kinh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doanh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trực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tuyến</a:t>
            </a:r>
            <a:endParaRPr lang="en-US" sz="2800" dirty="0" smtClean="0">
              <a:latin typeface="Verdana" pitchFamily="3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ts val="600"/>
              </a:spcBef>
              <a:buFont typeface="Verdana" pitchFamily="34" charset="0"/>
              <a:buChar char="−"/>
            </a:pPr>
            <a:r>
              <a:rPr lang="en-US" sz="2800" dirty="0" smtClean="0">
                <a:latin typeface="Verdana" pitchFamily="34" charset="0"/>
              </a:rPr>
              <a:t>Hay </a:t>
            </a:r>
            <a:r>
              <a:rPr lang="en-US" sz="2800" dirty="0" err="1" smtClean="0">
                <a:latin typeface="Verdana" pitchFamily="34" charset="0"/>
              </a:rPr>
              <a:t>cung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cấp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dịch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vụ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và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thu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lợi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từ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quảng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cáo</a:t>
            </a:r>
            <a:r>
              <a:rPr lang="en-US" sz="2800" dirty="0" smtClean="0">
                <a:latin typeface="Verdana" pitchFamily="34" charset="0"/>
              </a:rPr>
              <a:t>, …</a:t>
            </a:r>
            <a:endParaRPr lang="en-US" sz="3200" dirty="0" smtClean="0"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Mua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tên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miền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8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" y="381000"/>
            <a:ext cx="8991600" cy="5678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200" dirty="0" smtClean="0"/>
          </a:p>
          <a:p>
            <a:pPr marL="342900" indent="-342900"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Tên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miền</a:t>
            </a:r>
            <a:r>
              <a:rPr lang="en-US" sz="3200" dirty="0" smtClean="0">
                <a:latin typeface="Verdana" pitchFamily="34" charset="0"/>
              </a:rPr>
              <a:t> = </a:t>
            </a:r>
            <a:r>
              <a:rPr lang="en-US" sz="3200" dirty="0" err="1" smtClean="0">
                <a:latin typeface="Verdana" pitchFamily="34" charset="0"/>
              </a:rPr>
              <a:t>Tên</a:t>
            </a:r>
            <a:r>
              <a:rPr lang="en-US" sz="3200" dirty="0" smtClean="0">
                <a:latin typeface="Verdana" pitchFamily="34" charset="0"/>
              </a:rPr>
              <a:t> website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Tên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ngắn</a:t>
            </a:r>
            <a:endParaRPr lang="en-US" sz="2800" dirty="0" smtClean="0">
              <a:latin typeface="Verdana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Gợi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nhớ</a:t>
            </a:r>
            <a:endParaRPr lang="en-US" sz="2800" dirty="0" smtClean="0">
              <a:latin typeface="Verdana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vi-VN" sz="2800" dirty="0" smtClean="0">
                <a:latin typeface="Verdana" pitchFamily="34" charset="0"/>
              </a:rPr>
              <a:t>Dễ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đọc, không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gây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nhầm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lẫn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vi-VN" sz="2800" dirty="0" smtClean="0">
                <a:latin typeface="Verdana" pitchFamily="34" charset="0"/>
              </a:rPr>
              <a:t>Thể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hiện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được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tên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công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ty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hoặc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nhãn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hiệu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chính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của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công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ty</a:t>
            </a:r>
            <a:endParaRPr lang="en-US" sz="2800" dirty="0" smtClean="0">
              <a:latin typeface="Verdana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Vd</a:t>
            </a:r>
            <a:r>
              <a:rPr lang="en-US" sz="2800" dirty="0" smtClean="0">
                <a:latin typeface="Verdana" pitchFamily="34" charset="0"/>
              </a:rPr>
              <a:t>: 	IBM.com</a:t>
            </a:r>
          </a:p>
          <a:p>
            <a:pPr marL="1828800" lvl="3" indent="-457200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</a:rPr>
              <a:t>	Lenovo.com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Mua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tên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miền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9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2" name="Picture 1" descr="Screen Shot 2012-05-23 at 2.34.5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38200"/>
            <a:ext cx="8884498" cy="2362200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pic>
        <p:nvPicPr>
          <p:cNvPr id="4" name="Picture 3" descr="Screen Shot 2012-05-23 at 2.36.1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505200"/>
            <a:ext cx="8288918" cy="2362200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Mua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tên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miền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229600" y="6477000"/>
            <a:ext cx="838200" cy="3810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10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2" name="Picture 1" descr="Screen Shot 2012-05-23 at 2.21.1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3400"/>
            <a:ext cx="8991600" cy="5805112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0067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Screen Shot 2012-05-23 at 2.48.5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330086"/>
            <a:ext cx="6501158" cy="4924414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Tìm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kiếm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tên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miền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7" name="Content Placeholder 6" descr="Screen Shot 2012-05-23 at 2.37.47 PM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" r="1079"/>
          <a:stretch>
            <a:fillRect/>
          </a:stretch>
        </p:blipFill>
        <p:spPr>
          <a:xfrm>
            <a:off x="152400" y="685800"/>
            <a:ext cx="4038600" cy="2221074"/>
          </a:xfr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11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38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Thuê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hosting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12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76200"/>
            <a:ext cx="89154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200" dirty="0" smtClean="0"/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Hệ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điều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hành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của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máy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chủ</a:t>
            </a:r>
            <a:endParaRPr lang="vi-VN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smtClean="0">
                <a:latin typeface="Verdana" pitchFamily="34" charset="0"/>
              </a:rPr>
              <a:t>Dung </a:t>
            </a:r>
            <a:r>
              <a:rPr lang="en-US" sz="3200" dirty="0" err="1" smtClean="0">
                <a:latin typeface="Verdana" pitchFamily="34" charset="0"/>
              </a:rPr>
              <a:t>lượng</a:t>
            </a:r>
            <a:endParaRPr lang="vi-VN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Băng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thông</a:t>
            </a:r>
            <a:endParaRPr lang="en-US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Ngôn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ngữ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hỗ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trợ</a:t>
            </a:r>
            <a:endParaRPr lang="en-US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Hệ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quản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trị</a:t>
            </a:r>
            <a:r>
              <a:rPr lang="en-US" sz="3200" dirty="0" smtClean="0">
                <a:latin typeface="Verdana" pitchFamily="34" charset="0"/>
              </a:rPr>
              <a:t> CSDL </a:t>
            </a:r>
            <a:r>
              <a:rPr lang="en-US" sz="3200" dirty="0" err="1" smtClean="0">
                <a:latin typeface="Verdana" pitchFamily="34" charset="0"/>
              </a:rPr>
              <a:t>hỗ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trợ</a:t>
            </a:r>
            <a:endParaRPr lang="en-US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smtClean="0">
                <a:latin typeface="Verdana" pitchFamily="34" charset="0"/>
              </a:rPr>
              <a:t>Email POP3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smtClean="0">
                <a:latin typeface="Verdana" pitchFamily="34" charset="0"/>
              </a:rPr>
              <a:t>SSL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smtClean="0">
                <a:latin typeface="Verdana" pitchFamily="34" charset="0"/>
              </a:rPr>
              <a:t>…</a:t>
            </a:r>
          </a:p>
          <a:p>
            <a:pPr marL="457200" indent="-457200"/>
            <a:endParaRPr lang="vi-VN" sz="3200" dirty="0" smtClean="0"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Thuê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hosting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13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2" name="Picture 1" descr="Screen Shot 2012-05-23 at 2.19.3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300"/>
            <a:ext cx="9144000" cy="5590008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Thuê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hosting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14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2" name="Picture 1" descr="Screen Shot 2012-05-23 at 2.19.5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6400"/>
            <a:ext cx="9144000" cy="6040073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Xây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dựng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website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15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440115"/>
            <a:ext cx="914400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Xác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định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yêu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cầu</a:t>
            </a:r>
            <a:r>
              <a:rPr lang="en-US" sz="3200" dirty="0" smtClean="0">
                <a:latin typeface="Verdana" pitchFamily="34" charset="0"/>
              </a:rPr>
              <a:t> (Planning)</a:t>
            </a:r>
            <a:endParaRPr lang="vi-VN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Phân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tích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và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thiết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kế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hệ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thống</a:t>
            </a:r>
            <a:r>
              <a:rPr lang="en-US" sz="3200" dirty="0" smtClean="0">
                <a:latin typeface="Verdana" pitchFamily="34" charset="0"/>
              </a:rPr>
              <a:t> </a:t>
            </a:r>
            <a:br>
              <a:rPr lang="en-US" sz="3200" dirty="0" smtClean="0">
                <a:latin typeface="Verdana" pitchFamily="34" charset="0"/>
              </a:rPr>
            </a:br>
            <a:r>
              <a:rPr lang="en-US" sz="3200" dirty="0" smtClean="0">
                <a:latin typeface="Verdana" pitchFamily="34" charset="0"/>
              </a:rPr>
              <a:t>(</a:t>
            </a:r>
            <a:r>
              <a:rPr lang="en-US" sz="3200" dirty="0" err="1" smtClean="0">
                <a:latin typeface="Verdana" pitchFamily="34" charset="0"/>
              </a:rPr>
              <a:t>Analysys</a:t>
            </a:r>
            <a:r>
              <a:rPr lang="en-US" sz="3200" dirty="0" smtClean="0">
                <a:latin typeface="Verdana" pitchFamily="34" charset="0"/>
              </a:rPr>
              <a:t> &amp; Design)</a:t>
            </a:r>
            <a:endParaRPr lang="vi-VN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Thiết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kế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giao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diện</a:t>
            </a:r>
            <a:r>
              <a:rPr lang="en-US" sz="3200" dirty="0" smtClean="0">
                <a:latin typeface="Verdana" pitchFamily="34" charset="0"/>
              </a:rPr>
              <a:t> (Interface – GUI)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Lập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trình</a:t>
            </a:r>
            <a:r>
              <a:rPr lang="en-US" sz="3200" dirty="0" smtClean="0">
                <a:latin typeface="Verdana" pitchFamily="34" charset="0"/>
              </a:rPr>
              <a:t> (Code – Develop)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Kiểm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tra</a:t>
            </a:r>
            <a:r>
              <a:rPr lang="en-US" sz="3200" dirty="0" smtClean="0">
                <a:latin typeface="Verdana" pitchFamily="34" charset="0"/>
              </a:rPr>
              <a:t> (Test)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Triển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khai</a:t>
            </a:r>
            <a:r>
              <a:rPr lang="en-US" sz="3200" dirty="0" smtClean="0">
                <a:latin typeface="Verdana" pitchFamily="34" charset="0"/>
              </a:rPr>
              <a:t> (Deploy)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Nâng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cấp</a:t>
            </a:r>
            <a:r>
              <a:rPr lang="en-US" sz="3200" dirty="0" smtClean="0">
                <a:latin typeface="Verdana" pitchFamily="34" charset="0"/>
              </a:rPr>
              <a:t> (Upgrade)</a:t>
            </a:r>
          </a:p>
          <a:p>
            <a:pPr marL="457200" indent="-457200"/>
            <a:endParaRPr lang="vi-VN" sz="3200" dirty="0" smtClean="0"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Các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thành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phần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bản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trong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thiết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kế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giao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diện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16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" y="729020"/>
            <a:ext cx="8534400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smtClean="0">
                <a:latin typeface="Verdana" pitchFamily="34" charset="0"/>
              </a:rPr>
              <a:t>T</a:t>
            </a:r>
            <a:r>
              <a:rPr lang="vi-VN" sz="3200" dirty="0" smtClean="0">
                <a:latin typeface="Verdana" pitchFamily="34" charset="0"/>
              </a:rPr>
              <a:t>rang chủ</a:t>
            </a:r>
            <a:r>
              <a:rPr lang="en-US" sz="3200" dirty="0" smtClean="0">
                <a:latin typeface="Verdana" pitchFamily="34" charset="0"/>
              </a:rPr>
              <a:t> (Homepage)</a:t>
            </a:r>
            <a:endParaRPr lang="vi-VN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Hệ thống định hướng (navigation – site map)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Các trang chức năng thành viên</a:t>
            </a:r>
          </a:p>
          <a:p>
            <a:pPr marL="457200" indent="-457200">
              <a:lnSpc>
                <a:spcPct val="150000"/>
              </a:lnSpc>
              <a:spcBef>
                <a:spcPts val="1800"/>
              </a:spcBef>
              <a:buFont typeface="Wingdings" pitchFamily="2" charset="2"/>
              <a:buChar char="Ø"/>
            </a:pPr>
            <a:endParaRPr lang="en-US" sz="3200" dirty="0" smtClean="0">
              <a:solidFill>
                <a:srgbClr val="002060"/>
              </a:solidFill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spcBef>
                <a:spcPts val="1800"/>
              </a:spcBef>
              <a:buFont typeface="Wingdings" pitchFamily="2" charset="2"/>
              <a:buChar char="Ø"/>
            </a:pPr>
            <a:r>
              <a:rPr lang="vi-VN" sz="3200" dirty="0" smtClean="0">
                <a:solidFill>
                  <a:srgbClr val="002060"/>
                </a:solidFill>
                <a:latin typeface="Verdana" pitchFamily="34" charset="0"/>
              </a:rPr>
              <a:t>Giao diện website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Trang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chủ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17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" y="729021"/>
            <a:ext cx="8534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Toàn bộ website </a:t>
            </a:r>
            <a:r>
              <a:rPr lang="en-US" sz="3200" dirty="0" err="1" smtClean="0">
                <a:latin typeface="Verdana" pitchFamily="34" charset="0"/>
              </a:rPr>
              <a:t>đều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được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thiết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lập</a:t>
            </a:r>
            <a:r>
              <a:rPr lang="vi-VN" sz="3200" dirty="0" smtClean="0">
                <a:latin typeface="Verdana" pitchFamily="34" charset="0"/>
              </a:rPr>
              <a:t> quanh trang chủ</a:t>
            </a:r>
            <a:r>
              <a:rPr lang="en-US" sz="3200" dirty="0" smtClean="0">
                <a:latin typeface="Verdana" pitchFamily="34" charset="0"/>
              </a:rPr>
              <a:t>.</a:t>
            </a:r>
            <a:endParaRPr lang="vi-VN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Trang chủ xác định rõ chủ đề website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Trang chủ xác định phong cách thiết kế của website</a:t>
            </a:r>
            <a:endParaRPr lang="en-US" sz="3200" dirty="0" smtClean="0">
              <a:latin typeface="Verdana" pitchFamily="34" charset="0"/>
            </a:endParaRPr>
          </a:p>
          <a:p>
            <a:pPr marL="914400" lvl="1" indent="-457200">
              <a:lnSpc>
                <a:spcPct val="150000"/>
              </a:lnSpc>
            </a:pPr>
            <a:r>
              <a:rPr lang="en-US" sz="3200" i="1" dirty="0" err="1" smtClean="0">
                <a:solidFill>
                  <a:srgbClr val="002060"/>
                </a:solidFill>
                <a:latin typeface="Verdana" pitchFamily="34" charset="0"/>
              </a:rPr>
              <a:t>Lưu</a:t>
            </a:r>
            <a:r>
              <a:rPr lang="en-US" sz="3200" i="1" dirty="0" smtClean="0">
                <a:solidFill>
                  <a:srgbClr val="002060"/>
                </a:solidFill>
                <a:latin typeface="Verdana" pitchFamily="34" charset="0"/>
              </a:rPr>
              <a:t> ý </a:t>
            </a:r>
            <a:r>
              <a:rPr lang="en-US" sz="3200" i="1" dirty="0" err="1" smtClean="0">
                <a:solidFill>
                  <a:srgbClr val="002060"/>
                </a:solidFill>
                <a:latin typeface="Verdana" pitchFamily="34" charset="0"/>
              </a:rPr>
              <a:t>khi</a:t>
            </a:r>
            <a:r>
              <a:rPr lang="en-US" sz="3200" i="1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Verdana" pitchFamily="34" charset="0"/>
              </a:rPr>
              <a:t>sử</a:t>
            </a:r>
            <a:r>
              <a:rPr lang="en-US" sz="3200" i="1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Verdana" pitchFamily="34" charset="0"/>
              </a:rPr>
              <a:t>dụng</a:t>
            </a:r>
            <a:r>
              <a:rPr lang="en-US" sz="3200" i="1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Verdana" pitchFamily="34" charset="0"/>
              </a:rPr>
              <a:t>đồ</a:t>
            </a:r>
            <a:r>
              <a:rPr lang="en-US" sz="3200" i="1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3200" i="1" dirty="0" err="1" smtClean="0">
                <a:solidFill>
                  <a:srgbClr val="002060"/>
                </a:solidFill>
                <a:latin typeface="Verdana" pitchFamily="34" charset="0"/>
              </a:rPr>
              <a:t>hoạ</a:t>
            </a:r>
            <a:endParaRPr lang="vi-VN" sz="3200" i="1" dirty="0" smtClean="0">
              <a:solidFill>
                <a:srgbClr val="002060"/>
              </a:solidFill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Hệ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thống menu, logo, định danh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18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" y="729021"/>
            <a:ext cx="85344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Hệ thống định hướng (navigation – site map)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Hệ thống menu, naviation đầy đủ, rõ ràng.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Vị trí nhất quán, logic</a:t>
            </a:r>
            <a:r>
              <a:rPr lang="en-US" sz="3200" dirty="0" smtClean="0">
                <a:latin typeface="Verdana" pitchFamily="34" charset="0"/>
              </a:rPr>
              <a:t> (logo </a:t>
            </a:r>
            <a:r>
              <a:rPr lang="en-US" sz="3200" dirty="0" err="1" smtClean="0">
                <a:latin typeface="Verdana" pitchFamily="34" charset="0"/>
              </a:rPr>
              <a:t>công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ty</a:t>
            </a:r>
            <a:r>
              <a:rPr lang="en-US" sz="3200" dirty="0" smtClean="0">
                <a:latin typeface="Verdana" pitchFamily="34" charset="0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Cần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quan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tâm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đến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việc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sư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dụng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hiệu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ứng</a:t>
            </a:r>
            <a:r>
              <a:rPr lang="en-US" sz="3200" dirty="0" smtClean="0">
                <a:latin typeface="Verdana" pitchFamily="34" charset="0"/>
              </a:rPr>
              <a:t>.</a:t>
            </a:r>
            <a:endParaRPr lang="vi-VN" sz="3200" dirty="0" smtClean="0"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vi-VN" sz="2800" dirty="0" smtClean="0">
                <a:solidFill>
                  <a:schemeClr val="bg1"/>
                </a:solidFill>
              </a:rPr>
              <a:t>Các trang chức năng thành viên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19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" y="729021"/>
            <a:ext cx="85344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Hiển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thị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nội</a:t>
            </a:r>
            <a:r>
              <a:rPr lang="en-US" sz="3200" dirty="0" smtClean="0">
                <a:latin typeface="Verdana" pitchFamily="34" charset="0"/>
              </a:rPr>
              <a:t> dung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Một nhóm trang thành viên ~ 1 chức năn</a:t>
            </a:r>
            <a:r>
              <a:rPr lang="en-US" sz="3200" dirty="0" smtClean="0">
                <a:latin typeface="Verdana" pitchFamily="34" charset="0"/>
              </a:rPr>
              <a:t>g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Xây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dựng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theo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cấu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trúc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cơ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bản</a:t>
            </a:r>
            <a:r>
              <a:rPr lang="en-US" sz="3200" dirty="0" smtClean="0">
                <a:latin typeface="Verdana" pitchFamily="34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Nhất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quán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phù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hợp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với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thuộc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tính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đã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định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dạng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trước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và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phải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theo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phong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của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trang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chủ</a:t>
            </a:r>
            <a:endParaRPr lang="en-US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</a:pPr>
            <a:r>
              <a:rPr lang="en-US" sz="3200" dirty="0" smtClean="0">
                <a:latin typeface="Verdana" pitchFamily="34" charset="0"/>
              </a:rPr>
              <a:t>.</a:t>
            </a:r>
            <a:endParaRPr lang="vi-VN" sz="3200" dirty="0" smtClean="0"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Thiết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kế giao diện web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20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3400" y="1092200"/>
          <a:ext cx="4572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696"/>
                <a:gridCol w="3379304"/>
              </a:tblGrid>
              <a:tr h="7063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tx1"/>
                          </a:solidFill>
                          <a:latin typeface="Verdana" pitchFamily="34" charset="0"/>
                        </a:rPr>
                        <a:t> Header</a:t>
                      </a:r>
                      <a:endParaRPr lang="en-US" sz="2800" dirty="0">
                        <a:solidFill>
                          <a:schemeClr val="tx1"/>
                        </a:solidFill>
                        <a:latin typeface="Verdana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0020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chemeClr val="tx1"/>
                          </a:solidFill>
                          <a:latin typeface="Verdana" pitchFamily="34" charset="0"/>
                        </a:rPr>
                        <a:t>Menu</a:t>
                      </a:r>
                    </a:p>
                    <a:p>
                      <a:endParaRPr lang="en-US" sz="2800"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chemeClr val="tx1"/>
                          </a:solidFill>
                          <a:latin typeface="Verdana" pitchFamily="34" charset="0"/>
                        </a:rPr>
                        <a:t>Content </a:t>
                      </a:r>
                    </a:p>
                    <a:p>
                      <a:endParaRPr lang="en-US" sz="2800"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3400" y="1143000"/>
            <a:ext cx="1219200" cy="5334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rgbClr val="002060"/>
                </a:solidFill>
                <a:latin typeface="Verdana" pitchFamily="34" charset="0"/>
              </a:rPr>
              <a:t>Logo</a:t>
            </a:r>
            <a:endParaRPr lang="en-US" sz="1600" b="1" dirty="0">
              <a:solidFill>
                <a:srgbClr val="002060"/>
              </a:solidFill>
              <a:latin typeface="Verdana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34000" y="2819400"/>
            <a:ext cx="3505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smtClean="0">
                <a:latin typeface="Verdana" pitchFamily="34" charset="0"/>
              </a:rPr>
              <a:t>2 x 2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smtClean="0">
                <a:latin typeface="Verdana" pitchFamily="34" charset="0"/>
              </a:rPr>
              <a:t>3 x 3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smtClean="0">
                <a:latin typeface="Verdana" pitchFamily="34" charset="0"/>
              </a:rPr>
              <a:t>Table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smtClean="0">
                <a:latin typeface="Verdana" pitchFamily="34" charset="0"/>
              </a:rPr>
              <a:t>Mixed style.</a:t>
            </a:r>
            <a:endParaRPr lang="vi-VN" sz="3200" dirty="0" smtClean="0">
              <a:latin typeface="Verdana" pitchFamily="34" charset="0"/>
            </a:endParaRPr>
          </a:p>
        </p:txBody>
      </p:sp>
      <p:sp>
        <p:nvSpPr>
          <p:cNvPr id="12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Thiết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kế giao diện: 2x2 layout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21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5400000">
            <a:off x="1750807" y="77993"/>
            <a:ext cx="5642386" cy="670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Thiết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kế giao diện: dạng 3 columns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22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5400000">
            <a:off x="1259628" y="130917"/>
            <a:ext cx="5619858" cy="6615113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ffectLst/>
        </p:spPr>
      </p:pic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Thiết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kế giao diện: 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Mixed style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23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5400000">
            <a:off x="1702593" y="-278606"/>
            <a:ext cx="5638800" cy="7415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Xác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định kiểu chữ, màu sắc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24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457200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Verdana" pitchFamily="34" charset="0"/>
              </a:rPr>
              <a:t>Font </a:t>
            </a:r>
            <a:r>
              <a:rPr lang="en-US" sz="2800" dirty="0" err="1" smtClean="0">
                <a:latin typeface="Verdana" pitchFamily="34" charset="0"/>
              </a:rPr>
              <a:t>chữ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phụ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thuộc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vào</a:t>
            </a:r>
            <a:endParaRPr lang="en-US" sz="28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r>
              <a:rPr lang="vi-VN" sz="2800" dirty="0" smtClean="0">
                <a:latin typeface="Verdana" pitchFamily="34" charset="0"/>
              </a:rPr>
              <a:t>–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Đặc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điểm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thông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tin</a:t>
            </a: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</a:rPr>
              <a:t>– </a:t>
            </a:r>
            <a:r>
              <a:rPr lang="en-US" sz="2800" dirty="0" err="1" smtClean="0">
                <a:latin typeface="Verdana" pitchFamily="34" charset="0"/>
              </a:rPr>
              <a:t>Độc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giả</a:t>
            </a:r>
            <a:endParaRPr lang="en-US" sz="28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r>
              <a:rPr lang="vi-VN" sz="2800" dirty="0" smtClean="0">
                <a:latin typeface="Verdana" pitchFamily="34" charset="0"/>
              </a:rPr>
              <a:t>–Trình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duyệt, độ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phân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giải</a:t>
            </a: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</a:rPr>
              <a:t>–</a:t>
            </a:r>
            <a:r>
              <a:rPr lang="en-US" sz="2800" dirty="0" err="1" smtClean="0">
                <a:latin typeface="Verdana" pitchFamily="34" charset="0"/>
              </a:rPr>
              <a:t>Ngôn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ngữ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sử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dụng</a:t>
            </a:r>
            <a:endParaRPr lang="en-US" sz="28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Verdana" pitchFamily="34" charset="0"/>
              </a:rPr>
              <a:t>–Font </a:t>
            </a:r>
            <a:r>
              <a:rPr lang="en-US" sz="2800" dirty="0" err="1" smtClean="0">
                <a:latin typeface="Verdana" pitchFamily="34" charset="0"/>
              </a:rPr>
              <a:t>có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chân</a:t>
            </a:r>
            <a:r>
              <a:rPr lang="en-US" sz="2800" dirty="0" smtClean="0">
                <a:latin typeface="Verdana" pitchFamily="34" charset="0"/>
              </a:rPr>
              <a:t>, </a:t>
            </a:r>
            <a:r>
              <a:rPr lang="en-US" sz="2800" dirty="0" err="1" smtClean="0">
                <a:latin typeface="Verdana" pitchFamily="34" charset="0"/>
              </a:rPr>
              <a:t>không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chân</a:t>
            </a:r>
            <a:r>
              <a:rPr lang="en-US" sz="2800" dirty="0" smtClean="0">
                <a:latin typeface="Verdana" pitchFamily="34" charset="0"/>
              </a:rPr>
              <a:t>…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err="1" smtClean="0">
                <a:latin typeface="Verdana" pitchFamily="34" charset="0"/>
              </a:rPr>
              <a:t>Gam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màu</a:t>
            </a:r>
            <a:r>
              <a:rPr lang="en-US" sz="2800" dirty="0" smtClean="0">
                <a:latin typeface="Verdana" pitchFamily="34" charset="0"/>
              </a:rPr>
              <a:t>:</a:t>
            </a:r>
            <a:r>
              <a:rPr lang="en-US" sz="28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thống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nhất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trong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toàn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bộ</a:t>
            </a:r>
            <a:r>
              <a:rPr lang="en-US" sz="2800" dirty="0" smtClean="0">
                <a:latin typeface="Verdana" pitchFamily="34" charset="0"/>
              </a:rPr>
              <a:t> Website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</a:rPr>
              <a:t>Font  </a:t>
            </a:r>
            <a:r>
              <a:rPr lang="en-US" sz="2800" dirty="0" err="1" smtClean="0">
                <a:latin typeface="Verdana" pitchFamily="34" charset="0"/>
              </a:rPr>
              <a:t>tiếng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Việt</a:t>
            </a:r>
            <a:r>
              <a:rPr lang="en-US" sz="2800" dirty="0" smtClean="0">
                <a:latin typeface="Verdana" pitchFamily="34" charset="0"/>
              </a:rPr>
              <a:t>: VNI,  TCVN3,  Unicode…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err="1" smtClean="0">
                <a:latin typeface="Verdana" pitchFamily="34" charset="0"/>
              </a:rPr>
              <a:t>Cắt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đoạn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và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tóm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lược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thông</a:t>
            </a:r>
            <a:r>
              <a:rPr lang="en-US" sz="2800" dirty="0" smtClean="0">
                <a:latin typeface="Verdana" pitchFamily="34" charset="0"/>
              </a:rPr>
              <a:t> tin </a:t>
            </a:r>
            <a:r>
              <a:rPr lang="en-US" sz="2800" dirty="0" err="1" smtClean="0">
                <a:latin typeface="Verdana" pitchFamily="34" charset="0"/>
              </a:rPr>
              <a:t>trong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văn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bản</a:t>
            </a:r>
            <a:r>
              <a:rPr lang="en-US" sz="2800" dirty="0" smtClean="0">
                <a:latin typeface="Verdana" pitchFamily="34" charset="0"/>
              </a:rPr>
              <a:t>.</a:t>
            </a:r>
            <a:endParaRPr lang="vi-VN" sz="2800" dirty="0" smtClean="0"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Độ</a:t>
            </a: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de-DE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phân</a:t>
            </a: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de-DE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giải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25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457200"/>
            <a:ext cx="9144000" cy="1174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>
                <a:hlinkClick r:id="rId2"/>
              </a:rPr>
              <a:t> </a:t>
            </a:r>
            <a:r>
              <a:rPr lang="en-US" sz="2000" b="1" dirty="0" smtClean="0">
                <a:hlinkClick r:id="rId2"/>
              </a:rPr>
              <a:t>Fixed </a:t>
            </a:r>
            <a:r>
              <a:rPr lang="en-US" sz="2000" b="1" dirty="0">
                <a:hlinkClick r:id="rId2"/>
              </a:rPr>
              <a:t>vs. </a:t>
            </a:r>
            <a:r>
              <a:rPr lang="en-US" sz="2000" b="1" dirty="0" smtClean="0">
                <a:hlinkClick r:id="rId2"/>
              </a:rPr>
              <a:t>Fluid</a:t>
            </a:r>
            <a:endParaRPr lang="en-US" sz="2000" b="1" dirty="0" smtClean="0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vi-VN" sz="2000" dirty="0">
                <a:latin typeface="Verdana" pitchFamily="34" charset="0"/>
              </a:rPr>
              <a:t> </a:t>
            </a:r>
            <a:r>
              <a:rPr lang="vi-VN" sz="2000" dirty="0" smtClean="0">
                <a:latin typeface="Verdana" pitchFamily="34" charset="0"/>
              </a:rPr>
              <a:t>Fix web: </a:t>
            </a:r>
            <a:r>
              <a:rPr lang="en-US" sz="2000" dirty="0" smtClean="0">
                <a:latin typeface="Verdana" pitchFamily="34" charset="0"/>
                <a:hlinkClick r:id="rId3"/>
              </a:rPr>
              <a:t>http://www.lebloe.com/</a:t>
            </a:r>
            <a:endParaRPr lang="en-US" sz="2000" b="1" dirty="0"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2" name="Picture 1" descr="Screen Shot 2012-05-23 at 3.30.41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394" y="1219200"/>
            <a:ext cx="4305300" cy="4001016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228600" y="1752600"/>
            <a:ext cx="38862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 smtClean="0">
              <a:latin typeface="Verdana"/>
              <a:cs typeface="Verdana"/>
            </a:endParaRPr>
          </a:p>
          <a:p>
            <a:endParaRPr lang="en-US" sz="2000" dirty="0">
              <a:latin typeface="Verdana"/>
              <a:cs typeface="Verdana"/>
            </a:endParaRPr>
          </a:p>
          <a:p>
            <a:r>
              <a:rPr lang="en-US" sz="2000" dirty="0" err="1" smtClean="0">
                <a:latin typeface="Verdana"/>
                <a:cs typeface="Verdana"/>
              </a:rPr>
              <a:t>Fluide</a:t>
            </a:r>
            <a:r>
              <a:rPr lang="en-US" sz="2000" dirty="0" smtClean="0">
                <a:latin typeface="Verdana"/>
                <a:cs typeface="Verdana"/>
              </a:rPr>
              <a:t> website: </a:t>
            </a:r>
            <a:r>
              <a:rPr lang="en-US" sz="2000" dirty="0" smtClean="0">
                <a:latin typeface="Verdana"/>
                <a:cs typeface="Verdana"/>
                <a:hlinkClick r:id="rId5"/>
              </a:rPr>
              <a:t>http://www.google.com.vn/</a:t>
            </a:r>
            <a:endParaRPr lang="en-US" sz="2000" dirty="0" smtClean="0">
              <a:latin typeface="Verdana"/>
              <a:cs typeface="Verdana"/>
            </a:endParaRPr>
          </a:p>
        </p:txBody>
      </p:sp>
      <p:pic>
        <p:nvPicPr>
          <p:cNvPr id="5" name="Picture 4" descr="Screen Shot 2012-05-23 at 3.36.34 PM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200400"/>
            <a:ext cx="5715000" cy="2961952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8129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khung nhin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505200"/>
            <a:ext cx="2493818" cy="2743200"/>
          </a:xfrm>
          <a:prstGeom prst="rect">
            <a:avLst/>
          </a:prstGeom>
        </p:spPr>
      </p:pic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Xác định kích thước khung nhìn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26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457200"/>
            <a:ext cx="914399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Người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đọc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phải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cảm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nhận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được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kích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thước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của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trang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thông</a:t>
            </a:r>
            <a:r>
              <a:rPr lang="en-US" sz="3200" dirty="0" smtClean="0">
                <a:latin typeface="Verdana" pitchFamily="34" charset="0"/>
              </a:rPr>
              <a:t> tin, </a:t>
            </a:r>
            <a:r>
              <a:rPr lang="en-US" sz="3200" dirty="0" err="1" smtClean="0">
                <a:latin typeface="Verdana" pitchFamily="34" charset="0"/>
              </a:rPr>
              <a:t>biết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họ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đang</a:t>
            </a:r>
            <a:r>
              <a:rPr lang="en-US" sz="3200" dirty="0" smtClean="0">
                <a:latin typeface="Verdana" pitchFamily="34" charset="0"/>
              </a:rPr>
              <a:t> ở </a:t>
            </a:r>
            <a:r>
              <a:rPr lang="en-US" sz="3200" dirty="0" err="1" smtClean="0">
                <a:latin typeface="Verdana" pitchFamily="34" charset="0"/>
              </a:rPr>
              <a:t>đâu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có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thể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làm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gì</a:t>
            </a:r>
            <a:endParaRPr lang="en-US" sz="3200" dirty="0" smtClean="0">
              <a:latin typeface="Verdana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Hầu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hết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trang</a:t>
            </a:r>
            <a:r>
              <a:rPr lang="en-US" sz="3200" dirty="0" smtClean="0">
                <a:latin typeface="Verdana" pitchFamily="34" charset="0"/>
              </a:rPr>
              <a:t> web </a:t>
            </a:r>
            <a:r>
              <a:rPr lang="en-US" sz="3200" dirty="0" err="1" smtClean="0">
                <a:latin typeface="Verdana" pitchFamily="34" charset="0"/>
              </a:rPr>
              <a:t>đều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không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vừa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khớp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với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màn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hình</a:t>
            </a:r>
            <a:r>
              <a:rPr lang="en-US" sz="3200" dirty="0" smtClean="0">
                <a:latin typeface="Verdana" pitchFamily="34" charset="0"/>
              </a:rPr>
              <a:t> 14-15’’ </a:t>
            </a:r>
            <a:endParaRPr lang="vi-VN" sz="3200" dirty="0" smtClean="0">
              <a:latin typeface="Verdana" pitchFamily="34" charset="0"/>
            </a:endParaRPr>
          </a:p>
        </p:txBody>
      </p:sp>
      <p:pic>
        <p:nvPicPr>
          <p:cNvPr id="9" name="Picture 8" descr="khung nhin 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19600"/>
            <a:ext cx="5029200" cy="1364304"/>
          </a:xfrm>
          <a:prstGeom prst="rect">
            <a:avLst/>
          </a:prstGeom>
        </p:spPr>
      </p:pic>
      <p:sp>
        <p:nvSpPr>
          <p:cNvPr id="11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Xác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định cấu trúc website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27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400" y="685800"/>
            <a:ext cx="8991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Hệ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thống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phân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cấp</a:t>
            </a:r>
            <a:endParaRPr lang="en-US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Hệ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thống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trang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tiếp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nối</a:t>
            </a:r>
            <a:endParaRPr lang="en-US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smtClean="0">
                <a:latin typeface="Verdana" pitchFamily="34" charset="0"/>
              </a:rPr>
              <a:t>Ô </a:t>
            </a:r>
            <a:r>
              <a:rPr lang="en-US" sz="3200" dirty="0" err="1" smtClean="0">
                <a:latin typeface="Verdana" pitchFamily="34" charset="0"/>
              </a:rPr>
              <a:t>lưới</a:t>
            </a:r>
            <a:endParaRPr lang="en-US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Mạng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nhện</a:t>
            </a:r>
            <a:r>
              <a:rPr lang="en-US" sz="3200" dirty="0" smtClean="0">
                <a:latin typeface="Verdana" pitchFamily="34" charset="0"/>
              </a:rPr>
              <a:t>.</a:t>
            </a:r>
            <a:endParaRPr lang="vi-VN" sz="3200" dirty="0" smtClean="0"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Xác định cấu trúc website: Phân Cấp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28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" name="Picture 8" descr="Phan c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514600"/>
            <a:ext cx="5276850" cy="38337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200" y="381000"/>
            <a:ext cx="8991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Tổ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chức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khối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thông</a:t>
            </a:r>
            <a:r>
              <a:rPr lang="en-US" sz="3200" dirty="0" smtClean="0">
                <a:latin typeface="Verdana" pitchFamily="34" charset="0"/>
              </a:rPr>
              <a:t> tin </a:t>
            </a:r>
            <a:r>
              <a:rPr lang="en-US" sz="3200" dirty="0" err="1" smtClean="0">
                <a:latin typeface="Verdana" pitchFamily="34" charset="0"/>
              </a:rPr>
              <a:t>phức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tạp</a:t>
            </a:r>
            <a:endParaRPr lang="en-US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Hệ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thống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được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dùng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thông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dụng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nhất</a:t>
            </a:r>
            <a:endParaRPr lang="en-US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Gần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với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môi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trường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tổ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chức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thế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giới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thực</a:t>
            </a:r>
            <a:endParaRPr lang="en-US" sz="3200" dirty="0" smtClean="0"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Xác định cấu trúc website: Nối tiếp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29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200" y="534412"/>
            <a:ext cx="8991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Biểu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diễn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thông</a:t>
            </a:r>
            <a:r>
              <a:rPr lang="en-US" sz="3200" dirty="0" smtClean="0">
                <a:latin typeface="Verdana" pitchFamily="34" charset="0"/>
              </a:rPr>
              <a:t> tin </a:t>
            </a:r>
            <a:r>
              <a:rPr lang="en-US" sz="3200" dirty="0" err="1" smtClean="0">
                <a:latin typeface="Verdana" pitchFamily="34" charset="0"/>
              </a:rPr>
              <a:t>tuần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tự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nối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tiếp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theo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thời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gian</a:t>
            </a:r>
            <a:endParaRPr lang="en-US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thông</a:t>
            </a:r>
            <a:r>
              <a:rPr lang="en-US" sz="3200" dirty="0" smtClean="0">
                <a:latin typeface="Verdana" pitchFamily="34" charset="0"/>
              </a:rPr>
              <a:t> tin </a:t>
            </a:r>
            <a:r>
              <a:rPr lang="en-US" sz="3200" dirty="0" err="1" smtClean="0">
                <a:latin typeface="Verdana" pitchFamily="34" charset="0"/>
              </a:rPr>
              <a:t>tra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khảo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dạng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từ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điển</a:t>
            </a:r>
            <a:endParaRPr lang="en-US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Thích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hợp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hệ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thống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nhỏ</a:t>
            </a:r>
            <a:endParaRPr lang="en-US" sz="3200" dirty="0" smtClean="0">
              <a:latin typeface="Verdana" pitchFamily="34" charset="0"/>
            </a:endParaRPr>
          </a:p>
        </p:txBody>
      </p:sp>
      <p:pic>
        <p:nvPicPr>
          <p:cNvPr id="8" name="Picture 7" descr="Noi tie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3810000"/>
            <a:ext cx="7658100" cy="1981200"/>
          </a:xfrm>
          <a:prstGeom prst="rect">
            <a:avLst/>
          </a:prstGeom>
        </p:spPr>
      </p:pic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Xác định cấu trúc website: Ô lưới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30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581085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Danh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sách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khoa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học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biến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cố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sự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kiện</a:t>
            </a:r>
            <a:endParaRPr lang="en-US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Mỗi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thành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viên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phải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cùng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cấu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trúc</a:t>
            </a:r>
            <a:endParaRPr lang="en-US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Khó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hiểu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khó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xác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định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mối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liên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quan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giữ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loại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thông</a:t>
            </a:r>
            <a:r>
              <a:rPr lang="en-US" sz="3200" dirty="0" smtClean="0">
                <a:latin typeface="Verdana" pitchFamily="34" charset="0"/>
              </a:rPr>
              <a:t> tin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Thích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hợp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người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sử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dụng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kinh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nghiệm</a:t>
            </a:r>
            <a:endParaRPr lang="en-US" sz="3200" dirty="0" smtClean="0"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Xác định cấu trúc website: Ô lưới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31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8" name="Picture 7" descr="O luo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914399"/>
            <a:ext cx="6858000" cy="4895651"/>
          </a:xfrm>
          <a:prstGeom prst="rect">
            <a:avLst/>
          </a:prstGeom>
        </p:spPr>
      </p:pic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Xác định cấu trúc website: Ô lưới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32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5400000">
            <a:off x="1730379" y="-250821"/>
            <a:ext cx="5683242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Xác định cấu trúc website: Mạng nhên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33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581085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Ít</a:t>
            </a:r>
            <a:r>
              <a:rPr lang="en-US" sz="3200" dirty="0" smtClean="0">
                <a:latin typeface="Verdana" pitchFamily="34" charset="0"/>
              </a:rPr>
              <a:t>  </a:t>
            </a:r>
            <a:r>
              <a:rPr lang="en-US" sz="3200" dirty="0" err="1" smtClean="0">
                <a:latin typeface="Verdana" pitchFamily="34" charset="0"/>
              </a:rPr>
              <a:t>hạn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chế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việc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sử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dụng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thông</a:t>
            </a:r>
            <a:r>
              <a:rPr lang="en-US" sz="3200" dirty="0" smtClean="0">
                <a:latin typeface="Verdana" pitchFamily="34" charset="0"/>
              </a:rPr>
              <a:t> tin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Cấu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trúc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liên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kết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phức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tạp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nhưng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khai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triệt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để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ưu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điểm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hiperlink</a:t>
            </a:r>
            <a:endParaRPr lang="en-US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Cấu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trúc</a:t>
            </a:r>
            <a:r>
              <a:rPr lang="en-US" sz="3200" dirty="0" smtClean="0">
                <a:latin typeface="Verdana" pitchFamily="34" charset="0"/>
              </a:rPr>
              <a:t> phi </a:t>
            </a:r>
            <a:r>
              <a:rPr lang="en-US" sz="3200" dirty="0" err="1" smtClean="0">
                <a:latin typeface="Verdana" pitchFamily="34" charset="0"/>
              </a:rPr>
              <a:t>thực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tế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nhất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khó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hiểu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khó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dự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đoán</a:t>
            </a:r>
            <a:endParaRPr lang="en-US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Thích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hợp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với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những</a:t>
            </a:r>
            <a:r>
              <a:rPr lang="en-US" sz="3200" dirty="0" smtClean="0">
                <a:latin typeface="Verdana" pitchFamily="34" charset="0"/>
              </a:rPr>
              <a:t> site </a:t>
            </a:r>
            <a:r>
              <a:rPr lang="en-US" sz="3200" dirty="0" err="1" smtClean="0">
                <a:latin typeface="Verdana" pitchFamily="34" charset="0"/>
              </a:rPr>
              <a:t>nhỏ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dành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người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sử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dụng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nhiều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kinh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nghiệm</a:t>
            </a:r>
            <a:r>
              <a:rPr lang="en-US" sz="3200" dirty="0" smtClean="0">
                <a:latin typeface="Verdana" pitchFamily="34" charset="0"/>
              </a:rPr>
              <a:t>.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Xác định cấu trúc website: mạng nhện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34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" name="Picture 8" descr="Mang nh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547687"/>
            <a:ext cx="8267700" cy="5762625"/>
          </a:xfrm>
          <a:prstGeom prst="rect">
            <a:avLst/>
          </a:prstGeom>
        </p:spPr>
      </p:pic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Xác định cấu trúc website: mạng nhện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35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8" name="Picture 7" descr="TT mang n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23129"/>
            <a:ext cx="8534400" cy="4868071"/>
          </a:xfrm>
          <a:prstGeom prst="rect">
            <a:avLst/>
          </a:prstGeom>
        </p:spPr>
      </p:pic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Chú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trọng vào nguyên tắc thiết kế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36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-76200" y="475357"/>
            <a:ext cx="9144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Thiết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kế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hướng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người sử dụng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giúp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đỡ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định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hướng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rõ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ràng</a:t>
            </a:r>
            <a:endParaRPr lang="en-US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Không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trang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cuối</a:t>
            </a:r>
            <a:r>
              <a:rPr lang="en-US" sz="3200" dirty="0" smtClean="0">
                <a:latin typeface="Verdana" pitchFamily="34" charset="0"/>
              </a:rPr>
              <a:t> (dead-end)</a:t>
            </a:r>
            <a:endParaRPr lang="vi-VN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Băng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thông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và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yếu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tố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phần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cứng</a:t>
            </a:r>
            <a:endParaRPr lang="vi-VN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Đơn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giản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nhất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quán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và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tính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ổn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định</a:t>
            </a:r>
            <a:endParaRPr lang="vi-VN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Phản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hổi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đối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thoại</a:t>
            </a:r>
            <a:endParaRPr lang="en-US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Tính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tương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thích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trên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trình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duyệt</a:t>
            </a:r>
            <a:endParaRPr lang="vi-VN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smtClean="0">
                <a:latin typeface="Verdana" pitchFamily="34" charset="0"/>
              </a:rPr>
              <a:t>TK </a:t>
            </a:r>
            <a:r>
              <a:rPr lang="vi-VN" sz="3200" dirty="0" smtClean="0">
                <a:latin typeface="Verdana" pitchFamily="34" charset="0"/>
              </a:rPr>
              <a:t>cho quản trị và cập nhật nội dung</a:t>
            </a:r>
            <a:r>
              <a:rPr lang="en-US" sz="3200" dirty="0" smtClean="0">
                <a:latin typeface="Verdana" pitchFamily="34" charset="0"/>
              </a:rPr>
              <a:t>.</a:t>
            </a:r>
            <a:endParaRPr lang="vi-VN" sz="3200" dirty="0" smtClean="0"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Thiết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kế hướng người sử dụng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37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-76200" y="30480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Yêu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cầu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mức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độ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hoàn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hảo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của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giao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diện</a:t>
            </a:r>
            <a:endParaRPr lang="vi-VN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Cách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tốt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nhất</a:t>
            </a:r>
            <a:r>
              <a:rPr lang="en-US" sz="3200" dirty="0" smtClean="0">
                <a:latin typeface="Verdana" pitchFamily="34" charset="0"/>
              </a:rPr>
              <a:t>: </a:t>
            </a:r>
            <a:r>
              <a:rPr lang="en-US" sz="3200" dirty="0" err="1" smtClean="0">
                <a:latin typeface="Verdana" pitchFamily="34" charset="0"/>
              </a:rPr>
              <a:t>thử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nghiệm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và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nhận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phản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hồi</a:t>
            </a:r>
            <a:r>
              <a:rPr lang="en-US" sz="3200" dirty="0" smtClean="0">
                <a:latin typeface="Verdana" pitchFamily="34" charset="0"/>
              </a:rPr>
              <a:t>.</a:t>
            </a:r>
            <a:endParaRPr lang="vi-VN" sz="3200" dirty="0" smtClean="0">
              <a:latin typeface="Verdana" pitchFamily="34" charset="0"/>
            </a:endParaRPr>
          </a:p>
        </p:txBody>
      </p:sp>
      <p:pic>
        <p:nvPicPr>
          <p:cNvPr id="8" name="Picture 7" descr="Mov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883908"/>
            <a:ext cx="6934200" cy="4426834"/>
          </a:xfrm>
          <a:prstGeom prst="rect">
            <a:avLst/>
          </a:prstGeom>
        </p:spPr>
      </p:pic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Các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giúp đỡ định hướng rõ ràng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38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-76200" y="358676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Độc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giả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thể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trả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lời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câu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hỏi</a:t>
            </a:r>
            <a:endParaRPr lang="vi-VN" sz="3200" dirty="0" smtClean="0">
              <a:latin typeface="Verdana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 err="1" smtClean="0">
                <a:latin typeface="Verdana" pitchFamily="34" charset="0"/>
              </a:rPr>
              <a:t>Đang</a:t>
            </a:r>
            <a:r>
              <a:rPr lang="en-US" sz="3200" dirty="0" smtClean="0">
                <a:latin typeface="Verdana" pitchFamily="34" charset="0"/>
              </a:rPr>
              <a:t> ở </a:t>
            </a:r>
            <a:r>
              <a:rPr lang="en-US" sz="3200" dirty="0" err="1" smtClean="0">
                <a:latin typeface="Verdana" pitchFamily="34" charset="0"/>
              </a:rPr>
              <a:t>đâu</a:t>
            </a:r>
            <a:r>
              <a:rPr lang="en-US" sz="3200" dirty="0" smtClean="0">
                <a:latin typeface="Verdana" pitchFamily="34" charset="0"/>
              </a:rPr>
              <a:t> ?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 err="1" smtClean="0">
                <a:latin typeface="Verdana" pitchFamily="34" charset="0"/>
              </a:rPr>
              <a:t>Có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thể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làm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gì</a:t>
            </a:r>
            <a:r>
              <a:rPr lang="en-US" sz="3200" dirty="0" smtClean="0">
                <a:latin typeface="Verdana" pitchFamily="34" charset="0"/>
              </a:rPr>
              <a:t> ?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 err="1" smtClean="0">
                <a:latin typeface="Verdana" pitchFamily="34" charset="0"/>
              </a:rPr>
              <a:t>Có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thể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tiếp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đến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đâu</a:t>
            </a:r>
            <a:r>
              <a:rPr lang="en-US" sz="3200" dirty="0" smtClean="0">
                <a:latin typeface="Verdana" pitchFamily="34" charset="0"/>
              </a:rPr>
              <a:t> ?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Biểu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tượng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nhất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quán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dễ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hiểu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theo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chuẩn</a:t>
            </a:r>
            <a:r>
              <a:rPr lang="en-US" sz="3200" dirty="0" smtClean="0">
                <a:latin typeface="Verdana" pitchFamily="34" charset="0"/>
              </a:rPr>
              <a:t> qui </a:t>
            </a:r>
            <a:r>
              <a:rPr lang="en-US" sz="3200" dirty="0" err="1" smtClean="0">
                <a:latin typeface="Verdana" pitchFamily="34" charset="0"/>
              </a:rPr>
              <a:t>định</a:t>
            </a:r>
            <a:r>
              <a:rPr lang="en-US" sz="3200" dirty="0" smtClean="0">
                <a:latin typeface="Verdana" pitchFamily="34" charset="0"/>
              </a:rPr>
              <a:t>.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Các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giúp đỡ định hướng rõ ràng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39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2" name="Picture 1" descr="Screen Shot 2012-05-23 at 3.40.1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4500"/>
            <a:ext cx="9144000" cy="596584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2400" y="1295400"/>
            <a:ext cx="3962400" cy="4572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Không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có trang cuối (dead-end)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40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-76200" y="358676"/>
            <a:ext cx="9144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Mỗi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trang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ít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nhất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một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liên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kết</a:t>
            </a:r>
            <a:r>
              <a:rPr lang="en-US" sz="3200" dirty="0" smtClean="0">
                <a:latin typeface="Verdana" pitchFamily="34" charset="0"/>
              </a:rPr>
              <a:t>. </a:t>
            </a:r>
            <a:r>
              <a:rPr lang="en-US" sz="3200" dirty="0" err="1" smtClean="0">
                <a:latin typeface="Verdana" pitchFamily="34" charset="0"/>
              </a:rPr>
              <a:t>Luôn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khả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năng</a:t>
            </a:r>
            <a:r>
              <a:rPr lang="en-US" sz="3200" dirty="0" smtClean="0">
                <a:latin typeface="Verdana" pitchFamily="34" charset="0"/>
              </a:rPr>
              <a:t> quay </a:t>
            </a:r>
            <a:r>
              <a:rPr lang="en-US" sz="3200" dirty="0" err="1" smtClean="0">
                <a:latin typeface="Verdana" pitchFamily="34" charset="0"/>
              </a:rPr>
              <a:t>về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trang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chủ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trang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chủ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chốt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trên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trang</a:t>
            </a:r>
            <a:endParaRPr lang="vi-VN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Trang</a:t>
            </a:r>
            <a:r>
              <a:rPr lang="en-US" sz="3200" dirty="0" smtClean="0">
                <a:latin typeface="Verdana" pitchFamily="34" charset="0"/>
              </a:rPr>
              <a:t> dead-end: </a:t>
            </a:r>
            <a:r>
              <a:rPr lang="en-US" sz="3200" dirty="0" err="1" smtClean="0">
                <a:latin typeface="Verdana" pitchFamily="34" charset="0"/>
              </a:rPr>
              <a:t>sẽ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là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trang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không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thể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đến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với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trang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thành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viên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trong</a:t>
            </a:r>
            <a:r>
              <a:rPr lang="en-US" sz="3200" dirty="0" smtClean="0">
                <a:latin typeface="Verdana" pitchFamily="34" charset="0"/>
              </a:rPr>
              <a:t> website.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Nên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để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liên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kết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về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trang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chủ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tất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cả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trang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thành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viên</a:t>
            </a:r>
            <a:r>
              <a:rPr lang="en-US" sz="3200" dirty="0" smtClean="0">
                <a:latin typeface="Verdana" pitchFamily="34" charset="0"/>
              </a:rPr>
              <a:t>.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Băng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thông và ảnh hưởng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41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-76200" y="358676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Sự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kiên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nhẫn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của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độc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giả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giới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hạn</a:t>
            </a:r>
            <a:endParaRPr lang="vi-VN" sz="3200" dirty="0" smtClean="0">
              <a:latin typeface="Verdana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Tốc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độ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đôi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khi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là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yếu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tố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quyết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định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đến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việc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lựa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chọn</a:t>
            </a:r>
            <a:r>
              <a:rPr lang="en-US" sz="3200" dirty="0" smtClean="0">
                <a:latin typeface="Verdana" pitchFamily="34" charset="0"/>
              </a:rPr>
              <a:t> website.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Phân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biệt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giữa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thiết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kế</a:t>
            </a:r>
            <a:r>
              <a:rPr lang="en-US" sz="3200" dirty="0" smtClean="0">
                <a:latin typeface="Verdana" pitchFamily="34" charset="0"/>
              </a:rPr>
              <a:t> intranet </a:t>
            </a:r>
            <a:r>
              <a:rPr lang="en-US" sz="3200" dirty="0" err="1" smtClean="0">
                <a:latin typeface="Verdana" pitchFamily="34" charset="0"/>
              </a:rPr>
              <a:t>và</a:t>
            </a:r>
            <a:r>
              <a:rPr lang="en-US" sz="3200" dirty="0" smtClean="0">
                <a:latin typeface="Verdana" pitchFamily="34" charset="0"/>
              </a:rPr>
              <a:t> internet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Băng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thông và ảnh hưởng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42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5400000">
            <a:off x="1571826" y="104574"/>
            <a:ext cx="5847947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Thiết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kế trang web cho mạng Intranet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43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76200" y="457200"/>
            <a:ext cx="9144000" cy="5902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6075" indent="-282575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Một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số</a:t>
            </a:r>
            <a:r>
              <a:rPr lang="en-US" sz="3200" dirty="0" smtClean="0">
                <a:latin typeface="Verdana" pitchFamily="34" charset="0"/>
              </a:rPr>
              <a:t> site  </a:t>
            </a:r>
            <a:r>
              <a:rPr lang="en-US" sz="3200" dirty="0" err="1" smtClean="0">
                <a:latin typeface="Verdana" pitchFamily="34" charset="0"/>
              </a:rPr>
              <a:t>thiết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kế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riêng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tổ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chức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sử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dụng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mạng</a:t>
            </a:r>
            <a:r>
              <a:rPr lang="en-US" sz="3200" dirty="0" smtClean="0">
                <a:latin typeface="Verdana" pitchFamily="34" charset="0"/>
              </a:rPr>
              <a:t> LAN</a:t>
            </a:r>
          </a:p>
          <a:p>
            <a:pPr marL="346075" indent="-282575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Mục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tiêu: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 nâng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cao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thời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gian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truy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cập, 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dẫn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dắt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vào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sâu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trong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cấu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trúc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website 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 </a:t>
            </a:r>
            <a:r>
              <a:rPr lang="vi-VN" sz="3200" dirty="0" smtClean="0">
                <a:latin typeface="Verdana" pitchFamily="34" charset="0"/>
              </a:rPr>
              <a:t>đòi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hỏi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thông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tin phải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hấp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dẫn, có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giá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trị</a:t>
            </a:r>
          </a:p>
          <a:p>
            <a:pPr marL="346075" indent="-282575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Đừng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để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ý 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tới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băng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thông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và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tốc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độ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  </a:t>
            </a:r>
            <a:r>
              <a:rPr lang="vi-VN" sz="3200" dirty="0" smtClean="0">
                <a:latin typeface="Verdana" pitchFamily="34" charset="0"/>
              </a:rPr>
              <a:t>chú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trọng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đến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nội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dung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 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có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giá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trị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và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sự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hấp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dẫn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cho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website.</a:t>
            </a:r>
            <a:endParaRPr lang="en-US" sz="3200" dirty="0"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Tính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đơn giản và tính nhất quán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44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76200" y="457200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6075" indent="-282575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Tuỳ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vào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loại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ứng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dụng</a:t>
            </a:r>
            <a:endParaRPr lang="en-US" sz="3200" dirty="0" smtClean="0">
              <a:latin typeface="Verdana" pitchFamily="34" charset="0"/>
            </a:endParaRPr>
          </a:p>
          <a:p>
            <a:pPr marL="346075" indent="-282575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Cái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người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xem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cần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là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thời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gian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và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thông</a:t>
            </a:r>
            <a:r>
              <a:rPr lang="en-US" sz="3200" dirty="0" smtClean="0">
                <a:latin typeface="Verdana" pitchFamily="34" charset="0"/>
              </a:rPr>
              <a:t> tin </a:t>
            </a:r>
            <a:r>
              <a:rPr lang="en-US" sz="3200" dirty="0" err="1" smtClean="0">
                <a:latin typeface="Verdana" pitchFamily="34" charset="0"/>
              </a:rPr>
              <a:t>chính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xác</a:t>
            </a:r>
            <a:r>
              <a:rPr lang="en-US" sz="3200" smtClean="0">
                <a:latin typeface="Verdana" pitchFamily="34" charset="0"/>
              </a:rPr>
              <a:t>.</a:t>
            </a:r>
            <a:endParaRPr lang="vi-VN" sz="3200" dirty="0" smtClean="0">
              <a:latin typeface="Verdana" pitchFamily="34" charset="0"/>
            </a:endParaRPr>
          </a:p>
          <a:p>
            <a:pPr marL="346075" indent="-282575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Đừng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để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ý 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tới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băng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thông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và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tốc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độ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  </a:t>
            </a:r>
            <a:r>
              <a:rPr lang="vi-VN" sz="3200" dirty="0" smtClean="0">
                <a:latin typeface="Verdana" pitchFamily="34" charset="0"/>
              </a:rPr>
              <a:t>chú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trọng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đến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nội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dung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 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có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giá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trị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và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sự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hấp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dẫn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cho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website.</a:t>
            </a:r>
            <a:endParaRPr lang="en-US" sz="3200" dirty="0"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Tính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ổn định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45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76200" y="616327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Ổn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định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về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cấu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trúc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và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nộidung</a:t>
            </a:r>
          </a:p>
          <a:p>
            <a:pPr marL="4572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Cấu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trúc: </a:t>
            </a:r>
            <a:r>
              <a:rPr lang="en-US" sz="3200" dirty="0" smtClean="0">
                <a:latin typeface="Verdana" pitchFamily="34" charset="0"/>
              </a:rPr>
              <a:t> c</a:t>
            </a:r>
            <a:r>
              <a:rPr lang="vi-VN" sz="3200" dirty="0" smtClean="0">
                <a:latin typeface="Verdana" pitchFamily="34" charset="0"/>
              </a:rPr>
              <a:t>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thành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phần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được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đặt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đúng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chỗ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và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hoạt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động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nhịp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vi-VN" sz="3200" dirty="0" smtClean="0">
                <a:latin typeface="Verdana" pitchFamily="34" charset="0"/>
              </a:rPr>
              <a:t>nhàng.</a:t>
            </a:r>
          </a:p>
          <a:p>
            <a:pPr marL="4572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Nội</a:t>
            </a:r>
            <a:r>
              <a:rPr lang="en-US" sz="3200" dirty="0" smtClean="0">
                <a:latin typeface="Verdana" pitchFamily="34" charset="0"/>
              </a:rPr>
              <a:t> dung:  </a:t>
            </a:r>
          </a:p>
          <a:p>
            <a:pPr marL="914400" lvl="3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vi-VN" sz="2800" dirty="0" smtClean="0">
                <a:latin typeface="Verdana" pitchFamily="34" charset="0"/>
              </a:rPr>
              <a:t>Các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mối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liên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kết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luôn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đảm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bảo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có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đích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đến</a:t>
            </a:r>
            <a:r>
              <a:rPr lang="en-US" sz="2800" dirty="0" smtClean="0">
                <a:latin typeface="Verdana" pitchFamily="34" charset="0"/>
              </a:rPr>
              <a:t> </a:t>
            </a:r>
          </a:p>
          <a:p>
            <a:pPr marL="914400" lvl="3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Verdana" pitchFamily="34" charset="0"/>
              </a:rPr>
              <a:t>N</a:t>
            </a:r>
            <a:r>
              <a:rPr lang="vi-VN" sz="2800" dirty="0" smtClean="0">
                <a:latin typeface="Verdana" pitchFamily="34" charset="0"/>
              </a:rPr>
              <a:t>ội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dung </a:t>
            </a:r>
            <a:r>
              <a:rPr lang="en-US" sz="2800" dirty="0" smtClean="0">
                <a:latin typeface="Verdana" pitchFamily="34" charset="0"/>
              </a:rPr>
              <a:t>l</a:t>
            </a:r>
            <a:r>
              <a:rPr lang="vi-VN" sz="2800" dirty="0" smtClean="0">
                <a:latin typeface="Verdana" pitchFamily="34" charset="0"/>
              </a:rPr>
              <a:t>uôn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đảm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bảo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thích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hợp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và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phải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cập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nhật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cho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phù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hợp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với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ngữ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cảnh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tại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thời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điểm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đọc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giả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duyệt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Web.</a:t>
            </a:r>
            <a:endParaRPr lang="en-US" sz="2800" dirty="0"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Phản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hồi và đối thoại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46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76200" y="616327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Chuẩn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bị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trước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việc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trả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lời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đáp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ứng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đòi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hỏi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góp</a:t>
            </a:r>
            <a:r>
              <a:rPr lang="en-US" sz="3200" dirty="0" smtClean="0">
                <a:latin typeface="Verdana" pitchFamily="34" charset="0"/>
              </a:rPr>
              <a:t> ý </a:t>
            </a:r>
            <a:r>
              <a:rPr lang="en-US" sz="3200" dirty="0" err="1" smtClean="0">
                <a:latin typeface="Verdana" pitchFamily="34" charset="0"/>
              </a:rPr>
              <a:t>của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người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sử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dụng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một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nhanh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nhất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thể</a:t>
            </a:r>
            <a:r>
              <a:rPr lang="en-US" sz="3200" dirty="0" smtClean="0">
                <a:latin typeface="Verdana" pitchFamily="34" charset="0"/>
              </a:rPr>
              <a:t>.</a:t>
            </a:r>
            <a:endParaRPr lang="vi-VN" sz="3200" dirty="0" smtClean="0">
              <a:latin typeface="Verdana" pitchFamily="34" charset="0"/>
            </a:endParaRPr>
          </a:p>
          <a:p>
            <a:pPr marL="5715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Luôn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cung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cấp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địa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chỉ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liên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kết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với</a:t>
            </a:r>
            <a:r>
              <a:rPr lang="en-US" sz="3200" dirty="0" smtClean="0">
                <a:latin typeface="Verdana" pitchFamily="34" charset="0"/>
              </a:rPr>
              <a:t> “</a:t>
            </a:r>
            <a:r>
              <a:rPr lang="en-US" sz="3200" dirty="0" smtClean="0">
                <a:solidFill>
                  <a:srgbClr val="0070C0"/>
                </a:solidFill>
                <a:latin typeface="Verdana" pitchFamily="34" charset="0"/>
              </a:rPr>
              <a:t>Webmaster</a:t>
            </a:r>
            <a:r>
              <a:rPr lang="en-US" sz="3200" dirty="0" smtClean="0">
                <a:latin typeface="Verdana" pitchFamily="34" charset="0"/>
              </a:rPr>
              <a:t>”.</a:t>
            </a:r>
            <a:endParaRPr lang="vi-VN" sz="3200" dirty="0" smtClean="0">
              <a:latin typeface="Verdana" pitchFamily="34" charset="0"/>
            </a:endParaRPr>
          </a:p>
          <a:p>
            <a:pPr marL="5715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Lên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kế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hoạch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nhân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sự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phụ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trách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lâu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dài</a:t>
            </a:r>
            <a:r>
              <a:rPr lang="en-US" sz="3200" dirty="0" smtClean="0">
                <a:latin typeface="Verdana" pitchFamily="34" charset="0"/>
              </a:rPr>
              <a:t>.  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Tương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thích trên các trình duyệt khác nhau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47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76200" y="616327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Không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phải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mọi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trình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duyệt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đều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hiển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thị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trang</a:t>
            </a:r>
            <a:r>
              <a:rPr lang="en-US" sz="3200" dirty="0" smtClean="0">
                <a:latin typeface="Verdana" pitchFamily="34" charset="0"/>
              </a:rPr>
              <a:t> web </a:t>
            </a:r>
            <a:r>
              <a:rPr lang="en-US" sz="3200" dirty="0" err="1" smtClean="0">
                <a:latin typeface="Verdana" pitchFamily="34" charset="0"/>
              </a:rPr>
              <a:t>của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chúng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giống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nhau</a:t>
            </a:r>
            <a:endParaRPr lang="en-US" sz="3200" dirty="0" smtClean="0">
              <a:latin typeface="Verdana" pitchFamily="34" charset="0"/>
            </a:endParaRPr>
          </a:p>
          <a:p>
            <a:pPr marL="5715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Lưu</a:t>
            </a:r>
            <a:r>
              <a:rPr lang="en-US" sz="3200" dirty="0" smtClean="0">
                <a:latin typeface="Verdana" pitchFamily="34" charset="0"/>
              </a:rPr>
              <a:t> ý </a:t>
            </a:r>
            <a:r>
              <a:rPr lang="en-US" sz="3200" dirty="0" err="1" smtClean="0">
                <a:latin typeface="Verdana" pitchFamily="34" charset="0"/>
              </a:rPr>
              <a:t>khi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người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sử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dụng</a:t>
            </a:r>
            <a:r>
              <a:rPr lang="en-US" sz="3200" dirty="0" smtClean="0">
                <a:latin typeface="Verdana" pitchFamily="34" charset="0"/>
              </a:rPr>
              <a:t> web browser </a:t>
            </a:r>
            <a:r>
              <a:rPr lang="en-US" sz="3200" dirty="0" err="1" smtClean="0">
                <a:latin typeface="Verdana" pitchFamily="34" charset="0"/>
              </a:rPr>
              <a:t>không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khả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năng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hỗ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trợ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đồ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hoạ</a:t>
            </a:r>
            <a:r>
              <a:rPr lang="en-US" sz="3200" dirty="0" smtClean="0">
                <a:latin typeface="Verdana" pitchFamily="34" charset="0"/>
              </a:rPr>
              <a:t> (mobile, PDA,…)</a:t>
            </a:r>
          </a:p>
          <a:p>
            <a:pPr marL="5715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Sử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dụng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nhãn</a:t>
            </a:r>
            <a:r>
              <a:rPr lang="en-US" sz="3200" dirty="0" smtClean="0">
                <a:latin typeface="Verdana" pitchFamily="34" charset="0"/>
              </a:rPr>
              <a:t> (tag) ALT </a:t>
            </a:r>
            <a:r>
              <a:rPr lang="en-US" sz="3200" dirty="0" err="1" smtClean="0">
                <a:latin typeface="Verdana" pitchFamily="34" charset="0"/>
              </a:rPr>
              <a:t>trong</a:t>
            </a:r>
            <a:r>
              <a:rPr lang="en-US" sz="3200" dirty="0" smtClean="0">
                <a:latin typeface="Verdana" pitchFamily="34" charset="0"/>
              </a:rPr>
              <a:t> HTML </a:t>
            </a:r>
            <a:r>
              <a:rPr lang="en-US" sz="3200" dirty="0" err="1" smtClean="0">
                <a:latin typeface="Verdana" pitchFamily="34" charset="0"/>
              </a:rPr>
              <a:t>để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thay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thế</a:t>
            </a:r>
            <a:r>
              <a:rPr lang="en-US" sz="3200" dirty="0" smtClean="0">
                <a:latin typeface="Verdana" pitchFamily="34" charset="0"/>
              </a:rPr>
              <a:t>.  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-381000" y="-76200"/>
            <a:ext cx="9982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Thiết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kế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cho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việc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quản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trị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và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cập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nhật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nộidung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48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8" name="Picture 7" descr="TK Cap nhat tt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68600"/>
            <a:ext cx="8686800" cy="5054760"/>
          </a:xfrm>
          <a:prstGeom prst="rect">
            <a:avLst/>
          </a:prstGeom>
        </p:spPr>
      </p:pic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Đưa vào hoạt động – thời gian quản lý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49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76200" y="616327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smtClean="0">
                <a:latin typeface="Verdana" pitchFamily="34" charset="0"/>
              </a:rPr>
              <a:t>Website </a:t>
            </a:r>
            <a:r>
              <a:rPr lang="en-US" sz="3200" dirty="0" err="1" smtClean="0">
                <a:latin typeface="Verdana" pitchFamily="34" charset="0"/>
              </a:rPr>
              <a:t>cần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được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cập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nhật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thông</a:t>
            </a:r>
            <a:r>
              <a:rPr lang="en-US" sz="3200" dirty="0" smtClean="0">
                <a:latin typeface="Verdana" pitchFamily="34" charset="0"/>
              </a:rPr>
              <a:t> tin.</a:t>
            </a:r>
          </a:p>
          <a:p>
            <a:pPr marL="5715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Nếu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phần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nào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đó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đươcj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cập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nhật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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thêm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ký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hiệu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“New”</a:t>
            </a:r>
          </a:p>
          <a:p>
            <a:pPr marL="5715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Ghi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thời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gian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cập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nhật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,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số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người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truy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cập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,…</a:t>
            </a:r>
          </a:p>
          <a:p>
            <a:pPr marL="5715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Nếu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website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phức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tạp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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thêm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một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trang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“What new ?”</a:t>
            </a:r>
            <a:endParaRPr lang="en-US" sz="3200" dirty="0" smtClean="0"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Liên kết trang web, quảng cáo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50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76200" y="616327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Tạo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liên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kết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đến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thông</a:t>
            </a:r>
            <a:r>
              <a:rPr lang="en-US" sz="3200" dirty="0" smtClean="0">
                <a:latin typeface="Verdana" pitchFamily="34" charset="0"/>
              </a:rPr>
              <a:t> tin (</a:t>
            </a:r>
            <a:r>
              <a:rPr lang="en-US" sz="3200" dirty="0" err="1" smtClean="0">
                <a:latin typeface="Verdana" pitchFamily="34" charset="0"/>
              </a:rPr>
              <a:t>đối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tác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khách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hàng</a:t>
            </a:r>
            <a:r>
              <a:rPr lang="en-US" sz="3200" dirty="0" smtClean="0">
                <a:latin typeface="Verdana" pitchFamily="34" charset="0"/>
              </a:rPr>
              <a:t>,…) 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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tăng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uy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tín</a:t>
            </a:r>
            <a:endParaRPr lang="en-US" sz="3200" dirty="0" smtClean="0">
              <a:latin typeface="Verdana" pitchFamily="34" charset="0"/>
            </a:endParaRPr>
          </a:p>
          <a:p>
            <a:pPr marL="5715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Khi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đã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ổn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định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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chuyển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đổi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hình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thức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kinh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doanh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,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thu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phí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:</a:t>
            </a:r>
          </a:p>
          <a:p>
            <a:pPr marL="1028700" lvl="1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Thuê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đặt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logo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quảng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cáo</a:t>
            </a:r>
            <a:endParaRPr lang="en-US" sz="3200" dirty="0" smtClean="0">
              <a:latin typeface="Verdana" pitchFamily="34" charset="0"/>
              <a:sym typeface="Wingdings" pitchFamily="2" charset="2"/>
            </a:endParaRPr>
          </a:p>
          <a:p>
            <a:pPr marL="1028700" lvl="1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Thu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phí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thành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viên</a:t>
            </a:r>
            <a:endParaRPr lang="en-US" sz="3200" dirty="0" smtClean="0"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Phụ lục, nguồn thông tin, các trang giúp đỡ FAQ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51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76200" y="616327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Thông</a:t>
            </a:r>
            <a:r>
              <a:rPr lang="en-US" sz="3200" dirty="0" smtClean="0">
                <a:latin typeface="Verdana" pitchFamily="34" charset="0"/>
              </a:rPr>
              <a:t> tin </a:t>
            </a:r>
            <a:r>
              <a:rPr lang="en-US" sz="3200" dirty="0" err="1" smtClean="0">
                <a:latin typeface="Verdana" pitchFamily="34" charset="0"/>
              </a:rPr>
              <a:t>báo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thường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cô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đọng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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trên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web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có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thêm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các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phụ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lục</a:t>
            </a:r>
            <a:endParaRPr lang="en-US" sz="3200" dirty="0" smtClean="0">
              <a:latin typeface="Verdana" pitchFamily="34" charset="0"/>
            </a:endParaRPr>
          </a:p>
          <a:p>
            <a:pPr marL="5715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smtClean="0">
                <a:latin typeface="Verdana" pitchFamily="34" charset="0"/>
              </a:rPr>
              <a:t>FAQ (Frequently Answer Questions)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:</a:t>
            </a:r>
          </a:p>
          <a:p>
            <a:pPr marL="1028700" lvl="1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Lý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tưởng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cho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việc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thiết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kế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website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hỗ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trợ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.</a:t>
            </a:r>
          </a:p>
          <a:p>
            <a:pPr marL="1028700" lvl="1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Giảm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thiểu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nhân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sự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và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chi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phí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cho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việc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hỗ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trợ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,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tư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vấn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khách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200" dirty="0" err="1" smtClean="0">
                <a:latin typeface="Verdana" pitchFamily="34" charset="0"/>
                <a:sym typeface="Wingdings" pitchFamily="2" charset="2"/>
              </a:rPr>
              <a:t>hàng</a:t>
            </a:r>
            <a:r>
              <a:rPr lang="en-US" sz="3200" dirty="0" smtClean="0">
                <a:latin typeface="Verdana" pitchFamily="34" charset="0"/>
                <a:sym typeface="Wingdings" pitchFamily="2" charset="2"/>
              </a:rPr>
              <a:t>.</a:t>
            </a:r>
            <a:endParaRPr lang="en-US" sz="3200" dirty="0" smtClean="0"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Xây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dựng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website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dưới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góc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nhìn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ngộ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nghĩnh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52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2400" y="685800"/>
            <a:ext cx="8763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 smtClean="0">
                <a:solidFill>
                  <a:srgbClr val="0070C0"/>
                </a:solidFill>
                <a:latin typeface="Verdana" pitchFamily="34" charset="0"/>
              </a:rPr>
              <a:t>Nguồn</a:t>
            </a: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Verdana" pitchFamily="34" charset="0"/>
              </a:rPr>
              <a:t>từ</a:t>
            </a: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:</a:t>
            </a:r>
          </a:p>
          <a:p>
            <a:pPr marL="577850" indent="-457200"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vi-VN" sz="2800" dirty="0" smtClean="0">
                <a:latin typeface="Verdana" pitchFamily="34" charset="0"/>
              </a:rPr>
              <a:t>Trần Thị Bích Hạnh (2007), Quá trình xây dựng 1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vi-VN" sz="2800" dirty="0" smtClean="0">
                <a:latin typeface="Verdana" pitchFamily="34" charset="0"/>
              </a:rPr>
              <a:t>website dưới góc nhìn ngộ nghĩnh, </a:t>
            </a:r>
            <a:endParaRPr lang="en-US" sz="2800" dirty="0" smtClean="0">
              <a:latin typeface="Verdana" pitchFamily="34" charset="0"/>
            </a:endParaRPr>
          </a:p>
          <a:p>
            <a:pPr marL="577850" indent="-457200"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vi-VN" sz="2800" dirty="0" smtClean="0">
                <a:latin typeface="Verdana" pitchFamily="34" charset="0"/>
              </a:rPr>
              <a:t>Bài giảng môn</a:t>
            </a:r>
            <a:r>
              <a:rPr lang="en-US" sz="2800" dirty="0" smtClean="0">
                <a:latin typeface="Verdana" pitchFamily="34" charset="0"/>
              </a:rPr>
              <a:t>: </a:t>
            </a:r>
            <a:r>
              <a:rPr lang="vi-VN" sz="2800" dirty="0" smtClean="0">
                <a:latin typeface="Verdana" pitchFamily="34" charset="0"/>
              </a:rPr>
              <a:t>Lập trình và thiết kế web, Khoa CNTT, ĐH KHTN</a:t>
            </a:r>
          </a:p>
          <a:p>
            <a:pPr marL="577850" indent="-457200"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vi-VN" sz="2800" dirty="0" smtClean="0">
                <a:latin typeface="Verdana" pitchFamily="34" charset="0"/>
              </a:rPr>
              <a:t>http://pingmag.jp/2005/12/09/the-websitedevelopment-process/</a:t>
            </a:r>
            <a:endParaRPr lang="en-US" sz="2800" dirty="0"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753600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3962400"/>
            <a:ext cx="6553200" cy="1219200"/>
          </a:xfrm>
        </p:spPr>
        <p:txBody>
          <a:bodyPr lIns="91440" rIns="91440">
            <a:noAutofit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pPr>
              <a:lnSpc>
                <a:spcPct val="130000"/>
              </a:lnSpc>
            </a:pPr>
            <a:r>
              <a:rPr lang="en-US" sz="3200" dirty="0" err="1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Tổng</a:t>
            </a:r>
            <a:r>
              <a:rPr 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quan</a:t>
            </a:r>
            <a:r>
              <a:rPr 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về</a:t>
            </a:r>
            <a:r>
              <a:rPr 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xây</a:t>
            </a:r>
            <a:r>
              <a:rPr 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dựng</a:t>
            </a:r>
            <a:r>
              <a:rPr 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/>
            </a:r>
            <a:br>
              <a:rPr 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</a:br>
            <a:r>
              <a:rPr lang="en-US" sz="3200" dirty="0" err="1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ứng</a:t>
            </a:r>
            <a:r>
              <a:rPr 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</a:t>
            </a:r>
            <a:r>
              <a:rPr lang="en-US" sz="3200" dirty="0" err="1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dụng</a:t>
            </a:r>
            <a:r>
              <a:rPr 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web</a:t>
            </a: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-609600" y="2214562"/>
            <a:ext cx="10439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4400" b="1" dirty="0" smtClean="0">
                <a:solidFill>
                  <a:srgbClr val="00B050"/>
                </a:solidFill>
                <a:latin typeface="Verdana" pitchFamily="34" charset="0"/>
                <a:ea typeface="+mj-ea"/>
                <a:cs typeface="+mj-cs"/>
              </a:rPr>
              <a:t>Bài thực hành 1</a:t>
            </a:r>
            <a:endParaRPr kumimoji="0" lang="de-DE" sz="4400" b="1" i="0" u="none" strike="noStrike" kern="1200" cap="none" spc="0" normalizeH="0" baseline="0" noProof="0" dirty="0" smtClean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862931" y="2814637"/>
            <a:ext cx="6027737" cy="9048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Đại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Học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Sài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Gòn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–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Khoa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CNTT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Khảo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sát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các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website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54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440115"/>
            <a:ext cx="9144000" cy="6617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925" indent="-288925"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Khảo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sát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trang</a:t>
            </a:r>
            <a:r>
              <a:rPr lang="en-US" sz="3200" dirty="0" smtClean="0">
                <a:latin typeface="Verdana" pitchFamily="34" charset="0"/>
              </a:rPr>
              <a:t> Web </a:t>
            </a:r>
            <a:r>
              <a:rPr lang="en-US" sz="3200" dirty="0" err="1" smtClean="0">
                <a:latin typeface="Verdana" pitchFamily="34" charset="0"/>
              </a:rPr>
              <a:t>và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rút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ra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nhận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xét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về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thiết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kế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trang</a:t>
            </a:r>
            <a:r>
              <a:rPr lang="en-US" sz="3200" dirty="0" smtClean="0">
                <a:latin typeface="Verdana" pitchFamily="34" charset="0"/>
              </a:rPr>
              <a:t> Web</a:t>
            </a:r>
          </a:p>
          <a:p>
            <a:pPr marL="288925" indent="-288925"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Làm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quen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với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sử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dụng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một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số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công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cụ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tiện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ích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hỗ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trợ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trong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quá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trình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thiết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kế</a:t>
            </a:r>
            <a:r>
              <a:rPr lang="en-US" sz="3200" dirty="0" smtClean="0">
                <a:latin typeface="Verdana" pitchFamily="34" charset="0"/>
              </a:rPr>
              <a:t> Web</a:t>
            </a:r>
          </a:p>
          <a:p>
            <a:pPr lvl="2" algn="just">
              <a:lnSpc>
                <a:spcPct val="150000"/>
              </a:lnSpc>
              <a:spcBef>
                <a:spcPts val="1200"/>
              </a:spcBef>
            </a:pPr>
            <a:r>
              <a:rPr lang="en-US" sz="3200" dirty="0" smtClean="0">
                <a:latin typeface="Verdana" pitchFamily="34" charset="0"/>
              </a:rPr>
              <a:t>– </a:t>
            </a:r>
            <a:r>
              <a:rPr lang="en-US" sz="3200" dirty="0" err="1" smtClean="0">
                <a:latin typeface="Verdana" pitchFamily="34" charset="0"/>
              </a:rPr>
              <a:t>Frontpage</a:t>
            </a:r>
            <a:r>
              <a:rPr lang="en-US" sz="3200" dirty="0" smtClean="0">
                <a:latin typeface="Verdana" pitchFamily="34" charset="0"/>
              </a:rPr>
              <a:t>, Dreamweaver, …</a:t>
            </a:r>
          </a:p>
          <a:p>
            <a:pPr lvl="2" algn="just">
              <a:lnSpc>
                <a:spcPct val="150000"/>
              </a:lnSpc>
              <a:spcBef>
                <a:spcPts val="1200"/>
              </a:spcBef>
            </a:pPr>
            <a:r>
              <a:rPr lang="en-US" sz="3200" dirty="0" smtClean="0">
                <a:latin typeface="Verdana" pitchFamily="34" charset="0"/>
              </a:rPr>
              <a:t>- Photoshop, Flash, …</a:t>
            </a:r>
          </a:p>
          <a:p>
            <a:pPr lvl="2" algn="just">
              <a:lnSpc>
                <a:spcPct val="150000"/>
              </a:lnSpc>
              <a:spcBef>
                <a:spcPts val="1200"/>
              </a:spcBef>
            </a:pPr>
            <a:endParaRPr lang="vi-VN" sz="3200" dirty="0" smtClean="0"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Khảo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sát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các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website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55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5800"/>
            <a:ext cx="9144000" cy="6078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925" indent="-288925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dirty="0" err="1" smtClean="0">
                <a:latin typeface="Verdana" pitchFamily="34" charset="0"/>
              </a:rPr>
              <a:t>Một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số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trang</a:t>
            </a:r>
            <a:r>
              <a:rPr lang="en-US" sz="2800" dirty="0" smtClean="0">
                <a:latin typeface="Verdana" pitchFamily="34" charset="0"/>
              </a:rPr>
              <a:t> web </a:t>
            </a:r>
            <a:r>
              <a:rPr lang="en-US" sz="2800" dirty="0" err="1" smtClean="0">
                <a:latin typeface="Verdana" pitchFamily="34" charset="0"/>
              </a:rPr>
              <a:t>cung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cấp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hình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ảnh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làm</a:t>
            </a:r>
            <a:r>
              <a:rPr lang="en-US" sz="2800" dirty="0" smtClean="0">
                <a:latin typeface="Verdana" pitchFamily="34" charset="0"/>
              </a:rPr>
              <a:t> web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sz="2400" dirty="0" smtClean="0">
                <a:latin typeface="Verdana" pitchFamily="34" charset="0"/>
              </a:rPr>
              <a:t> – </a:t>
            </a:r>
            <a:r>
              <a:rPr lang="en-US" sz="2400" dirty="0" smtClean="0">
                <a:latin typeface="Verdana" pitchFamily="34" charset="0"/>
                <a:hlinkClick r:id="rId2"/>
              </a:rPr>
              <a:t>www.clipart.com</a:t>
            </a:r>
            <a:endParaRPr lang="en-US" sz="24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sz="2400" dirty="0" smtClean="0">
                <a:latin typeface="Verdana" pitchFamily="34" charset="0"/>
              </a:rPr>
              <a:t> – </a:t>
            </a:r>
            <a:r>
              <a:rPr lang="en-US" sz="2400" dirty="0" smtClean="0">
                <a:latin typeface="Verdana" pitchFamily="34" charset="0"/>
                <a:hlinkClick r:id="rId3"/>
              </a:rPr>
              <a:t>http://free-clip-art.com/</a:t>
            </a:r>
            <a:endParaRPr lang="en-US" sz="2400" dirty="0" smtClean="0">
              <a:latin typeface="Verdana" pitchFamily="34" charset="0"/>
            </a:endParaRPr>
          </a:p>
          <a:p>
            <a:pPr marL="288925" lvl="1" indent="-288925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Một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số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trang</a:t>
            </a:r>
            <a:r>
              <a:rPr lang="en-US" sz="2800" dirty="0" smtClean="0">
                <a:latin typeface="Verdana" pitchFamily="34" charset="0"/>
              </a:rPr>
              <a:t> web </a:t>
            </a:r>
            <a:r>
              <a:rPr lang="en-US" sz="2800" dirty="0" err="1" smtClean="0">
                <a:latin typeface="Verdana" pitchFamily="34" charset="0"/>
              </a:rPr>
              <a:t>cung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cấp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các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kiểu</a:t>
            </a:r>
            <a:r>
              <a:rPr lang="en-US" sz="2800" dirty="0" smtClean="0">
                <a:latin typeface="Verdana" pitchFamily="34" charset="0"/>
              </a:rPr>
              <a:t> font </a:t>
            </a:r>
            <a:r>
              <a:rPr lang="en-US" sz="2800" dirty="0" err="1" smtClean="0">
                <a:latin typeface="Verdana" pitchFamily="34" charset="0"/>
              </a:rPr>
              <a:t>chữ</a:t>
            </a:r>
            <a:endParaRPr lang="en-US" sz="28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sz="2400" dirty="0" smtClean="0">
                <a:latin typeface="Verdana" pitchFamily="34" charset="0"/>
              </a:rPr>
              <a:t>– </a:t>
            </a:r>
            <a:r>
              <a:rPr lang="en-US" sz="2400" dirty="0" smtClean="0">
                <a:latin typeface="Verdana" pitchFamily="34" charset="0"/>
                <a:hlinkClick r:id="rId4"/>
              </a:rPr>
              <a:t>http://www.1001freefonts.com/fontfiles/main.htm</a:t>
            </a:r>
            <a:endParaRPr lang="en-US" sz="2400" dirty="0" smtClean="0">
              <a:latin typeface="Verdana" pitchFamily="34" charset="0"/>
            </a:endParaRPr>
          </a:p>
          <a:p>
            <a:pPr marL="288925" indent="-288925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 err="1" smtClean="0">
                <a:latin typeface="Verdana" pitchFamily="34" charset="0"/>
              </a:rPr>
              <a:t>Một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số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trang</a:t>
            </a:r>
            <a:r>
              <a:rPr lang="en-US" sz="2800" dirty="0" smtClean="0">
                <a:latin typeface="Verdana" pitchFamily="34" charset="0"/>
              </a:rPr>
              <a:t> web </a:t>
            </a:r>
            <a:r>
              <a:rPr lang="en-US" sz="2800" dirty="0" err="1" smtClean="0">
                <a:latin typeface="Verdana" pitchFamily="34" charset="0"/>
              </a:rPr>
              <a:t>cung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cấp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mẫu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thiết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kế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giao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diện</a:t>
            </a:r>
            <a:r>
              <a:rPr lang="en-US" sz="2800" dirty="0" smtClean="0">
                <a:latin typeface="Verdana" pitchFamily="34" charset="0"/>
              </a:rPr>
              <a:t> web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sz="2400" dirty="0" smtClean="0">
                <a:latin typeface="Verdana" pitchFamily="34" charset="0"/>
              </a:rPr>
              <a:t>– </a:t>
            </a:r>
            <a:r>
              <a:rPr lang="en-US" sz="2400" dirty="0" smtClean="0">
                <a:latin typeface="Verdana" pitchFamily="34" charset="0"/>
                <a:hlinkClick r:id="rId5"/>
              </a:rPr>
              <a:t>http://www.freewebsitetemplates.com</a:t>
            </a:r>
            <a:endParaRPr lang="en-US" sz="24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endParaRPr lang="en-US" sz="2800" dirty="0"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Chuẩn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bị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chọ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n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chủ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đề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đồ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án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56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76200" y="1070789"/>
            <a:ext cx="914400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3600" dirty="0" smtClean="0">
                <a:latin typeface="Verdana" pitchFamily="34" charset="0"/>
              </a:rPr>
              <a:t>  </a:t>
            </a:r>
            <a:r>
              <a:rPr lang="en-US" sz="3600" dirty="0" err="1" smtClean="0">
                <a:latin typeface="Verdana" pitchFamily="34" charset="0"/>
              </a:rPr>
              <a:t>Hướng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dẫn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các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hướng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làm</a:t>
            </a:r>
            <a:r>
              <a:rPr lang="en-US" sz="3600" dirty="0" smtClean="0">
                <a:latin typeface="Verdana" pitchFamily="34" charset="0"/>
              </a:rPr>
              <a:t> website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3600" dirty="0" smtClean="0">
                <a:latin typeface="Verdana" pitchFamily="34" charset="0"/>
              </a:rPr>
              <a:t>  </a:t>
            </a:r>
            <a:r>
              <a:rPr lang="en-US" sz="3600" dirty="0" err="1" smtClean="0">
                <a:latin typeface="Verdana" pitchFamily="34" charset="0"/>
              </a:rPr>
              <a:t>Tham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khảo</a:t>
            </a:r>
            <a:r>
              <a:rPr lang="en-US" sz="3600" dirty="0" smtClean="0">
                <a:latin typeface="Verdana" pitchFamily="34" charset="0"/>
              </a:rPr>
              <a:t> </a:t>
            </a:r>
            <a:r>
              <a:rPr lang="en-US" sz="3600" dirty="0" err="1" smtClean="0">
                <a:latin typeface="Verdana" pitchFamily="34" charset="0"/>
              </a:rPr>
              <a:t>các</a:t>
            </a:r>
            <a:r>
              <a:rPr lang="en-US" sz="3600" dirty="0" smtClean="0">
                <a:latin typeface="Verdana" pitchFamily="34" charset="0"/>
              </a:rPr>
              <a:t> website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3600" dirty="0" smtClean="0">
                <a:latin typeface="Verdana" pitchFamily="34" charset="0"/>
                <a:sym typeface="Wingdings" pitchFamily="2" charset="2"/>
              </a:rPr>
              <a:t> </a:t>
            </a:r>
            <a:r>
              <a:rPr lang="en-US" sz="3600" dirty="0" err="1" smtClean="0">
                <a:latin typeface="Verdana" pitchFamily="34" charset="0"/>
                <a:sym typeface="Wingdings" pitchFamily="2" charset="2"/>
              </a:rPr>
              <a:t>chọn</a:t>
            </a:r>
            <a:r>
              <a:rPr lang="en-US" sz="3600" dirty="0" smtClean="0">
                <a:latin typeface="Verdana" pitchFamily="34" charset="0"/>
                <a:sym typeface="Wingdings" pitchFamily="2" charset="2"/>
              </a:rPr>
              <a:t> website </a:t>
            </a:r>
            <a:r>
              <a:rPr lang="en-US" sz="3600" dirty="0" err="1" smtClean="0">
                <a:latin typeface="Verdana" pitchFamily="34" charset="0"/>
                <a:sym typeface="Wingdings" pitchFamily="2" charset="2"/>
              </a:rPr>
              <a:t>cho</a:t>
            </a:r>
            <a:r>
              <a:rPr lang="en-US" sz="3600" dirty="0" smtClean="0">
                <a:latin typeface="Verdana" pitchFamily="34" charset="0"/>
                <a:sym typeface="Wingdings" pitchFamily="2" charset="2"/>
              </a:rPr>
              <a:t> </a:t>
            </a:r>
            <a:r>
              <a:rPr lang="en-US" sz="3600" dirty="0" err="1" smtClean="0">
                <a:latin typeface="Verdana" pitchFamily="34" charset="0"/>
                <a:sym typeface="Wingdings" pitchFamily="2" charset="2"/>
              </a:rPr>
              <a:t>nhóm</a:t>
            </a:r>
            <a:endParaRPr lang="en-US" sz="3600" dirty="0"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Tổng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kết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57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1000" y="533400"/>
            <a:ext cx="8610600" cy="5600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44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Các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bước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thiết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lập</a:t>
            </a:r>
            <a:r>
              <a:rPr lang="en-US" sz="4000" dirty="0" smtClean="0">
                <a:latin typeface="Verdana" pitchFamily="34" charset="0"/>
              </a:rPr>
              <a:t> website </a:t>
            </a:r>
          </a:p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4000" dirty="0" err="1" smtClean="0">
                <a:latin typeface="Verdana" pitchFamily="34" charset="0"/>
              </a:rPr>
              <a:t>Thiết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kế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lập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trình</a:t>
            </a:r>
            <a:r>
              <a:rPr lang="en-US" sz="4000" dirty="0" smtClean="0">
                <a:latin typeface="Verdana" pitchFamily="34" charset="0"/>
              </a:rPr>
              <a:t> website</a:t>
            </a:r>
          </a:p>
          <a:p>
            <a:pPr marL="1085850" lvl="1" indent="-4000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000" dirty="0" err="1" smtClean="0">
                <a:latin typeface="Verdana" pitchFamily="34" charset="0"/>
              </a:rPr>
              <a:t>Thiết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kế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giao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diện</a:t>
            </a:r>
            <a:endParaRPr lang="en-US" sz="4000" dirty="0" smtClean="0">
              <a:latin typeface="Verdana" pitchFamily="34" charset="0"/>
            </a:endParaRPr>
          </a:p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4000" dirty="0" err="1" smtClean="0">
                <a:latin typeface="Verdana" pitchFamily="34" charset="0"/>
              </a:rPr>
              <a:t>Xây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dựng</a:t>
            </a:r>
            <a:r>
              <a:rPr lang="en-US" sz="4000" dirty="0" smtClean="0">
                <a:latin typeface="Verdana" pitchFamily="34" charset="0"/>
              </a:rPr>
              <a:t> website </a:t>
            </a:r>
            <a:r>
              <a:rPr lang="en-US" sz="4000" dirty="0" err="1" smtClean="0">
                <a:latin typeface="Verdana" pitchFamily="34" charset="0"/>
              </a:rPr>
              <a:t>dưới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góc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nhìn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ngộ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nghĩnh</a:t>
            </a:r>
            <a:endParaRPr lang="en-US" sz="4000" dirty="0" smtClean="0">
              <a:latin typeface="Verdana" pitchFamily="34" charset="0"/>
            </a:endParaRPr>
          </a:p>
          <a:p>
            <a:pPr marL="628650" indent="-628650" algn="just">
              <a:lnSpc>
                <a:spcPct val="150000"/>
              </a:lnSpc>
              <a:buFont typeface="+mj-lt"/>
              <a:buAutoNum type="arabicPeriod"/>
            </a:pPr>
            <a:r>
              <a:rPr lang="en-US" sz="4000" dirty="0" err="1" smtClean="0">
                <a:latin typeface="Verdana" pitchFamily="34" charset="0"/>
              </a:rPr>
              <a:t>Bài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thực</a:t>
            </a:r>
            <a:r>
              <a:rPr lang="en-US" sz="4000" dirty="0" smtClean="0">
                <a:latin typeface="Verdana" pitchFamily="34" charset="0"/>
              </a:rPr>
              <a:t> </a:t>
            </a:r>
            <a:r>
              <a:rPr lang="en-US" sz="4000" dirty="0" err="1" smtClean="0">
                <a:latin typeface="Verdana" pitchFamily="34" charset="0"/>
              </a:rPr>
              <a:t>hành</a:t>
            </a:r>
            <a:r>
              <a:rPr lang="en-US" sz="4000" dirty="0" smtClean="0">
                <a:latin typeface="Verdana" pitchFamily="34" charset="0"/>
              </a:rPr>
              <a:t> 1</a:t>
            </a:r>
            <a:endParaRPr lang="en-US" sz="4400" dirty="0"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Yêu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cầu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đọc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sách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58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76200" y="685800"/>
            <a:ext cx="9448800" cy="64377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 indent="-1206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600" dirty="0" smtClean="0">
                <a:latin typeface="Verdana" pitchFamily="34" charset="0"/>
                <a:hlinkClick r:id="rId2"/>
              </a:rPr>
              <a:t>http://www.smashingmagazine.com/2008/01/31/10-principles-of-effective-web-design/</a:t>
            </a:r>
            <a:endParaRPr lang="en-US" sz="2600" dirty="0" smtClean="0">
              <a:latin typeface="Verdana" pitchFamily="34" charset="0"/>
            </a:endParaRPr>
          </a:p>
          <a:p>
            <a:pPr marL="120650" indent="-1206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600" dirty="0" smtClean="0">
                <a:latin typeface="Verdana" pitchFamily="34" charset="0"/>
                <a:hlinkClick r:id="rId3"/>
              </a:rPr>
              <a:t>http://www.sitepoint.com/article/principles-beautifulweb-design/</a:t>
            </a:r>
            <a:endParaRPr lang="en-US" sz="2600" dirty="0" smtClean="0">
              <a:latin typeface="Verdana" pitchFamily="34" charset="0"/>
            </a:endParaRPr>
          </a:p>
          <a:p>
            <a:pPr marL="120650" indent="-1206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600" dirty="0" smtClean="0">
                <a:latin typeface="Verdana" pitchFamily="34" charset="0"/>
                <a:hlinkClick r:id="rId4"/>
              </a:rPr>
              <a:t>http://www.december.com/web/develop/processes.html</a:t>
            </a:r>
            <a:endParaRPr lang="en-US" sz="2600" dirty="0" smtClean="0">
              <a:latin typeface="Verdana" pitchFamily="34" charset="0"/>
              <a:hlinkClick r:id="rId5"/>
            </a:endParaRPr>
          </a:p>
          <a:p>
            <a:pPr marL="120650" indent="-1206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600" dirty="0" smtClean="0">
                <a:latin typeface="Verdana" pitchFamily="34" charset="0"/>
                <a:hlinkClick r:id="rId5"/>
              </a:rPr>
              <a:t>http://webstyleguide.com/process/index.html</a:t>
            </a:r>
            <a:endParaRPr lang="en-US" sz="2600" dirty="0" smtClean="0">
              <a:latin typeface="Verdana" pitchFamily="34" charset="0"/>
              <a:hlinkClick r:id="rId2"/>
            </a:endParaRPr>
          </a:p>
          <a:p>
            <a:pPr marL="120650" indent="-1206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600" dirty="0" smtClean="0">
                <a:latin typeface="Verdana" pitchFamily="34" charset="0"/>
                <a:hlinkClick r:id="rId6"/>
              </a:rPr>
              <a:t>http://www.draydesign.com/website_development_process.htm</a:t>
            </a:r>
            <a:endParaRPr lang="en-US" sz="2600" dirty="0" smtClean="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endParaRPr lang="en-US" sz="2800" dirty="0"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Yêu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cầu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đọc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sách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59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5800"/>
            <a:ext cx="9144000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 indent="-1206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sz="3200" dirty="0" smtClean="0">
                <a:latin typeface="Verdana" pitchFamily="34" charset="0"/>
              </a:rPr>
              <a:t>Lisa </a:t>
            </a:r>
            <a:r>
              <a:rPr lang="en-US" sz="3200" dirty="0" err="1" smtClean="0">
                <a:latin typeface="Verdana" pitchFamily="34" charset="0"/>
              </a:rPr>
              <a:t>Lopuck</a:t>
            </a:r>
            <a:r>
              <a:rPr lang="en-US" sz="3200" dirty="0" smtClean="0">
                <a:latin typeface="Verdana" pitchFamily="34" charset="0"/>
              </a:rPr>
              <a:t>(2006), Web Design For Dummies (2</a:t>
            </a:r>
            <a:r>
              <a:rPr lang="en-US" sz="3200" baseline="30000" dirty="0" smtClean="0">
                <a:latin typeface="Verdana" pitchFamily="34" charset="0"/>
              </a:rPr>
              <a:t>nd</a:t>
            </a:r>
            <a:r>
              <a:rPr lang="en-US" sz="3200" dirty="0" smtClean="0">
                <a:latin typeface="Verdana" pitchFamily="34" charset="0"/>
              </a:rPr>
              <a:t> Edition), Wiley Publishing - Chapter 17, 18</a:t>
            </a:r>
          </a:p>
          <a:p>
            <a:pPr marL="120650" indent="-12065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nl-NL" sz="3200" dirty="0" smtClean="0">
                <a:latin typeface="Verdana" pitchFamily="34" charset="0"/>
              </a:rPr>
              <a:t>GOOGLE, GOOGLE, GOOGLE , GOOGLE , GOOGLE</a:t>
            </a:r>
            <a:endParaRPr lang="en-US" sz="3200" dirty="0" smtClean="0">
              <a:latin typeface="Verdana" pitchFamily="34" charset="0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endParaRPr lang="en-US" sz="3200" dirty="0"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3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Tổng quan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về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xây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dựng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ứng dụng web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753600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52400" y="3057525"/>
            <a:ext cx="9982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66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Thank you !</a:t>
            </a:r>
            <a:endParaRPr kumimoji="0" lang="de-DE" sz="6600" b="1" i="0" u="none" strike="noStrike" kern="1200" cap="none" spc="0" normalizeH="0" baseline="0" noProof="0" dirty="0" smtClean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3582</TotalTime>
  <Words>2591</Words>
  <Application>Microsoft Office PowerPoint</Application>
  <PresentationFormat>On-screen Show (4:3)</PresentationFormat>
  <Paragraphs>383</Paragraphs>
  <Slides>60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Sai Gon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LoanPhan</dc:creator>
  <cp:lastModifiedBy>admin</cp:lastModifiedBy>
  <cp:revision>177</cp:revision>
  <cp:lastPrinted>2012-05-23T08:42:48Z</cp:lastPrinted>
  <dcterms:created xsi:type="dcterms:W3CDTF">2009-01-24T03:00:41Z</dcterms:created>
  <dcterms:modified xsi:type="dcterms:W3CDTF">2018-08-10T09:32:26Z</dcterms:modified>
</cp:coreProperties>
</file>