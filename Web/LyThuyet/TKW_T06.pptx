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5"/>
  </p:notesMasterIdLst>
  <p:handoutMasterIdLst>
    <p:handoutMasterId r:id="rId46"/>
  </p:handoutMasterIdLst>
  <p:sldIdLst>
    <p:sldId id="256" r:id="rId2"/>
    <p:sldId id="261" r:id="rId3"/>
    <p:sldId id="258" r:id="rId4"/>
    <p:sldId id="285" r:id="rId5"/>
    <p:sldId id="284" r:id="rId6"/>
    <p:sldId id="286" r:id="rId7"/>
    <p:sldId id="309" r:id="rId8"/>
    <p:sldId id="310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5" r:id="rId27"/>
    <p:sldId id="306" r:id="rId28"/>
    <p:sldId id="307" r:id="rId29"/>
    <p:sldId id="308" r:id="rId30"/>
    <p:sldId id="304" r:id="rId31"/>
    <p:sldId id="260" r:id="rId32"/>
    <p:sldId id="283" r:id="rId33"/>
    <p:sldId id="311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257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7" autoAdjust="0"/>
    <p:restoredTop sz="77994" autoAdjust="0"/>
  </p:normalViewPr>
  <p:slideViewPr>
    <p:cSldViewPr>
      <p:cViewPr varScale="1">
        <p:scale>
          <a:sx n="57" d="100"/>
          <a:sy n="57" d="100"/>
        </p:scale>
        <p:origin x="-174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238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5C2F9-B74E-4D1B-AFEF-D426918F8F51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C6EA2-C8DC-4A42-8C4D-4A10FBE231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95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19546-7CE1-4A60-9279-BCADC0161DB1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CFCD5-CD5E-46DE-A74D-45535A5495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8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•"/>
            </a:pPr>
            <a:r>
              <a:rPr lang="en-US" dirty="0" smtClean="0"/>
              <a:t>The &lt;span&gt; tag is used to group inline-elements in a document.</a:t>
            </a:r>
          </a:p>
          <a:p>
            <a:pPr marL="171450" indent="-171450">
              <a:buFontTx/>
              <a:buChar char="•"/>
            </a:pPr>
            <a:r>
              <a:rPr lang="en-US" dirty="0" smtClean="0"/>
              <a:t>The &lt;div&gt; tag is used to group block-elements to format them with styles.</a:t>
            </a:r>
          </a:p>
          <a:p>
            <a:pPr marL="171450" indent="-171450">
              <a:buFontTx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FCD5-CD5E-46DE-A74D-45535A54953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63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FCD5-CD5E-46DE-A74D-45535A54953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36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5188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5C27A-DE32-4507-866E-64E99F7B5EFD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3"/>
          <p:cNvSpPr txBox="1">
            <a:spLocks noChangeArrowheads="1"/>
          </p:cNvSpPr>
          <p:nvPr userDrawn="1"/>
        </p:nvSpPr>
        <p:spPr>
          <a:xfrm>
            <a:off x="-47625" y="4191000"/>
            <a:ext cx="67056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algn="ctr">
              <a:lnSpc>
                <a:spcPct val="130000"/>
              </a:lnSpc>
              <a:buClr>
                <a:srgbClr val="0D0D0D"/>
              </a:buClr>
              <a:buFont typeface="Wingding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dirty="0" smtClean="0">
                <a:solidFill>
                  <a:srgbClr val="0D0D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  <a:ea typeface="DejaVu Sans" charset="0"/>
                <a:cs typeface="DejaVu Sans" charset="0"/>
              </a:rPr>
              <a:t>CSS </a:t>
            </a:r>
            <a:r>
              <a:rPr lang="en-US" sz="3200" b="1" kern="1200" dirty="0" smtClean="0">
                <a:solidFill>
                  <a:srgbClr val="0D0D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  <a:ea typeface="DejaVu Sans" charset="0"/>
                <a:cs typeface="DejaVu Sans" charset="0"/>
              </a:rPr>
              <a:t>- Cascading Style Sheet</a:t>
            </a:r>
            <a:endParaRPr lang="en-US" sz="3200" b="1" kern="1200" dirty="0">
              <a:solidFill>
                <a:srgbClr val="0D0D0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 userDrawn="1"/>
        </p:nvSpPr>
        <p:spPr bwMode="auto">
          <a:xfrm>
            <a:off x="-609600" y="1676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Phát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triển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ứng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dụng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web 1</a:t>
            </a:r>
          </a:p>
        </p:txBody>
      </p:sp>
      <p:sp>
        <p:nvSpPr>
          <p:cNvPr id="12" name="Rectangle 3"/>
          <p:cNvSpPr txBox="1">
            <a:spLocks noChangeArrowheads="1"/>
          </p:cNvSpPr>
          <p:nvPr userDrawn="1"/>
        </p:nvSpPr>
        <p:spPr>
          <a:xfrm>
            <a:off x="1828800" y="2362200"/>
            <a:ext cx="6027737" cy="904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Học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Sài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Gòn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–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Khoa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CNTT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https://gocbao.com/wp-content/uploads/2018/01/Chon-loc-101-hinh-nen-powerpoint-dep-cung-background-full-hd-17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5C27A-DE32-4507-866E-64E99F7B5EFD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 userDrawn="1"/>
        </p:nvSpPr>
        <p:spPr bwMode="auto">
          <a:xfrm>
            <a:off x="-635000" y="152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400" b="1" dirty="0" smtClean="0">
                <a:solidFill>
                  <a:srgbClr val="FF0000"/>
                </a:solidFill>
                <a:latin typeface="Verdana" pitchFamily="34" charset="0"/>
                <a:ea typeface="+mj-ea"/>
                <a:cs typeface="+mj-cs"/>
              </a:rPr>
              <a:t>Bài</a:t>
            </a:r>
            <a:r>
              <a:rPr lang="de-DE" sz="4400" b="1" baseline="0" dirty="0" smtClean="0">
                <a:solidFill>
                  <a:srgbClr val="FF0000"/>
                </a:solidFill>
                <a:latin typeface="Verdana" pitchFamily="34" charset="0"/>
                <a:ea typeface="+mj-ea"/>
                <a:cs typeface="+mj-cs"/>
              </a:rPr>
              <a:t> thực hành</a:t>
            </a:r>
            <a:endParaRPr kumimoji="0" lang="de-DE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 userDrawn="1"/>
        </p:nvSpPr>
        <p:spPr>
          <a:xfrm>
            <a:off x="1558131" y="600075"/>
            <a:ext cx="6027737" cy="619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Học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Sài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Gòn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–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Khoa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CNTT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 userDrawn="1"/>
        </p:nvSpPr>
        <p:spPr>
          <a:xfrm>
            <a:off x="1371600" y="5486400"/>
            <a:ext cx="67056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algn="ctr">
              <a:lnSpc>
                <a:spcPct val="130000"/>
              </a:lnSpc>
              <a:buClr>
                <a:srgbClr val="0D0D0D"/>
              </a:buClr>
              <a:buFont typeface="Wingding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dirty="0" smtClean="0">
                <a:solidFill>
                  <a:srgbClr val="0D0D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  <a:ea typeface="DejaVu Sans" charset="0"/>
                <a:cs typeface="DejaVu Sans" charset="0"/>
              </a:rPr>
              <a:t>CSS </a:t>
            </a:r>
            <a:r>
              <a:rPr lang="en-US" sz="3200" b="1" kern="1200" dirty="0" smtClean="0">
                <a:solidFill>
                  <a:srgbClr val="0D0D0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  <a:ea typeface="DejaVu Sans" charset="0"/>
                <a:cs typeface="DejaVu Sans" charset="0"/>
              </a:rPr>
              <a:t>- Cascading Style Sheet</a:t>
            </a:r>
            <a:endParaRPr lang="en-US" sz="3200" b="1" kern="1200" dirty="0">
              <a:solidFill>
                <a:srgbClr val="0D0D0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2" charset="0"/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5188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5C27A-DE32-4507-866E-64E99F7B5EFD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 userDrawn="1"/>
        </p:nvSpPr>
        <p:spPr bwMode="auto">
          <a:xfrm>
            <a:off x="-266700" y="2466974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nside.jpg"/>
          <p:cNvPicPr>
            <a:picLocks noChangeAspect="1"/>
          </p:cNvPicPr>
          <p:nvPr userDrawn="1"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5C27A-DE32-4507-866E-64E99F7B5EFD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5A1C1-EECA-496F-9F6E-6B49F2FE1F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6 – CSS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Footer Placeholder 3"/>
          <p:cNvSpPr txBox="1">
            <a:spLocks/>
          </p:cNvSpPr>
          <p:nvPr/>
        </p:nvSpPr>
        <p:spPr>
          <a:xfrm>
            <a:off x="8534400" y="6400800"/>
            <a:ext cx="762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88E9E-3654-4A97-8EA6-E567F42FEF58}" type="slidenum">
              <a:rPr kumimoji="0" lang="de-DE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4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ebdesign.about.com/library/glossary/bldef-ex.htm" TargetMode="External"/><Relationship Id="rId2" Type="http://schemas.openxmlformats.org/officeDocument/2006/relationships/hyperlink" Target="http://webdesign.about.com/library/glossary/bldef-em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ufoo.com/gallery/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g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dung buổi học trước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57200" y="609600"/>
            <a:ext cx="8382000" cy="3749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Khái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niệm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và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mục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đích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Form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đối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tượng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Form Fields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Phương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thức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GET/POST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Tag Marquee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dung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508049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Giới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thiệu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CSS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Định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nghĩa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Style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và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đơn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vị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tính</a:t>
            </a:r>
            <a:endParaRPr lang="en-US" sz="3600" dirty="0" smtClean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Phân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loại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CSS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Phạm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vi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áp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dụng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CSS (selector)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Một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số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tag HTML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riêng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CSS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Thực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hành</a:t>
            </a:r>
            <a:endParaRPr lang="en-US" sz="36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2235200" y="220133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Giới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thiệu CSS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533400"/>
            <a:ext cx="9144000" cy="483651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CSS = Cascading Style Sheet</a:t>
            </a:r>
            <a:endParaRPr lang="en-US" sz="24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Dùng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định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dạng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các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thành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phần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trong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trang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web</a:t>
            </a:r>
            <a:endParaRPr lang="en-US" sz="24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Sử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tương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tự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như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định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dạng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template</a:t>
            </a:r>
          </a:p>
          <a:p>
            <a:pPr marL="239713" indent="-23971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Thống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nhất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cách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thể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hiện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và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tái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sử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cho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nhiều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webpage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trong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website.</a:t>
            </a:r>
          </a:p>
          <a:p>
            <a:pPr marL="239713" indent="-23971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Có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thể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thay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đổi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thuộc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tính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từng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trang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hoặc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cả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site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nhanh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chóng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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linh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hoạt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thay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đổi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cách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thể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hiện</a:t>
            </a: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.</a:t>
            </a:r>
            <a:endParaRPr lang="en-US" sz="24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marL="239713" indent="-239713">
              <a:lnSpc>
                <a:spcPct val="150000"/>
              </a:lnSpc>
              <a:spcBef>
                <a:spcPts val="600"/>
              </a:spcBef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– </a:t>
            </a:r>
            <a:r>
              <a:rPr lang="en-US" sz="24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Định nghĩa Style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762000"/>
          <a:ext cx="8763000" cy="4573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/>
                <a:gridCol w="4343400"/>
              </a:tblGrid>
              <a:tr h="367643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Kiểu</a:t>
                      </a:r>
                      <a:r>
                        <a:rPr lang="en-US" b="1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1</a:t>
                      </a:r>
                      <a:endParaRPr lang="en-US" b="1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Kiểu</a:t>
                      </a:r>
                      <a:r>
                        <a:rPr lang="en-US" b="1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2</a:t>
                      </a:r>
                      <a:endParaRPr lang="en-US" b="1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332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&lt;tag style=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“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property1:</a:t>
                      </a:r>
                      <a:r>
                        <a:rPr lang="en-US" sz="1800" b="0" kern="1200" baseline="0" dirty="0" smtClean="0">
                          <a:solidFill>
                            <a:schemeClr val="tx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value1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property2:</a:t>
                      </a:r>
                      <a:r>
                        <a:rPr lang="en-US" sz="1800" b="0" kern="1200" baseline="0" dirty="0" smtClean="0">
                          <a:solidFill>
                            <a:schemeClr val="tx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value2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………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1800" b="0" kern="1200" baseline="0" dirty="0" err="1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propertyN:</a:t>
                      </a:r>
                      <a:r>
                        <a:rPr lang="en-US" sz="1800" b="0" kern="1200" baseline="0" dirty="0" err="1" smtClean="0">
                          <a:solidFill>
                            <a:schemeClr val="tx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valueN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;</a:t>
                      </a: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”&gt;…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&lt;/tag&gt;</a:t>
                      </a:r>
                      <a:endParaRPr lang="en-US" b="0" dirty="0" smtClean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SelectorName</a:t>
                      </a: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property1:</a:t>
                      </a: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value1;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property2:</a:t>
                      </a: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value2;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………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1800" b="0" kern="1200" baseline="0" dirty="0" err="1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propertyN:</a:t>
                      </a:r>
                      <a:r>
                        <a:rPr lang="en-US" sz="1800" b="0" kern="1200" baseline="0" dirty="0" err="1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valueN</a:t>
                      </a: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&lt;tag class = 			“</a:t>
                      </a:r>
                      <a:r>
                        <a:rPr lang="en-US" sz="1800" b="0" kern="1200" baseline="0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SelectorName</a:t>
                      </a: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”&gt;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	………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&lt;/tag&gt;</a:t>
                      </a:r>
                      <a:endParaRPr lang="en-US" sz="1600" b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Định nghĩa Style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762000"/>
          <a:ext cx="8763000" cy="3034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/>
                <a:gridCol w="4343400"/>
              </a:tblGrid>
              <a:tr h="303414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Vd</a:t>
                      </a:r>
                      <a:r>
                        <a:rPr lang="en-US" b="1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b="1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kiểu</a:t>
                      </a:r>
                      <a:r>
                        <a:rPr lang="en-US" b="1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1</a:t>
                      </a:r>
                      <a:endParaRPr lang="en-US" b="1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Vd</a:t>
                      </a:r>
                      <a:r>
                        <a:rPr lang="en-US" b="1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b="1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kiểu</a:t>
                      </a:r>
                      <a:r>
                        <a:rPr lang="en-US" b="1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2</a:t>
                      </a:r>
                      <a:endParaRPr lang="en-US" b="1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683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&lt;h1 style=“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b="0" kern="12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color :</a:t>
                      </a: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blue;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b="0" kern="12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font-family 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: Arial;”</a:t>
                      </a: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 SGU</a:t>
                      </a:r>
                      <a:endParaRPr lang="en-US" sz="1800" b="0" kern="1200" baseline="0" dirty="0" smtClean="0">
                        <a:solidFill>
                          <a:schemeClr val="dk1"/>
                        </a:solidFill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&lt;/h1&gt;</a:t>
                      </a:r>
                      <a:endParaRPr lang="en-US" b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.TieuDe1 {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b="0" kern="12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color: 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red;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b="0" kern="1200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font-family: </a:t>
                      </a:r>
                      <a:r>
                        <a:rPr lang="en-US" sz="1800" b="0" kern="1200" baseline="0" dirty="0" smtClean="0">
                          <a:solidFill>
                            <a:srgbClr val="0070C0"/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Verdana, sans-serif; </a:t>
                      </a: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kern="1200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itchFamily="34" charset="0"/>
                          <a:ea typeface="+mn-ea"/>
                          <a:cs typeface="+mn-cs"/>
                        </a:rPr>
                        <a:t>&lt;h1 class=“TieuDe1”&gt; SGU &lt;/h1&gt;</a:t>
                      </a:r>
                      <a:endParaRPr lang="en-US" sz="1600" b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3957598"/>
          <a:ext cx="8763000" cy="237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5715000"/>
              </a:tblGrid>
              <a:tr h="354352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Ghi</a:t>
                      </a:r>
                      <a:r>
                        <a:rPr lang="en-US" b="1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b="1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chú</a:t>
                      </a:r>
                      <a:endParaRPr lang="en-US" b="1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Ví</a:t>
                      </a:r>
                      <a:r>
                        <a:rPr lang="en-US" b="1" baseline="0" dirty="0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b="1" baseline="0" dirty="0" err="1" smtClean="0">
                          <a:solidFill>
                            <a:srgbClr val="002060"/>
                          </a:solidFill>
                          <a:latin typeface="Verdana" pitchFamily="34" charset="0"/>
                        </a:rPr>
                        <a:t>dụ</a:t>
                      </a:r>
                      <a:endParaRPr lang="en-US" b="1" dirty="0">
                        <a:solidFill>
                          <a:srgbClr val="002060"/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0126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 smtClean="0">
                          <a:latin typeface="Verdana" pitchFamily="34" charset="0"/>
                        </a:rPr>
                        <a:t>Giống</a:t>
                      </a:r>
                      <a:r>
                        <a:rPr lang="en-US" dirty="0" smtClean="0">
                          <a:latin typeface="Verdana" pitchFamily="34" charset="0"/>
                        </a:rPr>
                        <a:t> </a:t>
                      </a:r>
                      <a:r>
                        <a:rPr lang="en-US" dirty="0" err="1" smtClean="0">
                          <a:latin typeface="Verdana" pitchFamily="34" charset="0"/>
                        </a:rPr>
                        <a:t>ghi</a:t>
                      </a:r>
                      <a:r>
                        <a:rPr lang="en-US" dirty="0" smtClean="0">
                          <a:latin typeface="Verdana" pitchFamily="34" charset="0"/>
                        </a:rPr>
                        <a:t> </a:t>
                      </a:r>
                      <a:r>
                        <a:rPr lang="en-US" dirty="0" err="1" smtClean="0">
                          <a:latin typeface="Verdana" pitchFamily="34" charset="0"/>
                        </a:rPr>
                        <a:t>chú</a:t>
                      </a:r>
                      <a:r>
                        <a:rPr lang="en-US" dirty="0" smtClean="0">
                          <a:latin typeface="Verdana" pitchFamily="34" charset="0"/>
                        </a:rPr>
                        <a:t> </a:t>
                      </a:r>
                      <a:r>
                        <a:rPr lang="en-US" dirty="0" err="1" smtClean="0">
                          <a:latin typeface="Verdana" pitchFamily="34" charset="0"/>
                        </a:rPr>
                        <a:t>trongC</a:t>
                      </a:r>
                      <a:r>
                        <a:rPr lang="en-US" dirty="0" smtClean="0">
                          <a:latin typeface="Verdana" pitchFamily="34" charset="0"/>
                        </a:rPr>
                        <a:t>++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 smtClean="0">
                          <a:latin typeface="Verdana" pitchFamily="34" charset="0"/>
                        </a:rPr>
                        <a:t>Sử</a:t>
                      </a:r>
                      <a:r>
                        <a:rPr lang="en-US" dirty="0" smtClean="0">
                          <a:latin typeface="Verdana" pitchFamily="34" charset="0"/>
                        </a:rPr>
                        <a:t> dung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smtClean="0">
                          <a:solidFill>
                            <a:srgbClr val="0070C0"/>
                          </a:solidFill>
                          <a:latin typeface="Verdana" pitchFamily="34" charset="0"/>
                        </a:rPr>
                        <a:t>	/* </a:t>
                      </a:r>
                      <a:r>
                        <a:rPr lang="en-US" dirty="0" err="1" smtClean="0">
                          <a:solidFill>
                            <a:srgbClr val="0070C0"/>
                          </a:solidFill>
                          <a:latin typeface="Verdana" pitchFamily="34" charset="0"/>
                        </a:rPr>
                        <a:t>Ghi</a:t>
                      </a:r>
                      <a:r>
                        <a:rPr lang="en-US" dirty="0" smtClean="0">
                          <a:solidFill>
                            <a:srgbClr val="0070C0"/>
                          </a:solidFill>
                          <a:latin typeface="Verdana" pitchFamily="34" charset="0"/>
                        </a:rPr>
                        <a:t> </a:t>
                      </a:r>
                      <a:r>
                        <a:rPr lang="en-US" dirty="0" err="1" smtClean="0">
                          <a:solidFill>
                            <a:srgbClr val="0070C0"/>
                          </a:solidFill>
                          <a:latin typeface="Verdana" pitchFamily="34" charset="0"/>
                        </a:rPr>
                        <a:t>chú</a:t>
                      </a:r>
                      <a:r>
                        <a:rPr lang="en-US" dirty="0" smtClean="0">
                          <a:solidFill>
                            <a:srgbClr val="0070C0"/>
                          </a:solidFill>
                          <a:latin typeface="Verdana" pitchFamily="34" charset="0"/>
                        </a:rPr>
                        <a:t> */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600" b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SS_StyleCom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4343400"/>
            <a:ext cx="5524500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Measurement </a:t>
            </a:r>
            <a:r>
              <a:rPr kumimoji="0" lang="de-DE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units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790690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Absolute length: inch, cm, point …</a:t>
            </a:r>
          </a:p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Relative length: pixel, em, ex, ...</a:t>
            </a:r>
          </a:p>
          <a:p>
            <a:pPr marL="269875" indent="-269875" algn="just">
              <a:lnSpc>
                <a:spcPct val="150000"/>
              </a:lnSpc>
              <a:spcBef>
                <a:spcPts val="1200"/>
              </a:spcBef>
              <a:buFont typeface="Wingdings" charset="2"/>
              <a:buChar char="§"/>
            </a:pPr>
            <a:r>
              <a:rPr lang="en-US" sz="2800" dirty="0" smtClean="0">
                <a:solidFill>
                  <a:srgbClr val="000000"/>
                </a:solidFill>
                <a:latin typeface="Verdana"/>
                <a:ea typeface="DejaVu Sans" charset="0"/>
                <a:cs typeface="Verdana"/>
              </a:rPr>
              <a:t>p</a:t>
            </a:r>
            <a:r>
              <a:rPr lang="vi-VN" sz="2800" dirty="0" smtClean="0">
                <a:solidFill>
                  <a:srgbClr val="000000"/>
                </a:solidFill>
                <a:latin typeface="Verdana"/>
                <a:ea typeface="DejaVu Sans" charset="0"/>
                <a:cs typeface="Verdana"/>
              </a:rPr>
              <a:t>ixel (px): </a:t>
            </a:r>
            <a:r>
              <a:rPr lang="en-US" sz="2800" dirty="0" smtClean="0">
                <a:latin typeface="Verdana"/>
                <a:cs typeface="Verdana"/>
              </a:rPr>
              <a:t>relative </a:t>
            </a:r>
            <a:r>
              <a:rPr lang="en-US" sz="2800" dirty="0">
                <a:latin typeface="Verdana"/>
                <a:cs typeface="Verdana"/>
              </a:rPr>
              <a:t>to the screen resolution </a:t>
            </a:r>
            <a:endParaRPr lang="en-US" sz="2800" dirty="0" smtClean="0">
              <a:latin typeface="Verdana"/>
              <a:cs typeface="Verdana"/>
            </a:endParaRPr>
          </a:p>
          <a:p>
            <a:pPr marL="914400" lvl="1" indent="-4572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Ex: LCD 14’’2 (1024x768)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thì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DPI = 96</a:t>
            </a:r>
          </a:p>
          <a:p>
            <a:pPr marL="1371600" lvl="2" indent="-4572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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có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 96 pixel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trên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 1 inch </a:t>
            </a:r>
          </a:p>
          <a:p>
            <a:pPr marL="269875" indent="-269875" algn="just">
              <a:lnSpc>
                <a:spcPct val="150000"/>
              </a:lnSpc>
              <a:spcBef>
                <a:spcPts val="1200"/>
              </a:spcBef>
              <a:buFont typeface="Wingdings" charset="2"/>
              <a:buChar char="§"/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Point: 1pt = 1/72 inch. </a:t>
            </a:r>
          </a:p>
          <a:p>
            <a:pPr marL="1371600" lvl="2" indent="-4572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 </a:t>
            </a:r>
            <a:r>
              <a:rPr lang="en-US" sz="28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có</a:t>
            </a:r>
            <a:r>
              <a:rPr lang="en-US" sz="28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1 </a:t>
            </a:r>
            <a:r>
              <a:rPr lang="en-US" sz="28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pixel 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/>
              </a:rPr>
              <a:t>= 0.75pt </a:t>
            </a: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  <a:sym typeface="Wingdings"/>
            </a:endParaRPr>
          </a:p>
          <a:p>
            <a:pPr marL="1371600" lvl="2" indent="-4572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endParaRPr lang="en-US" sz="2800" dirty="0" smtClean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marL="269875" indent="-269875" algn="just">
              <a:lnSpc>
                <a:spcPct val="150000"/>
              </a:lnSpc>
              <a:spcBef>
                <a:spcPts val="1200"/>
              </a:spcBef>
              <a:buFont typeface="Wingdings" charset="2"/>
              <a:buChar char="§"/>
            </a:pP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endParaRPr lang="vi-VN" sz="2800" dirty="0" smtClean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</p:txBody>
      </p:sp>
      <p:pic>
        <p:nvPicPr>
          <p:cNvPr id="4" name="Picture 3" descr="Screen Shot 2012-06-25 at 4.25.45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78"/>
          <a:stretch/>
        </p:blipFill>
        <p:spPr>
          <a:xfrm>
            <a:off x="6248400" y="4724400"/>
            <a:ext cx="2590800" cy="8419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05600" y="5638800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Font-size = 16pt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5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Measurement Units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6214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Relative length: em, ex, ...</a:t>
            </a:r>
          </a:p>
          <a:p>
            <a:pPr marL="800100" lvl="1" indent="-3429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Verdana"/>
                <a:cs typeface="Verdana"/>
                <a:hlinkClick r:id="rId2"/>
              </a:rPr>
              <a:t>em</a:t>
            </a:r>
            <a:r>
              <a:rPr lang="en-US" sz="2400" dirty="0">
                <a:latin typeface="Verdana"/>
                <a:cs typeface="Verdana"/>
              </a:rPr>
              <a:t> and </a:t>
            </a:r>
            <a:r>
              <a:rPr lang="en-US" sz="2400" dirty="0">
                <a:latin typeface="Verdana"/>
                <a:cs typeface="Verdana"/>
                <a:hlinkClick r:id="rId3"/>
              </a:rPr>
              <a:t>ex</a:t>
            </a:r>
            <a:r>
              <a:rPr lang="en-US" sz="2400" dirty="0">
                <a:latin typeface="Verdana"/>
                <a:cs typeface="Verdana"/>
              </a:rPr>
              <a:t> - relative to the parent element </a:t>
            </a:r>
          </a:p>
          <a:p>
            <a:pPr marL="914400" lvl="1" indent="-4572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vi-VN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Ex: em </a:t>
            </a:r>
          </a:p>
          <a:p>
            <a:pPr marL="914400" lvl="1" indent="-4572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endParaRPr lang="en-US" sz="2800" dirty="0" smtClean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marL="914400" lvl="1" indent="-4572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vi-VN" sz="28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Ex: </a:t>
            </a:r>
            <a:r>
              <a:rPr lang="vi-VN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ex</a:t>
            </a:r>
            <a:endParaRPr lang="vi-VN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endParaRPr lang="en-US" sz="2800" dirty="0" smtClean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marL="914400" lvl="1" indent="-457200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CSS: </a:t>
            </a: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endParaRPr lang="vi-VN" sz="2800" dirty="0" smtClean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</p:txBody>
      </p:sp>
      <p:pic>
        <p:nvPicPr>
          <p:cNvPr id="4" name="Picture 3" descr="Screen Shot 2012-06-25 at 4.26.25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133600"/>
            <a:ext cx="3276600" cy="1711467"/>
          </a:xfrm>
          <a:prstGeom prst="rect">
            <a:avLst/>
          </a:prstGeom>
        </p:spPr>
      </p:pic>
      <p:pic>
        <p:nvPicPr>
          <p:cNvPr id="5" name="Picture 4" descr="Screen Shot 2012-06-25 at 4.23.26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962400"/>
            <a:ext cx="4050284" cy="1295400"/>
          </a:xfrm>
          <a:prstGeom prst="rect">
            <a:avLst/>
          </a:prstGeom>
        </p:spPr>
      </p:pic>
      <p:pic>
        <p:nvPicPr>
          <p:cNvPr id="6" name="Picture 5" descr="Screen Shot 2012-06-25 at 4.24.18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5334000"/>
            <a:ext cx="56896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9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Phân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loại CSS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769522"/>
            <a:ext cx="9144000" cy="37262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517525" indent="-517525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396875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3200" b="1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Gồm</a:t>
            </a:r>
            <a:r>
              <a:rPr lang="en-US" sz="3200" b="1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3 </a:t>
            </a:r>
            <a:r>
              <a:rPr lang="en-US" sz="3200" b="1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lại</a:t>
            </a:r>
            <a:r>
              <a:rPr lang="en-US" sz="3200" b="1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CSS:</a:t>
            </a:r>
          </a:p>
          <a:p>
            <a:pPr marL="914400" lvl="1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Inline Style Sheet</a:t>
            </a:r>
          </a:p>
          <a:p>
            <a:pPr marL="914400" lvl="1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Embedding Style Sheet (Internal SS)</a:t>
            </a:r>
          </a:p>
          <a:p>
            <a:pPr marL="914400" lvl="1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External Style Sheet</a:t>
            </a:r>
          </a:p>
          <a:p>
            <a:pPr marL="914400" lvl="1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Phân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loại CSS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548579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Inline style sheet: </a:t>
            </a:r>
            <a:r>
              <a:rPr lang="en-US" sz="2800" dirty="0" err="1" smtClean="0">
                <a:latin typeface="Verdana" pitchFamily="34" charset="0"/>
              </a:rPr>
              <a:t>dùng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thuộc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tính</a:t>
            </a:r>
            <a:r>
              <a:rPr lang="en-US" sz="2800" dirty="0" smtClean="0">
                <a:latin typeface="Verdana" pitchFamily="34" charset="0"/>
              </a:rPr>
              <a:t> style </a:t>
            </a:r>
            <a:r>
              <a:rPr lang="en-US" sz="2800" dirty="0" err="1" smtClean="0">
                <a:latin typeface="Verdana" pitchFamily="34" charset="0"/>
              </a:rPr>
              <a:t>cho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từng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thẻ</a:t>
            </a:r>
            <a:r>
              <a:rPr lang="en-US" sz="2800" dirty="0" smtClean="0">
                <a:latin typeface="Verdana" pitchFamily="34" charset="0"/>
              </a:rPr>
              <a:t> HTML</a:t>
            </a:r>
          </a:p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800" dirty="0" smtClean="0">
                <a:latin typeface="Verdana" pitchFamily="34" charset="0"/>
              </a:rPr>
              <a:t>Embedded style sheet: định nghĩa các định dạng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thẻ</a:t>
            </a:r>
            <a:r>
              <a:rPr lang="en-US" sz="2800" dirty="0" smtClean="0">
                <a:latin typeface="Verdana" pitchFamily="34" charset="0"/>
              </a:rPr>
              <a:t> &lt;style&gt;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phần</a:t>
            </a:r>
            <a:r>
              <a:rPr lang="en-US" sz="2800" dirty="0" smtClean="0">
                <a:latin typeface="Verdana" pitchFamily="34" charset="0"/>
              </a:rPr>
              <a:t> &lt;head&gt; </a:t>
            </a:r>
            <a:r>
              <a:rPr lang="en-US" sz="2800" dirty="0" err="1" smtClean="0">
                <a:latin typeface="Verdana" pitchFamily="34" charset="0"/>
              </a:rPr>
              <a:t>của</a:t>
            </a:r>
            <a:r>
              <a:rPr lang="en-US" sz="2800" dirty="0" smtClean="0">
                <a:latin typeface="Verdana" pitchFamily="34" charset="0"/>
              </a:rPr>
              <a:t> webpage</a:t>
            </a:r>
          </a:p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vi-VN" sz="2800" dirty="0" smtClean="0">
                <a:latin typeface="Verdana" pitchFamily="34" charset="0"/>
              </a:rPr>
              <a:t>External style sheet: định nghĩa các định dạng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file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.</a:t>
            </a:r>
            <a:r>
              <a:rPr lang="en-US" sz="2800" dirty="0" err="1" smtClean="0">
                <a:solidFill>
                  <a:srgbClr val="0070C0"/>
                </a:solidFill>
                <a:latin typeface="Verdana" pitchFamily="34" charset="0"/>
              </a:rPr>
              <a:t>css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webpage link </a:t>
            </a:r>
            <a:r>
              <a:rPr lang="en-US" sz="2800" dirty="0" err="1" smtClean="0">
                <a:latin typeface="Verdana" pitchFamily="34" charset="0"/>
              </a:rPr>
              <a:t>tới</a:t>
            </a:r>
            <a:r>
              <a:rPr lang="en-US" sz="2800" dirty="0" smtClean="0">
                <a:latin typeface="Verdana" pitchFamily="34" charset="0"/>
              </a:rPr>
              <a:t> file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.</a:t>
            </a:r>
            <a:r>
              <a:rPr lang="en-US" sz="2800" dirty="0" err="1" smtClean="0">
                <a:solidFill>
                  <a:srgbClr val="0070C0"/>
                </a:solidFill>
                <a:latin typeface="Verdana" pitchFamily="34" charset="0"/>
              </a:rPr>
              <a:t>css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 </a:t>
            </a:r>
            <a:r>
              <a:rPr lang="en-US" sz="2800" dirty="0" smtClean="0">
                <a:latin typeface="Verdana" pitchFamily="34" charset="0"/>
              </a:rPr>
              <a:t>(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phần</a:t>
            </a:r>
            <a:r>
              <a:rPr lang="en-US" sz="2800" dirty="0" smtClean="0">
                <a:latin typeface="Verdana" pitchFamily="34" charset="0"/>
              </a:rPr>
              <a:t> &lt;head&gt;)</a:t>
            </a: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Phân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loại CSS – Inline Style Sheet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298761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Định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nghĩa</a:t>
            </a:r>
            <a:r>
              <a:rPr lang="en-US" sz="2800" dirty="0" smtClean="0">
                <a:latin typeface="Verdana" pitchFamily="34" charset="0"/>
              </a:rPr>
              <a:t> Style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thuộc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tính</a:t>
            </a:r>
            <a:r>
              <a:rPr lang="en-US" sz="2800" dirty="0" smtClean="0">
                <a:latin typeface="Verdana" pitchFamily="34" charset="0"/>
              </a:rPr>
              <a:t> style </a:t>
            </a:r>
            <a:r>
              <a:rPr lang="en-US" sz="2800" dirty="0" err="1" smtClean="0">
                <a:latin typeface="Verdana" pitchFamily="34" charset="0"/>
              </a:rPr>
              <a:t>của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từng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tag HTML</a:t>
            </a:r>
          </a:p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Ví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dụ</a:t>
            </a:r>
            <a:r>
              <a:rPr lang="en-US" sz="2800" dirty="0" smtClean="0">
                <a:latin typeface="Verdana" pitchFamily="34" charset="0"/>
              </a:rPr>
              <a:t>: </a:t>
            </a:r>
          </a:p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</p:txBody>
      </p:sp>
      <p:pic>
        <p:nvPicPr>
          <p:cNvPr id="6" name="Picture 5" descr="CSS_inlineStyle.jpg"/>
          <p:cNvPicPr>
            <a:picLocks noChangeAspect="1"/>
          </p:cNvPicPr>
          <p:nvPr/>
        </p:nvPicPr>
        <p:blipFill>
          <a:blip r:embed="rId2"/>
          <a:srcRect t="-1582" b="31958"/>
          <a:stretch>
            <a:fillRect/>
          </a:stretch>
        </p:blipFill>
        <p:spPr>
          <a:xfrm>
            <a:off x="381000" y="2743200"/>
            <a:ext cx="6615113" cy="35052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CSS_StyleCommentD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05000"/>
            <a:ext cx="3771900" cy="2209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295400" y="4419600"/>
            <a:ext cx="5638800" cy="45720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rot="5400000" flipH="1" flipV="1">
            <a:off x="4191000" y="2667000"/>
            <a:ext cx="1676400" cy="1828800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Phân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loại CSS – Embedding Style Sheet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298761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Định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nghĩa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định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dạng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thẻ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&lt;style&gt;, </a:t>
            </a:r>
            <a:r>
              <a:rPr lang="en-US" sz="2800" dirty="0" err="1" smtClean="0">
                <a:latin typeface="Verdana" pitchFamily="34" charset="0"/>
              </a:rPr>
              <a:t>đặt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phần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 &lt;head&gt; </a:t>
            </a:r>
            <a:r>
              <a:rPr lang="en-US" sz="2800" dirty="0" err="1" smtClean="0">
                <a:latin typeface="Verdana" pitchFamily="34" charset="0"/>
              </a:rPr>
              <a:t>của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trang</a:t>
            </a:r>
            <a:r>
              <a:rPr lang="en-US" sz="2800" dirty="0" smtClean="0">
                <a:latin typeface="Verdana" pitchFamily="34" charset="0"/>
              </a:rPr>
              <a:t> HTML.</a:t>
            </a:r>
          </a:p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Ví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dụ</a:t>
            </a:r>
            <a:r>
              <a:rPr lang="en-US" sz="2800" dirty="0" smtClean="0">
                <a:latin typeface="Verdana" pitchFamily="34" charset="0"/>
              </a:rPr>
              <a:t>: </a:t>
            </a:r>
          </a:p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</p:txBody>
      </p:sp>
      <p:pic>
        <p:nvPicPr>
          <p:cNvPr id="8" name="Picture 7" descr="CSS_Em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819400"/>
            <a:ext cx="4895850" cy="31337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 descr="CSS_Emb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5" y="5057775"/>
            <a:ext cx="5572125" cy="12668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 descr="CSS_Em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2771775"/>
            <a:ext cx="3810000" cy="21812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368800" y="5604294"/>
            <a:ext cx="4699000" cy="38100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84053" y="3664658"/>
            <a:ext cx="762000" cy="415636"/>
          </a:xfrm>
          <a:prstGeom prst="ellipse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28800" y="3886200"/>
            <a:ext cx="4038600" cy="1828800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Phân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loại CSS – External Style Sheet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348005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93688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Định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nghĩa</a:t>
            </a:r>
            <a:r>
              <a:rPr lang="en-US" sz="2800" dirty="0" smtClean="0">
                <a:latin typeface="Verdana" pitchFamily="34" charset="0"/>
              </a:rPr>
              <a:t> style </a:t>
            </a:r>
            <a:r>
              <a:rPr lang="en-US" sz="2800" dirty="0" err="1" smtClean="0">
                <a:latin typeface="Verdana" pitchFamily="34" charset="0"/>
              </a:rPr>
              <a:t>lưu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file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.CSS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và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các</a:t>
            </a:r>
            <a:r>
              <a:rPr lang="en-US" sz="2800" dirty="0" smtClean="0">
                <a:latin typeface="Verdana" pitchFamily="34" charset="0"/>
              </a:rPr>
              <a:t> page </a:t>
            </a:r>
            <a:r>
              <a:rPr lang="en-US" sz="2800" dirty="0" err="1" smtClean="0">
                <a:latin typeface="Verdana" pitchFamily="34" charset="0"/>
              </a:rPr>
              <a:t>liên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kết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tới</a:t>
            </a:r>
            <a:r>
              <a:rPr lang="en-US" sz="2800" dirty="0" smtClean="0">
                <a:latin typeface="Verdana" pitchFamily="34" charset="0"/>
              </a:rPr>
              <a:t> file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.CSS</a:t>
            </a:r>
            <a:r>
              <a:rPr lang="en-US" sz="2800" dirty="0" smtClean="0">
                <a:latin typeface="Verdana" pitchFamily="34" charset="0"/>
              </a:rPr>
              <a:t> (link </a:t>
            </a:r>
            <a:r>
              <a:rPr lang="en-US" sz="2800" dirty="0" err="1" smtClean="0">
                <a:latin typeface="Verdana" pitchFamily="34" charset="0"/>
              </a:rPr>
              <a:t>đặt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trong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&lt;head&gt;)</a:t>
            </a:r>
          </a:p>
          <a:p>
            <a:pPr marL="293688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Định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nghĩa</a:t>
            </a:r>
            <a:r>
              <a:rPr lang="en-US" sz="2800" dirty="0" smtClean="0">
                <a:latin typeface="Verdana" pitchFamily="34" charset="0"/>
              </a:rPr>
              <a:t> style </a:t>
            </a:r>
            <a:r>
              <a:rPr lang="en-US" sz="2800" dirty="0" err="1" smtClean="0">
                <a:latin typeface="Verdana" pitchFamily="34" charset="0"/>
              </a:rPr>
              <a:t>theo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cú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pháp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Verdana" pitchFamily="34" charset="0"/>
              </a:rPr>
              <a:t>kiểu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 2</a:t>
            </a:r>
          </a:p>
          <a:p>
            <a:pPr marL="293688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Tạo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liên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kết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đến</a:t>
            </a:r>
            <a:r>
              <a:rPr lang="en-US" sz="2800" dirty="0" smtClean="0">
                <a:latin typeface="Verdana" pitchFamily="34" charset="0"/>
              </a:rPr>
              <a:t> file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.CSS</a:t>
            </a:r>
            <a:r>
              <a:rPr lang="en-US" sz="2800" dirty="0" smtClean="0">
                <a:latin typeface="Verdana" pitchFamily="34" charset="0"/>
              </a:rPr>
              <a:t>. </a:t>
            </a:r>
          </a:p>
          <a:p>
            <a:pPr marL="293688" indent="-293688"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762000" y="3076575"/>
            <a:ext cx="7581900" cy="1343025"/>
            <a:chOff x="1527594" y="3076575"/>
            <a:chExt cx="7581900" cy="1343025"/>
          </a:xfrm>
        </p:grpSpPr>
        <p:pic>
          <p:nvPicPr>
            <p:cNvPr id="14" name="Picture 13" descr="CssExtSyntax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7594" y="3076575"/>
              <a:ext cx="7581900" cy="1343025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5441829" y="3920706"/>
              <a:ext cx="3581400" cy="43088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 err="1" smtClean="0">
                  <a:latin typeface="Verdana" pitchFamily="34" charset="0"/>
                </a:rPr>
                <a:t>Liên</a:t>
              </a:r>
              <a:r>
                <a:rPr lang="en-US" sz="2200" dirty="0" smtClean="0">
                  <a:latin typeface="Verdana" pitchFamily="34" charset="0"/>
                </a:rPr>
                <a:t> </a:t>
              </a:r>
              <a:r>
                <a:rPr lang="en-US" sz="2200" dirty="0" err="1" smtClean="0">
                  <a:latin typeface="Verdana" pitchFamily="34" charset="0"/>
                </a:rPr>
                <a:t>kết</a:t>
              </a:r>
              <a:r>
                <a:rPr lang="en-US" sz="2200" dirty="0" smtClean="0">
                  <a:latin typeface="Verdana" pitchFamily="34" charset="0"/>
                </a:rPr>
                <a:t> </a:t>
              </a:r>
              <a:r>
                <a:rPr lang="en-US" sz="2200" dirty="0" err="1" smtClean="0">
                  <a:latin typeface="Verdana" pitchFamily="34" charset="0"/>
                </a:rPr>
                <a:t>bằng</a:t>
              </a:r>
              <a:r>
                <a:rPr lang="en-US" sz="2200" dirty="0" smtClean="0">
                  <a:latin typeface="Verdana" pitchFamily="34" charset="0"/>
                </a:rPr>
                <a:t> tag </a:t>
              </a:r>
              <a:r>
                <a:rPr lang="en-US" sz="2200" dirty="0" smtClean="0">
                  <a:solidFill>
                    <a:srgbClr val="0070C0"/>
                  </a:solidFill>
                  <a:latin typeface="Verdana" pitchFamily="34" charset="0"/>
                </a:rPr>
                <a:t>Link</a:t>
              </a:r>
              <a:r>
                <a:rPr lang="en-US" sz="2200" dirty="0" smtClean="0">
                  <a:latin typeface="Verdana" pitchFamily="34" charset="0"/>
                </a:rPr>
                <a:t> 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62000" y="4495800"/>
            <a:ext cx="7620000" cy="1809750"/>
            <a:chOff x="76200" y="4495800"/>
            <a:chExt cx="7620000" cy="1809750"/>
          </a:xfrm>
        </p:grpSpPr>
        <p:pic>
          <p:nvPicPr>
            <p:cNvPr id="15" name="Picture 14" descr="CssExtSyntax1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" y="4495800"/>
              <a:ext cx="7620000" cy="1809750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1981200" y="5791200"/>
              <a:ext cx="5604294" cy="43088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 smtClean="0">
                  <a:latin typeface="Verdana" pitchFamily="34" charset="0"/>
                </a:rPr>
                <a:t>LK </a:t>
              </a:r>
              <a:r>
                <a:rPr lang="en-US" sz="2200" dirty="0" err="1" smtClean="0">
                  <a:latin typeface="Verdana" pitchFamily="34" charset="0"/>
                </a:rPr>
                <a:t>bằng</a:t>
              </a:r>
              <a:r>
                <a:rPr lang="en-US" sz="2200" dirty="0" smtClean="0">
                  <a:latin typeface="Verdana" pitchFamily="34" charset="0"/>
                </a:rPr>
                <a:t> tag </a:t>
              </a:r>
              <a:r>
                <a:rPr lang="en-US" sz="2200" dirty="0" smtClean="0">
                  <a:solidFill>
                    <a:srgbClr val="0070C0"/>
                  </a:solidFill>
                  <a:latin typeface="Verdana" pitchFamily="34" charset="0"/>
                </a:rPr>
                <a:t>style</a:t>
              </a:r>
              <a:r>
                <a:rPr lang="en-US" sz="2200" dirty="0" smtClean="0">
                  <a:latin typeface="Verdana" pitchFamily="34" charset="0"/>
                </a:rPr>
                <a:t> </a:t>
              </a:r>
              <a:r>
                <a:rPr lang="en-US" sz="2200" dirty="0" err="1" smtClean="0">
                  <a:latin typeface="Verdana" pitchFamily="34" charset="0"/>
                </a:rPr>
                <a:t>với</a:t>
              </a:r>
              <a:r>
                <a:rPr lang="en-US" sz="2200" dirty="0" smtClean="0">
                  <a:latin typeface="Verdana" pitchFamily="34" charset="0"/>
                </a:rPr>
                <a:t> </a:t>
              </a:r>
              <a:r>
                <a:rPr lang="en-US" sz="2200" dirty="0" smtClean="0">
                  <a:solidFill>
                    <a:srgbClr val="0070C0"/>
                  </a:solidFill>
                  <a:latin typeface="Verdana" pitchFamily="34" charset="0"/>
                </a:rPr>
                <a:t>@import </a:t>
              </a:r>
              <a:r>
                <a:rPr lang="en-US" sz="2200" dirty="0" smtClean="0">
                  <a:solidFill>
                    <a:srgbClr val="C00000"/>
                  </a:solidFill>
                  <a:latin typeface="Verdana" pitchFamily="34" charset="0"/>
                </a:rPr>
                <a:t>URL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Phân</a:t>
            </a: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loại CSS – External Style Sheet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16" name="Picture 15" descr="CssExtDr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705100"/>
            <a:ext cx="3657600" cy="35433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2244305" y="685800"/>
            <a:ext cx="6847935" cy="2819400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1000" y="2743200"/>
            <a:ext cx="1600200" cy="457200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CSS_E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581400"/>
            <a:ext cx="3810000" cy="21812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4" name="Rectangle 23"/>
          <p:cNvSpPr/>
          <p:nvPr/>
        </p:nvSpPr>
        <p:spPr>
          <a:xfrm>
            <a:off x="5943600" y="5791200"/>
            <a:ext cx="1651414" cy="523220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Verdana" pitchFamily="34" charset="0"/>
              </a:rPr>
              <a:t>Browser</a:t>
            </a:r>
            <a:endParaRPr lang="en-US" sz="2800" dirty="0"/>
          </a:p>
        </p:txBody>
      </p:sp>
      <p:pic>
        <p:nvPicPr>
          <p:cNvPr id="26" name="Picture 25" descr="EmC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762000"/>
            <a:ext cx="6248400" cy="151838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5" name="Rectangle 24"/>
          <p:cNvSpPr/>
          <p:nvPr/>
        </p:nvSpPr>
        <p:spPr>
          <a:xfrm>
            <a:off x="2626160" y="5638800"/>
            <a:ext cx="1793440" cy="523220"/>
          </a:xfrm>
          <a:prstGeom prst="rect">
            <a:avLst/>
          </a:prstGeom>
          <a:solidFill>
            <a:schemeClr val="bg1"/>
          </a:solidFill>
          <a:ln w="15875"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Verdana" pitchFamily="34" charset="0"/>
              </a:rPr>
              <a:t>File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.CSS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15" name="Picture 14" descr="CssExtDr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2135937"/>
            <a:ext cx="5524500" cy="12763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3" name="Straight Arrow Connector 12"/>
          <p:cNvCxnSpPr/>
          <p:nvPr/>
        </p:nvCxnSpPr>
        <p:spPr>
          <a:xfrm flipV="1">
            <a:off x="1295400" y="1600200"/>
            <a:ext cx="3581400" cy="114300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62000" y="1066800"/>
            <a:ext cx="1920719" cy="523220"/>
          </a:xfrm>
          <a:prstGeom prst="rect">
            <a:avLst/>
          </a:prstGeom>
          <a:solidFill>
            <a:schemeClr val="bg1"/>
          </a:solidFill>
          <a:ln w="15875"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Verdana" pitchFamily="34" charset="0"/>
              </a:rPr>
              <a:t>File </a:t>
            </a: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</a:rPr>
              <a:t>HTML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– so sánh và đánh giá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4" name="Picture 3" descr="CSS_sosan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10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– độ ưu tiên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769522"/>
            <a:ext cx="9144000" cy="500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465138" lvl="1" indent="-7938">
              <a:lnSpc>
                <a:spcPct val="150000"/>
              </a:lnSpc>
              <a:spcBef>
                <a:spcPts val="600"/>
              </a:spcBef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Thứ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tự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ưu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tiên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áp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dụng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định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dạng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khi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sử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dụng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các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loại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CSS (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độ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ưu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tiên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giảm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dần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)</a:t>
            </a:r>
          </a:p>
          <a:p>
            <a:pPr marL="1828800" lvl="3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Inline Style Sheet</a:t>
            </a:r>
          </a:p>
          <a:p>
            <a:pPr marL="1828800" lvl="3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Embedding Style Sheet</a:t>
            </a:r>
          </a:p>
          <a:p>
            <a:pPr marL="1828800" lvl="3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External Style Sheet</a:t>
            </a:r>
          </a:p>
          <a:p>
            <a:pPr marL="1828800" lvl="3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Browser Default</a:t>
            </a:r>
          </a:p>
          <a:p>
            <a:pPr marL="914400" lvl="1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8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6400800" y="2209800"/>
            <a:ext cx="304800" cy="2590800"/>
          </a:xfrm>
          <a:prstGeom prst="downArrow">
            <a:avLst>
              <a:gd name="adj1" fmla="val 50000"/>
              <a:gd name="adj2" fmla="val 62938"/>
            </a:avLst>
          </a:prstGeom>
          <a:solidFill>
            <a:schemeClr val="accent3">
              <a:lumMod val="40000"/>
              <a:lumOff val="60000"/>
            </a:schemeClr>
          </a:solidFill>
          <a:ln w="317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769522"/>
            <a:ext cx="9144000" cy="563449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96875" lvl="1" indent="-284163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Selector :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tên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1 style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tương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ứng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với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một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thành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phần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được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áp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dụng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style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đó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.</a:t>
            </a:r>
          </a:p>
          <a:p>
            <a:pPr marL="396875" lvl="1" indent="-284163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Ví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:</a:t>
            </a:r>
          </a:p>
          <a:p>
            <a:pPr marL="2225675" lvl="5" indent="-284163">
              <a:lnSpc>
                <a:spcPct val="150000"/>
              </a:lnSpc>
              <a:spcBef>
                <a:spcPts val="600"/>
              </a:spcBef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  <a:ea typeface="DejaVu Sans" charset="0"/>
                <a:cs typeface="DejaVu Sans" charset="0"/>
              </a:rPr>
              <a:t>h1 {</a:t>
            </a:r>
          </a:p>
          <a:p>
            <a:pPr marL="3140075" lvl="7" indent="-284163">
              <a:lnSpc>
                <a:spcPct val="130000"/>
              </a:lnSpc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	color:#006;</a:t>
            </a:r>
          </a:p>
          <a:p>
            <a:pPr marL="3140075" lvl="7" indent="-284163">
              <a:lnSpc>
                <a:spcPct val="130000"/>
              </a:lnSpc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	font:28px "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arial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black";</a:t>
            </a:r>
          </a:p>
          <a:p>
            <a:pPr marL="3140075" lvl="7" indent="-284163">
              <a:lnSpc>
                <a:spcPct val="130000"/>
              </a:lnSpc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	margin-top:0px;</a:t>
            </a:r>
          </a:p>
          <a:p>
            <a:pPr marL="3140075" lvl="7" indent="-284163">
              <a:lnSpc>
                <a:spcPct val="130000"/>
              </a:lnSpc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	padding-top:0px; </a:t>
            </a:r>
          </a:p>
          <a:p>
            <a:pPr marL="3140075" lvl="7" indent="-284163">
              <a:lnSpc>
                <a:spcPct val="130000"/>
              </a:lnSpc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70C0"/>
                </a:solidFill>
                <a:latin typeface="Verdana" pitchFamily="34" charset="0"/>
                <a:ea typeface="DejaVu Sans" charset="0"/>
                <a:cs typeface="DejaVu Sans" charset="0"/>
              </a:rPr>
              <a:t>}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Phạm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vi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áp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CSS (selector)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28600" y="2438400"/>
            <a:ext cx="8926436" cy="3429000"/>
            <a:chOff x="750964" y="2438400"/>
            <a:chExt cx="8926436" cy="3429000"/>
          </a:xfrm>
        </p:grpSpPr>
        <p:sp>
          <p:nvSpPr>
            <p:cNvPr id="8" name="Oval 7"/>
            <p:cNvSpPr/>
            <p:nvPr/>
          </p:nvSpPr>
          <p:spPr>
            <a:xfrm>
              <a:off x="2285999" y="2874818"/>
              <a:ext cx="838201" cy="70658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8" idx="3"/>
            </p:cNvCxnSpPr>
            <p:nvPr/>
          </p:nvCxnSpPr>
          <p:spPr>
            <a:xfrm rot="5400000">
              <a:off x="1686037" y="3544488"/>
              <a:ext cx="789278" cy="656151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3352800" y="3505200"/>
              <a:ext cx="4724400" cy="2362200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rot="5400000" flipH="1" flipV="1">
              <a:off x="6400799" y="2971801"/>
              <a:ext cx="914402" cy="762000"/>
            </a:xfrm>
            <a:prstGeom prst="straightConnector1">
              <a:avLst/>
            </a:prstGeom>
            <a:ln w="28575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4724400" y="2438400"/>
              <a:ext cx="4953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 smtClean="0">
                  <a:solidFill>
                    <a:srgbClr val="000000"/>
                  </a:solidFill>
                  <a:latin typeface="Verdana" pitchFamily="34" charset="0"/>
                  <a:ea typeface="DejaVu Sans" charset="0"/>
                  <a:cs typeface="DejaVu Sans" charset="0"/>
                </a:rPr>
                <a:t>Properties </a:t>
              </a:r>
              <a:r>
                <a:rPr lang="en-US" sz="2800" dirty="0" smtClean="0">
                  <a:solidFill>
                    <a:srgbClr val="000000"/>
                  </a:solidFill>
                  <a:latin typeface="Verdana" pitchFamily="34" charset="0"/>
                </a:rPr>
                <a:t>&amp; values</a:t>
              </a:r>
              <a:endParaRPr lang="en-US" sz="28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50964" y="4114800"/>
              <a:ext cx="222083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 smtClean="0">
                  <a:solidFill>
                    <a:srgbClr val="000000"/>
                  </a:solidFill>
                  <a:latin typeface="Verdana" pitchFamily="34" charset="0"/>
                  <a:ea typeface="DejaVu Sans" charset="0"/>
                  <a:cs typeface="DejaVu Sans" charset="0"/>
                </a:rPr>
                <a:t>Selector</a:t>
              </a:r>
              <a:endParaRPr 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533400"/>
            <a:ext cx="9144000" cy="6537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96875" lvl="1" indent="-284163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Ví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: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Phạm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vi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áp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CSS (selector)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15" name="Picture 14" descr="SelectorD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19200"/>
            <a:ext cx="3505200" cy="480736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6" name="Picture 15" descr="SelectorB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762000"/>
            <a:ext cx="1990725" cy="1676400"/>
          </a:xfrm>
          <a:prstGeom prst="rect">
            <a:avLst/>
          </a:prstGeom>
        </p:spPr>
      </p:pic>
      <p:pic>
        <p:nvPicPr>
          <p:cNvPr id="12" name="Picture 11" descr="SelectorDr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514600"/>
            <a:ext cx="5181600" cy="37989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7" name="Oval 16"/>
          <p:cNvSpPr/>
          <p:nvPr/>
        </p:nvSpPr>
        <p:spPr>
          <a:xfrm>
            <a:off x="152400" y="4170218"/>
            <a:ext cx="838201" cy="706582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990600" y="4343402"/>
            <a:ext cx="3352800" cy="228598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279192" y="1399848"/>
            <a:ext cx="2502608" cy="657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6875" lvl="1" indent="-284163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Browse 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  <a:sym typeface="Wingdings" pitchFamily="2" charset="2"/>
              </a:rPr>
              <a:t></a:t>
            </a:r>
            <a:r>
              <a:rPr lang="en-US" sz="28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loại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selector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457200"/>
            <a:ext cx="9144000" cy="6400800"/>
            <a:chOff x="0" y="457200"/>
            <a:chExt cx="9144000" cy="7124046"/>
          </a:xfrm>
        </p:grpSpPr>
        <p:pic>
          <p:nvPicPr>
            <p:cNvPr id="11" name="Picture 10" descr="LoaiSelect1.jpg"/>
            <p:cNvPicPr>
              <a:picLocks noChangeAspect="1"/>
            </p:cNvPicPr>
            <p:nvPr/>
          </p:nvPicPr>
          <p:blipFill>
            <a:blip r:embed="rId2"/>
            <a:srcRect t="10991"/>
            <a:stretch>
              <a:fillRect/>
            </a:stretch>
          </p:blipFill>
          <p:spPr>
            <a:xfrm>
              <a:off x="0" y="4495800"/>
              <a:ext cx="9144000" cy="3085446"/>
            </a:xfrm>
            <a:prstGeom prst="rect">
              <a:avLst/>
            </a:prstGeom>
          </p:spPr>
        </p:pic>
        <p:pic>
          <p:nvPicPr>
            <p:cNvPr id="13" name="Picture 12" descr="LoaiSelect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57200"/>
              <a:ext cx="9144000" cy="416994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phạm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vi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sử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Selector - Elements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3" name="Picture 2" descr="KoSel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1"/>
            <a:ext cx="8763000" cy="38815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 descr="KoS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114800"/>
            <a:ext cx="7858125" cy="20764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phạm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vi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sử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Selector - #ID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6" name="Picture 5" descr="KoSel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381125"/>
            <a:ext cx="7486650" cy="48672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KoSelDr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762000"/>
            <a:ext cx="4248150" cy="26193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phạm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vi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sử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Selector - .CLASS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7" name="Picture 6" descr="KoSelD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33400"/>
            <a:ext cx="7467600" cy="4800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 descr="KoSel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4202416"/>
            <a:ext cx="5029200" cy="20459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Selector -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Element.CLASS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6" name="Picture 5" descr="KoSelDr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685800"/>
            <a:ext cx="7153275" cy="3962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KoSel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334" y="4572000"/>
            <a:ext cx="4628866" cy="1524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Selector - Contextual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7" name="Picture 6" descr="KoSel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4724400"/>
            <a:ext cx="7096125" cy="10477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 descr="KoSelDr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872067"/>
            <a:ext cx="8915400" cy="339513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Selector – Others</a:t>
            </a:r>
          </a:p>
        </p:txBody>
      </p:sp>
      <p:pic>
        <p:nvPicPr>
          <p:cNvPr id="5" name="Picture 4" descr="KoSelDr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86678"/>
            <a:ext cx="8763000" cy="49694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 descr="KoSel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19200"/>
            <a:ext cx="4143375" cy="13144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110706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27063" indent="-627063" algn="ctr">
              <a:lnSpc>
                <a:spcPct val="150000"/>
              </a:lnSpc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tag HTML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riêng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 CSS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" y="857071"/>
            <a:ext cx="4419600" cy="1679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smtClean="0">
                <a:latin typeface="Verdana" pitchFamily="34" charset="0"/>
              </a:rPr>
              <a:t>CSS Positioning </a:t>
            </a:r>
          </a:p>
          <a:p>
            <a:pPr algn="ctr">
              <a:lnSpc>
                <a:spcPct val="150000"/>
              </a:lnSpc>
            </a:pPr>
            <a:r>
              <a:rPr lang="en-US" sz="2400" b="1" dirty="0" smtClean="0">
                <a:latin typeface="Verdana" pitchFamily="34" charset="0"/>
              </a:rPr>
              <a:t>and </a:t>
            </a:r>
          </a:p>
          <a:p>
            <a:pPr algn="ctr">
              <a:lnSpc>
                <a:spcPct val="150000"/>
              </a:lnSpc>
            </a:pPr>
            <a:r>
              <a:rPr lang="en-US" sz="2400" b="1" dirty="0" smtClean="0">
                <a:latin typeface="Verdana" pitchFamily="34" charset="0"/>
              </a:rPr>
              <a:t>Multi-Column Layouts</a:t>
            </a:r>
            <a:r>
              <a:rPr lang="en-US" sz="2200" b="1" dirty="0" smtClean="0">
                <a:latin typeface="Verdana" pitchFamily="34" charset="0"/>
              </a:rPr>
              <a:t> </a:t>
            </a:r>
            <a:endParaRPr lang="en-US" sz="2200" dirty="0">
              <a:latin typeface="Verdana" pitchFamily="34" charset="0"/>
            </a:endParaRPr>
          </a:p>
        </p:txBody>
      </p:sp>
      <p:pic>
        <p:nvPicPr>
          <p:cNvPr id="5" name="Picture 4" descr="css-grid-layout-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614705"/>
            <a:ext cx="4495800" cy="56336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52400" y="2896654"/>
            <a:ext cx="4191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v-SE" sz="3200" dirty="0" smtClean="0">
                <a:latin typeface="Verdana" pitchFamily="34" charset="0"/>
              </a:rPr>
              <a:t>HTML Tag 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sv-SE" sz="3200" dirty="0" smtClean="0">
                <a:solidFill>
                  <a:srgbClr val="0070C0"/>
                </a:solidFill>
                <a:latin typeface="Verdana" pitchFamily="34" charset="0"/>
              </a:rPr>
              <a:t>&lt;div&gt;…&lt;/div&gt;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sv-SE" sz="3200" dirty="0" smtClean="0">
                <a:solidFill>
                  <a:srgbClr val="0070C0"/>
                </a:solidFill>
                <a:latin typeface="Verdana" pitchFamily="34" charset="0"/>
              </a:rPr>
              <a:t>&lt;span&gt;…&lt;/span&gt;</a:t>
            </a:r>
            <a:endParaRPr lang="en-US" sz="3200" dirty="0">
              <a:solidFill>
                <a:srgbClr val="0070C0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110706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27063" indent="-627063" algn="ctr">
              <a:lnSpc>
                <a:spcPct val="150000"/>
              </a:lnSpc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tag HTML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riêng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 CSS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28600" y="824410"/>
            <a:ext cx="8686800" cy="5119190"/>
            <a:chOff x="228600" y="609600"/>
            <a:chExt cx="8686800" cy="5119190"/>
          </a:xfrm>
        </p:grpSpPr>
        <p:pic>
          <p:nvPicPr>
            <p:cNvPr id="4" name="Picture 3" descr="CSS_HTML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0" y="609600"/>
              <a:ext cx="7781925" cy="164782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5" name="Picture 4" descr="CSS_HTML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" y="3124200"/>
              <a:ext cx="3743325" cy="208597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3" name="Picture 2" descr="CSS_HTML3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2133600"/>
              <a:ext cx="3962400" cy="359145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1676400" y="1981200"/>
              <a:ext cx="2590800" cy="5716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 smtClean="0">
                  <a:latin typeface="Verdana" pitchFamily="34" charset="0"/>
                </a:rPr>
                <a:t>Code View</a:t>
              </a:r>
              <a:endParaRPr lang="en-US" sz="2200" dirty="0">
                <a:latin typeface="Verdana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990600" y="5157159"/>
              <a:ext cx="2590800" cy="5716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 smtClean="0">
                  <a:latin typeface="Verdana" pitchFamily="34" charset="0"/>
                </a:rPr>
                <a:t>Design View</a:t>
              </a:r>
              <a:endParaRPr lang="en-US" sz="2200" dirty="0">
                <a:latin typeface="Verdana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172200" y="2604590"/>
              <a:ext cx="2590800" cy="5716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 smtClean="0">
                  <a:latin typeface="Verdana" pitchFamily="34" charset="0"/>
                </a:rPr>
                <a:t>Browser View</a:t>
              </a:r>
              <a:endParaRPr lang="en-US" sz="2200" dirty="0">
                <a:latin typeface="Verdan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110706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27063" indent="-627063" algn="ctr">
              <a:lnSpc>
                <a:spcPct val="150000"/>
              </a:lnSpc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tag HTML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riêng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 CSS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59603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Verdana" pitchFamily="34" charset="0"/>
            </a:endParaRPr>
          </a:p>
          <a:p>
            <a:r>
              <a:rPr lang="en-US" sz="2400" b="1" dirty="0" smtClean="0">
                <a:latin typeface="Verdana" pitchFamily="34" charset="0"/>
              </a:rPr>
              <a:t>Demonstration Basic Three-Column Layout </a:t>
            </a:r>
            <a:endParaRPr lang="en-US" sz="2400" dirty="0">
              <a:latin typeface="Verdana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28600" y="914400"/>
            <a:ext cx="8610600" cy="4917057"/>
            <a:chOff x="76200" y="990600"/>
            <a:chExt cx="8915400" cy="5091112"/>
          </a:xfrm>
        </p:grpSpPr>
        <p:pic>
          <p:nvPicPr>
            <p:cNvPr id="4" name="Picture 3" descr="3colLayout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990600"/>
              <a:ext cx="2909168" cy="478631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6" name="Picture 5" descr="3colLayout1.jpg"/>
            <p:cNvPicPr>
              <a:picLocks noChangeAspect="1"/>
            </p:cNvPicPr>
            <p:nvPr/>
          </p:nvPicPr>
          <p:blipFill>
            <a:blip r:embed="rId3"/>
            <a:srcRect r="15168"/>
            <a:stretch>
              <a:fillRect/>
            </a:stretch>
          </p:blipFill>
          <p:spPr>
            <a:xfrm>
              <a:off x="2971800" y="1214437"/>
              <a:ext cx="6019800" cy="486727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  <p:sp>
        <p:nvSpPr>
          <p:cNvPr id="7" name="Rectangle 6"/>
          <p:cNvSpPr/>
          <p:nvPr/>
        </p:nvSpPr>
        <p:spPr>
          <a:xfrm>
            <a:off x="0" y="594360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position:</a:t>
            </a:r>
            <a:r>
              <a:rPr lang="en-US" dirty="0" err="1" smtClean="0">
                <a:solidFill>
                  <a:srgbClr val="0070C0"/>
                </a:solidFill>
              </a:rPr>
              <a:t>static</a:t>
            </a:r>
            <a:r>
              <a:rPr lang="en-US" smtClean="0"/>
              <a:t>, position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relative</a:t>
            </a:r>
            <a:r>
              <a:rPr lang="en-US" dirty="0" smtClean="0"/>
              <a:t>,  position: </a:t>
            </a:r>
            <a:r>
              <a:rPr lang="en-US" dirty="0" smtClean="0">
                <a:solidFill>
                  <a:srgbClr val="0070C0"/>
                </a:solidFill>
              </a:rPr>
              <a:t>absolute</a:t>
            </a:r>
            <a:r>
              <a:rPr lang="en-US" dirty="0" smtClean="0"/>
              <a:t>  and position:</a:t>
            </a:r>
            <a:r>
              <a:rPr lang="en-US" dirty="0" smtClean="0">
                <a:solidFill>
                  <a:srgbClr val="0070C0"/>
                </a:solidFill>
              </a:rPr>
              <a:t> float</a:t>
            </a:r>
            <a:r>
              <a:rPr lang="en-US" dirty="0" smtClean="0"/>
              <a:t>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110706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627063" indent="-627063" algn="ctr">
              <a:lnSpc>
                <a:spcPct val="150000"/>
              </a:lnSpc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tag HTML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riêng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 CSS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52400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Verdana" pitchFamily="34" charset="0"/>
            </a:endParaRPr>
          </a:p>
          <a:p>
            <a:r>
              <a:rPr lang="en-US" sz="2400" b="1" dirty="0" smtClean="0">
                <a:latin typeface="Verdana" pitchFamily="34" charset="0"/>
              </a:rPr>
              <a:t>Demonstration Basic Three-Column Layout </a:t>
            </a:r>
            <a:endParaRPr lang="en-US" sz="2400" dirty="0">
              <a:latin typeface="Verdana" pitchFamily="34" charset="0"/>
            </a:endParaRPr>
          </a:p>
        </p:txBody>
      </p:sp>
      <p:pic>
        <p:nvPicPr>
          <p:cNvPr id="5" name="Picture 4" descr="3colLay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66800"/>
            <a:ext cx="8839200" cy="2514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3colLayout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276600"/>
            <a:ext cx="8852170" cy="2971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86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Tham</a:t>
            </a:r>
            <a:r>
              <a:rPr lang="en-US" sz="2800" dirty="0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2" charset="0"/>
                <a:ea typeface="DejaVu Sans" charset="0"/>
                <a:cs typeface="DejaVu Sans" charset="0"/>
              </a:rPr>
              <a:t>Khảo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5" name="Picture 4" descr="SelectorT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439"/>
            <a:ext cx="9144000" cy="46681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0" y="4626934"/>
            <a:ext cx="48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dirty="0" smtClean="0">
                <a:latin typeface="Verdana" pitchFamily="34" charset="0"/>
                <a:hlinkClick r:id="rId3"/>
              </a:rPr>
              <a:t>http://wufoo.com/gallery/</a:t>
            </a:r>
            <a:endParaRPr lang="en-US" sz="2400" dirty="0"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5257800"/>
            <a:ext cx="9296400" cy="1130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b="1" dirty="0" smtClean="0">
                <a:latin typeface="Verdana" pitchFamily="34" charset="0"/>
              </a:rPr>
              <a:t> </a:t>
            </a:r>
            <a:r>
              <a:rPr lang="en-US" sz="2400" b="1" dirty="0" err="1" smtClean="0">
                <a:latin typeface="Verdana" pitchFamily="34" charset="0"/>
              </a:rPr>
              <a:t>Tìm</a:t>
            </a:r>
            <a:r>
              <a:rPr lang="en-US" sz="2400" b="1" dirty="0" smtClean="0">
                <a:latin typeface="Verdana" pitchFamily="34" charset="0"/>
              </a:rPr>
              <a:t> </a:t>
            </a:r>
            <a:r>
              <a:rPr lang="en-US" sz="2400" b="1" dirty="0" err="1" smtClean="0">
                <a:latin typeface="Verdana" pitchFamily="34" charset="0"/>
              </a:rPr>
              <a:t>hiểu</a:t>
            </a:r>
            <a:r>
              <a:rPr lang="en-US" sz="2400" b="1" dirty="0" smtClean="0">
                <a:latin typeface="Verdana" pitchFamily="34" charset="0"/>
              </a:rPr>
              <a:t> </a:t>
            </a:r>
            <a:r>
              <a:rPr lang="en-US" sz="2400" b="1" dirty="0" err="1" smtClean="0">
                <a:latin typeface="Verdana" pitchFamily="34" charset="0"/>
              </a:rPr>
              <a:t>thêm</a:t>
            </a:r>
            <a:r>
              <a:rPr lang="en-US" sz="2400" b="1" dirty="0" smtClean="0">
                <a:latin typeface="Verdana" pitchFamily="34" charset="0"/>
              </a:rPr>
              <a:t>:  </a:t>
            </a:r>
            <a:br>
              <a:rPr lang="en-US" sz="2400" b="1" dirty="0" smtClean="0">
                <a:latin typeface="Verdana" pitchFamily="34" charset="0"/>
              </a:rPr>
            </a:br>
            <a:r>
              <a:rPr lang="en-US" sz="2400" b="1" dirty="0" smtClean="0">
                <a:latin typeface="Verdana" pitchFamily="34" charset="0"/>
              </a:rPr>
              <a:t>   Designing without table with CSS </a:t>
            </a:r>
            <a:r>
              <a:rPr lang="en-US" sz="2400" b="1" dirty="0" smtClean="0">
                <a:latin typeface="Verdana" pitchFamily="34" charset="0"/>
                <a:sym typeface="Wingdings" pitchFamily="2" charset="2"/>
              </a:rPr>
              <a:t> </a:t>
            </a:r>
            <a:r>
              <a:rPr lang="en-US" sz="2400" b="1" dirty="0" smtClean="0">
                <a:latin typeface="Verdana" pitchFamily="34" charset="0"/>
              </a:rPr>
              <a:t>Google </a:t>
            </a:r>
            <a:endParaRPr lang="en-US" sz="22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Bài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thực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hành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3400"/>
            <a:ext cx="9144000" cy="226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Hoàn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tất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danh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sách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đăng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ký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đề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tài</a:t>
            </a:r>
            <a:endParaRPr lang="en-US" sz="3200" dirty="0" smtClean="0">
              <a:latin typeface="Verdana" pitchFamily="34" charset="0"/>
            </a:endParaRPr>
          </a:p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Thực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hành</a:t>
            </a:r>
            <a:r>
              <a:rPr lang="en-US" sz="3200" dirty="0" smtClean="0">
                <a:latin typeface="Verdana" pitchFamily="34" charset="0"/>
              </a:rPr>
              <a:t> CSS</a:t>
            </a:r>
          </a:p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Làm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lại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bài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tập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trước</a:t>
            </a:r>
            <a:r>
              <a:rPr lang="en-US" sz="3200" dirty="0" smtClean="0">
                <a:latin typeface="Verdana" pitchFamily="34" charset="0"/>
              </a:rPr>
              <a:t>, </a:t>
            </a:r>
            <a:r>
              <a:rPr lang="en-US" sz="3200" dirty="0" err="1" smtClean="0">
                <a:latin typeface="Verdana" pitchFamily="34" charset="0"/>
              </a:rPr>
              <a:t>sử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dụng</a:t>
            </a:r>
            <a:r>
              <a:rPr lang="en-US" sz="3200" dirty="0" smtClean="0">
                <a:latin typeface="Verdana" pitchFamily="34" charset="0"/>
              </a:rPr>
              <a:t> CSS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226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1. CSS Linking and Setup</a:t>
            </a:r>
          </a:p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2</a:t>
            </a:r>
            <a:r>
              <a:rPr lang="en-US" sz="3200" dirty="0">
                <a:latin typeface="Verdana" pitchFamily="34" charset="0"/>
              </a:rPr>
              <a:t>.Understanding_levels_of_inheritance</a:t>
            </a:r>
            <a:endParaRPr lang="en-US" sz="3200" dirty="0" smtClean="0">
              <a:latin typeface="Verdana" pitchFamily="34" charset="0"/>
            </a:endParaRPr>
          </a:p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113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3005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1. CSS Linking and Setup:</a:t>
            </a: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01-body-style.html + </a:t>
            </a:r>
            <a:r>
              <a:rPr lang="en-US" sz="3200" dirty="0" err="1" smtClean="0">
                <a:latin typeface="Verdana" pitchFamily="34" charset="0"/>
              </a:rPr>
              <a:t>external.css</a:t>
            </a:r>
            <a:endParaRPr lang="en-US" sz="3200" dirty="0" smtClean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</p:txBody>
      </p:sp>
      <p:pic>
        <p:nvPicPr>
          <p:cNvPr id="4" name="Picture 3" descr="Screen Shot 2012-07-16 at 4.29.2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438400"/>
            <a:ext cx="88265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5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Understanding_levels_of_inheritance</a:t>
            </a:r>
            <a:r>
              <a:rPr lang="en-US" sz="3200" dirty="0" smtClean="0">
                <a:latin typeface="Verdana" pitchFamily="34" charset="0"/>
              </a:rPr>
              <a:t>:</a:t>
            </a: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02-inheritance.html + </a:t>
            </a:r>
            <a:r>
              <a:rPr lang="en-US" sz="3200" dirty="0" err="1" smtClean="0">
                <a:latin typeface="Verdana" pitchFamily="34" charset="0"/>
              </a:rPr>
              <a:t>external.css</a:t>
            </a: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&lt;span&gt;&lt;/span&gt; (&lt;div&gt;&lt;/div&gt;)</a:t>
            </a: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</p:txBody>
      </p:sp>
      <p:pic>
        <p:nvPicPr>
          <p:cNvPr id="5" name="Picture 4" descr="Screen Shot 2012-07-16 at 4.33.1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209800"/>
            <a:ext cx="3962400" cy="1503350"/>
          </a:xfrm>
          <a:prstGeom prst="rect">
            <a:avLst/>
          </a:prstGeom>
        </p:spPr>
      </p:pic>
      <p:pic>
        <p:nvPicPr>
          <p:cNvPr id="6" name="Picture 5" descr="Screen Shot 2012-07-16 at 4.40.15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267200"/>
            <a:ext cx="7950200" cy="167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6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3005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>
                <a:latin typeface="Verdana" pitchFamily="34" charset="0"/>
              </a:rPr>
              <a:t>03-</a:t>
            </a:r>
            <a:r>
              <a:rPr lang="en-US" sz="3200" dirty="0" smtClean="0">
                <a:latin typeface="Verdana" pitchFamily="34" charset="0"/>
              </a:rPr>
              <a:t>levels</a:t>
            </a: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>
                <a:latin typeface="Verdana" pitchFamily="34" charset="0"/>
              </a:rPr>
              <a:t>03-levels</a:t>
            </a:r>
            <a:r>
              <a:rPr lang="en-US" sz="3200" dirty="0" smtClean="0">
                <a:latin typeface="Verdana" pitchFamily="34" charset="0"/>
              </a:rPr>
              <a:t>.html + </a:t>
            </a:r>
            <a:r>
              <a:rPr lang="en-US" sz="3200" dirty="0" err="1" smtClean="0">
                <a:latin typeface="Verdana" pitchFamily="34" charset="0"/>
              </a:rPr>
              <a:t>external.css</a:t>
            </a:r>
            <a:endParaRPr lang="en-US" sz="3200" dirty="0" smtClean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</p:txBody>
      </p:sp>
      <p:pic>
        <p:nvPicPr>
          <p:cNvPr id="5" name="Picture 4" descr="Screen Shot 2012-07-16 at 4.50.2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362200"/>
            <a:ext cx="5029200" cy="19050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</p:pic>
      <p:pic>
        <p:nvPicPr>
          <p:cNvPr id="8" name="Picture 7" descr="Screen Shot 2012-07-16 at 4.54.19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284" y="2743200"/>
            <a:ext cx="3380716" cy="3530600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</p:pic>
      <p:pic>
        <p:nvPicPr>
          <p:cNvPr id="9" name="Picture 8" descr="Screen Shot 2012-07-16 at 4.54.35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419600"/>
            <a:ext cx="3962400" cy="172954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4267200"/>
            <a:ext cx="5356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09800" y="3048000"/>
            <a:ext cx="5356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82000" y="2895600"/>
            <a:ext cx="5356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975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3005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04.span and div</a:t>
            </a: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>
                <a:latin typeface="Verdana" pitchFamily="34" charset="0"/>
              </a:rPr>
              <a:t>04-span-div.html </a:t>
            </a:r>
            <a:r>
              <a:rPr lang="en-US" sz="3200" dirty="0" smtClean="0">
                <a:latin typeface="Verdana" pitchFamily="34" charset="0"/>
              </a:rPr>
              <a:t>+ </a:t>
            </a:r>
            <a:r>
              <a:rPr lang="en-US" sz="3200" dirty="0" err="1" smtClean="0">
                <a:latin typeface="Verdana" pitchFamily="34" charset="0"/>
              </a:rPr>
              <a:t>external.css</a:t>
            </a:r>
            <a:endParaRPr lang="en-US" sz="3200" dirty="0" smtClean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</p:txBody>
      </p:sp>
      <p:pic>
        <p:nvPicPr>
          <p:cNvPr id="4" name="Picture 3" descr="04-span-div.htm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133600"/>
            <a:ext cx="7190317" cy="1714500"/>
          </a:xfrm>
          <a:prstGeom prst="rect">
            <a:avLst/>
          </a:prstGeom>
          <a:ln w="15875">
            <a:solidFill>
              <a:schemeClr val="tx2">
                <a:lumMod val="75000"/>
              </a:schemeClr>
            </a:solidFill>
          </a:ln>
        </p:spPr>
      </p:pic>
      <p:pic>
        <p:nvPicPr>
          <p:cNvPr id="5" name="Picture 4" descr="04-div.htm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038600"/>
            <a:ext cx="7543800" cy="2209078"/>
          </a:xfrm>
          <a:prstGeom prst="rect">
            <a:avLst/>
          </a:prstGeom>
          <a:ln w="15875">
            <a:solidFill>
              <a:schemeClr val="tx2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257060" y="3048000"/>
            <a:ext cx="11907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Verdana" pitchFamily="34" charset="0"/>
              </a:rPr>
              <a:t>span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533400" y="4953000"/>
            <a:ext cx="7194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Verdana" pitchFamily="34" charset="0"/>
              </a:rPr>
              <a:t>div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857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3005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05.selectors</a:t>
            </a: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 smtClean="0">
                <a:latin typeface="Verdana" pitchFamily="34" charset="0"/>
              </a:rPr>
              <a:t>05-selectors.html + </a:t>
            </a:r>
            <a:r>
              <a:rPr lang="en-US" sz="3200" dirty="0" err="1" smtClean="0">
                <a:latin typeface="Verdana" pitchFamily="34" charset="0"/>
              </a:rPr>
              <a:t>external.css</a:t>
            </a:r>
            <a:endParaRPr lang="en-US" sz="3200" dirty="0" smtClean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</p:txBody>
      </p:sp>
      <p:pic>
        <p:nvPicPr>
          <p:cNvPr id="4" name="Picture 3" descr="05-selector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3263900" cy="1181100"/>
          </a:xfrm>
          <a:prstGeom prst="rect">
            <a:avLst/>
          </a:prstGeom>
          <a:ln w="15875">
            <a:solidFill>
              <a:schemeClr val="bg2">
                <a:lumMod val="10000"/>
              </a:schemeClr>
            </a:solidFill>
          </a:ln>
        </p:spPr>
      </p:pic>
      <p:pic>
        <p:nvPicPr>
          <p:cNvPr id="5" name="Picture 4" descr="05-selectors2.htm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124200"/>
            <a:ext cx="4051300" cy="2057400"/>
          </a:xfrm>
          <a:prstGeom prst="rect">
            <a:avLst/>
          </a:prstGeom>
          <a:ln w="15875">
            <a:solidFill>
              <a:schemeClr val="bg2">
                <a:lumMod val="10000"/>
              </a:schemeClr>
            </a:solidFill>
          </a:ln>
        </p:spPr>
      </p:pic>
      <p:pic>
        <p:nvPicPr>
          <p:cNvPr id="6" name="Picture 5" descr="05-selectors.html-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410200"/>
            <a:ext cx="4368800" cy="749300"/>
          </a:xfrm>
          <a:prstGeom prst="rect">
            <a:avLst/>
          </a:prstGeom>
          <a:ln w="15875">
            <a:solidFill>
              <a:schemeClr val="bg2">
                <a:lumMod val="10000"/>
              </a:schemeClr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2362200" y="3276600"/>
            <a:ext cx="175260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2057400" y="3276600"/>
            <a:ext cx="304800" cy="2209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10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226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05.selectors</a:t>
            </a: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85800" y="1752600"/>
            <a:ext cx="7404100" cy="3949700"/>
            <a:chOff x="457200" y="2209800"/>
            <a:chExt cx="7404100" cy="3949700"/>
          </a:xfrm>
        </p:grpSpPr>
        <p:pic>
          <p:nvPicPr>
            <p:cNvPr id="7" name="Picture 6" descr="external.css-2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2209800"/>
              <a:ext cx="3657600" cy="1206500"/>
            </a:xfrm>
            <a:prstGeom prst="rect">
              <a:avLst/>
            </a:prstGeom>
            <a:ln w="15875">
              <a:solidFill>
                <a:schemeClr val="bg2">
                  <a:lumMod val="10000"/>
                </a:schemeClr>
              </a:solidFill>
            </a:ln>
          </p:spPr>
        </p:pic>
        <p:pic>
          <p:nvPicPr>
            <p:cNvPr id="11" name="Picture 10" descr="05-selectors2.html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0" y="3124200"/>
              <a:ext cx="4051300" cy="2057400"/>
            </a:xfrm>
            <a:prstGeom prst="rect">
              <a:avLst/>
            </a:prstGeom>
            <a:ln w="15875">
              <a:solidFill>
                <a:schemeClr val="bg2">
                  <a:lumMod val="10000"/>
                </a:schemeClr>
              </a:solidFill>
            </a:ln>
          </p:spPr>
        </p:pic>
        <p:pic>
          <p:nvPicPr>
            <p:cNvPr id="12" name="Picture 11" descr="05-selectors.html-1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5410200"/>
              <a:ext cx="4368800" cy="749300"/>
            </a:xfrm>
            <a:prstGeom prst="rect">
              <a:avLst/>
            </a:prstGeom>
            <a:ln w="15875">
              <a:solidFill>
                <a:schemeClr val="bg2">
                  <a:lumMod val="10000"/>
                </a:schemeClr>
              </a:solidFill>
            </a:ln>
          </p:spPr>
        </p:pic>
        <p:cxnSp>
          <p:nvCxnSpPr>
            <p:cNvPr id="13" name="Straight Arrow Connector 12"/>
            <p:cNvCxnSpPr/>
            <p:nvPr/>
          </p:nvCxnSpPr>
          <p:spPr>
            <a:xfrm>
              <a:off x="2362200" y="3276600"/>
              <a:ext cx="175260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2057400" y="3276600"/>
              <a:ext cx="304800" cy="2209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752600" y="4267200"/>
              <a:ext cx="762000" cy="381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828800" y="4267200"/>
              <a:ext cx="685800" cy="457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741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226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3200" dirty="0" smtClean="0">
                <a:latin typeface="Verdana" pitchFamily="34" charset="0"/>
              </a:rPr>
              <a:t>05.selectors</a:t>
            </a: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>
              <a:latin typeface="Verdana" pitchFamily="34" charset="0"/>
            </a:endParaRP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57200" y="1524000"/>
            <a:ext cx="8166100" cy="4178300"/>
            <a:chOff x="457200" y="1524000"/>
            <a:chExt cx="8166100" cy="4178300"/>
          </a:xfrm>
        </p:grpSpPr>
        <p:pic>
          <p:nvPicPr>
            <p:cNvPr id="11" name="Picture 10" descr="05-selectors2.html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2057400"/>
              <a:ext cx="4051300" cy="2057400"/>
            </a:xfrm>
            <a:prstGeom prst="rect">
              <a:avLst/>
            </a:prstGeom>
            <a:ln w="15875">
              <a:solidFill>
                <a:schemeClr val="bg2">
                  <a:lumMod val="10000"/>
                </a:schemeClr>
              </a:solidFill>
            </a:ln>
          </p:spPr>
        </p:pic>
        <p:pic>
          <p:nvPicPr>
            <p:cNvPr id="12" name="Picture 11" descr="05-selectors.html-1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4953000"/>
              <a:ext cx="4368800" cy="749300"/>
            </a:xfrm>
            <a:prstGeom prst="rect">
              <a:avLst/>
            </a:prstGeom>
            <a:ln w="15875">
              <a:solidFill>
                <a:schemeClr val="bg2">
                  <a:lumMod val="10000"/>
                </a:schemeClr>
              </a:solidFill>
            </a:ln>
          </p:spPr>
        </p:pic>
        <p:pic>
          <p:nvPicPr>
            <p:cNvPr id="4" name="Picture 3" descr="external.css-3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524000"/>
              <a:ext cx="3810000" cy="2362200"/>
            </a:xfrm>
            <a:prstGeom prst="rect">
              <a:avLst/>
            </a:prstGeom>
            <a:ln w="15875">
              <a:solidFill>
                <a:schemeClr val="tx2">
                  <a:lumMod val="50000"/>
                </a:schemeClr>
              </a:solidFill>
            </a:ln>
          </p:spPr>
        </p:pic>
        <p:cxnSp>
          <p:nvCxnSpPr>
            <p:cNvPr id="13" name="Straight Arrow Connector 12"/>
            <p:cNvCxnSpPr/>
            <p:nvPr/>
          </p:nvCxnSpPr>
          <p:spPr>
            <a:xfrm>
              <a:off x="2667000" y="2209800"/>
              <a:ext cx="21336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609600" y="3200400"/>
              <a:ext cx="1600200" cy="1828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846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0" y="457200"/>
            <a:ext cx="9144000" cy="2374900"/>
            <a:chOff x="0" y="533400"/>
            <a:chExt cx="9144000" cy="2374900"/>
          </a:xfrm>
        </p:grpSpPr>
        <p:sp>
          <p:nvSpPr>
            <p:cNvPr id="3" name="Rectangle 2"/>
            <p:cNvSpPr/>
            <p:nvPr/>
          </p:nvSpPr>
          <p:spPr>
            <a:xfrm>
              <a:off x="0" y="533400"/>
              <a:ext cx="9144000" cy="22672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93688" lvl="1" indent="-293688" algn="just">
                <a:lnSpc>
                  <a:spcPct val="150000"/>
                </a:lnSpc>
                <a:buFont typeface="Wingdings" pitchFamily="2" charset="2"/>
                <a:buChar char="§"/>
              </a:pPr>
              <a:r>
                <a:rPr lang="en-US" sz="2800" dirty="0" smtClean="0">
                  <a:latin typeface="Verdana" pitchFamily="34" charset="0"/>
                </a:rPr>
                <a:t> </a:t>
              </a:r>
              <a:r>
                <a:rPr lang="en-US" sz="3200" dirty="0" smtClean="0">
                  <a:latin typeface="Verdana" pitchFamily="34" charset="0"/>
                </a:rPr>
                <a:t>05.selectors</a:t>
              </a:r>
            </a:p>
            <a:p>
              <a:pPr marL="750888" lvl="2" indent="-293688" algn="just">
                <a:lnSpc>
                  <a:spcPct val="150000"/>
                </a:lnSpc>
                <a:buFont typeface="Wingdings" pitchFamily="2" charset="2"/>
                <a:buChar char="§"/>
              </a:pPr>
              <a:endParaRPr lang="en-US" sz="3200" dirty="0">
                <a:latin typeface="Verdana" pitchFamily="34" charset="0"/>
              </a:endParaRPr>
            </a:p>
            <a:p>
              <a:pPr marL="750888" lvl="2" indent="-293688" algn="just">
                <a:lnSpc>
                  <a:spcPct val="150000"/>
                </a:lnSpc>
                <a:buFont typeface="Wingdings" pitchFamily="2" charset="2"/>
                <a:buChar char="§"/>
              </a:pPr>
              <a:endParaRPr lang="en-US" sz="3200" dirty="0" smtClean="0">
                <a:latin typeface="Verdana" pitchFamily="34" charset="0"/>
              </a:endParaRPr>
            </a:p>
          </p:txBody>
        </p:sp>
        <p:pic>
          <p:nvPicPr>
            <p:cNvPr id="4" name="Picture 3" descr="external.css-5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524000"/>
              <a:ext cx="2705100" cy="1181100"/>
            </a:xfrm>
            <a:prstGeom prst="rect">
              <a:avLst/>
            </a:prstGeom>
            <a:ln w="15875">
              <a:solidFill>
                <a:schemeClr val="tx2">
                  <a:lumMod val="50000"/>
                </a:schemeClr>
              </a:solidFill>
            </a:ln>
          </p:spPr>
        </p:pic>
        <p:pic>
          <p:nvPicPr>
            <p:cNvPr id="5" name="Picture 4" descr="05-selectors.html-2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200" y="914400"/>
              <a:ext cx="4089400" cy="774700"/>
            </a:xfrm>
            <a:prstGeom prst="rect">
              <a:avLst/>
            </a:prstGeom>
            <a:ln w="15875">
              <a:solidFill>
                <a:schemeClr val="tx2">
                  <a:lumMod val="50000"/>
                </a:schemeClr>
              </a:solidFill>
            </a:ln>
          </p:spPr>
        </p:pic>
        <p:pic>
          <p:nvPicPr>
            <p:cNvPr id="6" name="Picture 5" descr="05-selectors.html-3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800" y="2133600"/>
              <a:ext cx="3429000" cy="774700"/>
            </a:xfrm>
            <a:prstGeom prst="rect">
              <a:avLst/>
            </a:prstGeom>
            <a:ln w="15875">
              <a:solidFill>
                <a:schemeClr val="tx2">
                  <a:lumMod val="50000"/>
                </a:schemeClr>
              </a:solidFill>
            </a:ln>
          </p:spPr>
        </p:pic>
        <p:cxnSp>
          <p:nvCxnSpPr>
            <p:cNvPr id="10" name="Straight Arrow Connector 9"/>
            <p:cNvCxnSpPr>
              <a:stCxn id="4" idx="3"/>
              <a:endCxn id="5" idx="1"/>
            </p:cNvCxnSpPr>
            <p:nvPr/>
          </p:nvCxnSpPr>
          <p:spPr>
            <a:xfrm flipV="1">
              <a:off x="3086100" y="1301750"/>
              <a:ext cx="800100" cy="812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4" idx="3"/>
            </p:cNvCxnSpPr>
            <p:nvPr/>
          </p:nvCxnSpPr>
          <p:spPr>
            <a:xfrm>
              <a:off x="3086100" y="2114550"/>
              <a:ext cx="1104900" cy="55245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276600" y="1676400"/>
              <a:ext cx="4572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505200" y="1447800"/>
              <a:ext cx="0" cy="457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 descr="05-selectors.html-4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48000"/>
            <a:ext cx="4191000" cy="3282546"/>
          </a:xfrm>
          <a:prstGeom prst="rect">
            <a:avLst/>
          </a:prstGeom>
          <a:ln w="15875">
            <a:solidFill>
              <a:schemeClr val="tx2">
                <a:lumMod val="50000"/>
              </a:schemeClr>
            </a:solidFill>
          </a:ln>
        </p:spPr>
      </p:pic>
      <p:cxnSp>
        <p:nvCxnSpPr>
          <p:cNvPr id="25" name="Straight Arrow Connector 24"/>
          <p:cNvCxnSpPr/>
          <p:nvPr/>
        </p:nvCxnSpPr>
        <p:spPr>
          <a:xfrm>
            <a:off x="1828800" y="2286000"/>
            <a:ext cx="152400" cy="990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181600" y="5410200"/>
            <a:ext cx="11473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???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7" name="Picture 26" descr="external.css-6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581400"/>
            <a:ext cx="2565400" cy="1092200"/>
          </a:xfrm>
          <a:prstGeom prst="rect">
            <a:avLst/>
          </a:prstGeom>
          <a:ln w="15875">
            <a:solidFill>
              <a:schemeClr val="tx2">
                <a:lumMod val="50000"/>
              </a:schemeClr>
            </a:solidFill>
          </a:ln>
        </p:spPr>
      </p:pic>
      <p:cxnSp>
        <p:nvCxnSpPr>
          <p:cNvPr id="29" name="Straight Arrow Connector 28"/>
          <p:cNvCxnSpPr>
            <a:stCxn id="27" idx="1"/>
          </p:cNvCxnSpPr>
          <p:nvPr/>
        </p:nvCxnSpPr>
        <p:spPr>
          <a:xfrm flipH="1">
            <a:off x="4876800" y="4127500"/>
            <a:ext cx="1143000" cy="1511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92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CSS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cơ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376376"/>
            <a:ext cx="9144000" cy="99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688" lvl="1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Verdana" pitchFamily="34" charset="0"/>
              </a:rPr>
              <a:t> 06.Units</a:t>
            </a:r>
          </a:p>
          <a:p>
            <a:pPr marL="750888" lvl="2" indent="-293688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Verdana" pitchFamily="34" charset="0"/>
              </a:rPr>
              <a:t>06-units.html + </a:t>
            </a:r>
            <a:r>
              <a:rPr lang="en-US" sz="2000" dirty="0" err="1" smtClean="0">
                <a:latin typeface="Verdana" pitchFamily="34" charset="0"/>
              </a:rPr>
              <a:t>external.css</a:t>
            </a:r>
            <a:endParaRPr lang="en-US" sz="2000" dirty="0" smtClean="0">
              <a:latin typeface="Verdana" pitchFamily="34" charset="0"/>
            </a:endParaRPr>
          </a:p>
        </p:txBody>
      </p:sp>
      <p:pic>
        <p:nvPicPr>
          <p:cNvPr id="4" name="Picture 3" descr="external.css-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600"/>
            <a:ext cx="3688862" cy="4876800"/>
          </a:xfrm>
          <a:prstGeom prst="rect">
            <a:avLst/>
          </a:prstGeom>
          <a:ln w="28575" cmpd="sng">
            <a:solidFill>
              <a:schemeClr val="bg2">
                <a:lumMod val="10000"/>
              </a:schemeClr>
            </a:solidFill>
          </a:ln>
        </p:spPr>
      </p:pic>
      <p:pic>
        <p:nvPicPr>
          <p:cNvPr id="5" name="Picture 4" descr="CSS Examples_ Style Sheet Level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838200"/>
            <a:ext cx="4137212" cy="5410200"/>
          </a:xfrm>
          <a:prstGeom prst="rect">
            <a:avLst/>
          </a:prstGeom>
          <a:ln w="28575" cmpd="sng"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307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KW_T0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TKW_T02</Template>
  <TotalTime>6526</TotalTime>
  <Words>887</Words>
  <Application>Microsoft Office PowerPoint</Application>
  <PresentationFormat>On-screen Show (4:3)</PresentationFormat>
  <Paragraphs>190</Paragraphs>
  <Slides>43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TKW_T02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</dc:creator>
  <cp:lastModifiedBy>admin</cp:lastModifiedBy>
  <cp:revision>116</cp:revision>
  <dcterms:created xsi:type="dcterms:W3CDTF">2009-02-28T19:12:01Z</dcterms:created>
  <dcterms:modified xsi:type="dcterms:W3CDTF">2018-08-10T09:54:22Z</dcterms:modified>
</cp:coreProperties>
</file>