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81" r:id="rId2"/>
    <p:sldId id="257" r:id="rId3"/>
    <p:sldId id="259" r:id="rId4"/>
    <p:sldId id="261" r:id="rId5"/>
    <p:sldId id="263" r:id="rId6"/>
    <p:sldId id="282" r:id="rId7"/>
    <p:sldId id="283" r:id="rId8"/>
    <p:sldId id="260" r:id="rId9"/>
    <p:sldId id="262" r:id="rId10"/>
    <p:sldId id="265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58" r:id="rId25"/>
  </p:sldIdLst>
  <p:sldSz cx="9144000" cy="6858000" type="screen4x3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1" autoAdjust="0"/>
    <p:restoredTop sz="94660"/>
  </p:normalViewPr>
  <p:slideViewPr>
    <p:cSldViewPr>
      <p:cViewPr varScale="1">
        <p:scale>
          <a:sx n="42" d="100"/>
          <a:sy n="42" d="100"/>
        </p:scale>
        <p:origin x="110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B19546-7CE1-4A60-9279-BCADC0161DB1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CFCD5-CD5E-46DE-A74D-45535A5495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72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FCFCD5-CD5E-46DE-A74D-45535A54953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59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09B3E-35DA-4FB5-A065-9B4E73C833B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48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09B3E-35DA-4FB5-A065-9B4E73C833B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45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09B3E-35DA-4FB5-A065-9B4E73C833B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81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09B3E-35DA-4FB5-A065-9B4E73C833B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71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09B3E-35DA-4FB5-A065-9B4E73C833B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1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09B3E-35DA-4FB5-A065-9B4E73C833B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20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09B3E-35DA-4FB5-A065-9B4E73C833B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97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09B3E-35DA-4FB5-A065-9B4E73C833B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28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8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96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57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1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36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22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2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7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4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2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85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DB14-79F9-42D3-A497-CA8BB002A855}" type="datetimeFigureOut">
              <a:rPr lang="en-US" smtClean="0"/>
              <a:pPr/>
              <a:t>2022-09-05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15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it.sgu.edu.vn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nmax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opernic.com/" TargetMode="External"/><Relationship Id="rId5" Type="http://schemas.openxmlformats.org/officeDocument/2006/relationships/hyperlink" Target="http://www.flashget.com/" TargetMode="External"/><Relationship Id="rId4" Type="http://schemas.openxmlformats.org/officeDocument/2006/relationships/hyperlink" Target="http://www.metaproducts.com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53600" cy="731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6388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-377456" y="2057400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Phát triển ứng dụng web 1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600201" y="2657475"/>
            <a:ext cx="6781800" cy="6191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Đại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i="0" u="none" strike="noStrike" kern="1200" cap="none" spc="0" normalizeH="0" noProof="0" dirty="0" err="1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Học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i="0" u="none" strike="noStrike" kern="1200" cap="none" spc="0" normalizeH="0" noProof="0" dirty="0" err="1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Sài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3200" i="0" u="none" strike="noStrike" kern="1200" cap="none" spc="0" normalizeH="0" noProof="0" dirty="0" err="1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Gòn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– </a:t>
            </a:r>
            <a:r>
              <a:rPr kumimoji="0" lang="en-US" sz="3200" i="0" u="none" strike="noStrike" kern="1200" cap="none" spc="0" normalizeH="0" noProof="0" dirty="0" err="1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Khoa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CNTT</a:t>
            </a:r>
            <a:endParaRPr kumimoji="0" lang="en-US" sz="320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277217" y="4267200"/>
            <a:ext cx="6629400" cy="9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Font typeface="Wingdings" pitchFamily="2" charset="2"/>
              <a:buNone/>
              <a:defRPr sz="2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sz="400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Các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en-US" sz="400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khái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en-US" sz="400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niệm</a:t>
            </a:r>
            <a:r>
              <a:rPr lang="en-US" sz="40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</a:t>
            </a:r>
            <a:r>
              <a:rPr lang="en-US" sz="4000" dirty="0" err="1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chung</a:t>
            </a:r>
            <a:endParaRPr lang="en-US" sz="40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39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Nội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dung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2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1255216"/>
            <a:ext cx="89154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9113" indent="-519113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3200" dirty="0" err="1" smtClean="0">
                <a:latin typeface="Verdana" pitchFamily="34" charset="0"/>
              </a:rPr>
              <a:t>Khái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niệm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cơ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bản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và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các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thành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phần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của</a:t>
            </a:r>
            <a:r>
              <a:rPr lang="en-US" sz="3200" dirty="0" smtClean="0">
                <a:latin typeface="Verdana" pitchFamily="34" charset="0"/>
              </a:rPr>
              <a:t> website.</a:t>
            </a:r>
          </a:p>
          <a:p>
            <a:pPr marL="519113" indent="-519113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3200" dirty="0" err="1" smtClean="0">
                <a:latin typeface="Verdana" pitchFamily="34" charset="0"/>
              </a:rPr>
              <a:t>Nguyên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tắc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hoạt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động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cơ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bản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của</a:t>
            </a:r>
            <a:r>
              <a:rPr lang="en-US" sz="3200" dirty="0" smtClean="0">
                <a:latin typeface="Verdana" pitchFamily="34" charset="0"/>
              </a:rPr>
              <a:t> website.</a:t>
            </a:r>
          </a:p>
          <a:p>
            <a:pPr marL="519113" indent="-519113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3200" kern="0" dirty="0" err="1" smtClean="0">
                <a:latin typeface="Verdana" pitchFamily="34" charset="0"/>
              </a:rPr>
              <a:t>Các</a:t>
            </a:r>
            <a:r>
              <a:rPr lang="en-US" sz="3200" kern="0" dirty="0" smtClean="0">
                <a:latin typeface="Verdana" pitchFamily="34" charset="0"/>
              </a:rPr>
              <a:t> </a:t>
            </a:r>
            <a:r>
              <a:rPr lang="en-US" sz="3200" kern="0" dirty="0" err="1" smtClean="0">
                <a:latin typeface="Verdana" pitchFamily="34" charset="0"/>
              </a:rPr>
              <a:t>bước</a:t>
            </a:r>
            <a:r>
              <a:rPr lang="en-US" sz="3200" kern="0" dirty="0" smtClean="0">
                <a:latin typeface="Verdana" pitchFamily="34" charset="0"/>
              </a:rPr>
              <a:t> </a:t>
            </a:r>
            <a:r>
              <a:rPr lang="en-US" sz="3200" kern="0" dirty="0" err="1" smtClean="0">
                <a:latin typeface="Verdana" pitchFamily="34" charset="0"/>
              </a:rPr>
              <a:t>thiết</a:t>
            </a:r>
            <a:r>
              <a:rPr lang="en-US" sz="3200" kern="0" dirty="0" smtClean="0">
                <a:latin typeface="Verdana" pitchFamily="34" charset="0"/>
              </a:rPr>
              <a:t> </a:t>
            </a:r>
            <a:r>
              <a:rPr lang="en-US" sz="3200" kern="0" dirty="0" err="1" smtClean="0">
                <a:latin typeface="Verdana" pitchFamily="34" charset="0"/>
              </a:rPr>
              <a:t>lập</a:t>
            </a:r>
            <a:r>
              <a:rPr lang="en-US" sz="3200" kern="0" dirty="0" smtClean="0">
                <a:latin typeface="Verdana" pitchFamily="34" charset="0"/>
              </a:rPr>
              <a:t> website</a:t>
            </a:r>
            <a:endParaRPr lang="en-US" sz="32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Khái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niệm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cơ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8" name="Title 32"/>
          <p:cNvSpPr>
            <a:spLocks noGrp="1"/>
          </p:cNvSpPr>
          <p:nvPr>
            <p:ph type="title"/>
          </p:nvPr>
        </p:nvSpPr>
        <p:spPr>
          <a:xfrm>
            <a:off x="0" y="609600"/>
            <a:ext cx="9144000" cy="563563"/>
          </a:xfrm>
        </p:spPr>
        <p:txBody>
          <a:bodyPr/>
          <a:lstStyle/>
          <a:p>
            <a:pPr marL="742950" lvl="1" indent="-400050" algn="l">
              <a:spcBef>
                <a:spcPct val="20000"/>
              </a:spcBef>
              <a:defRPr/>
            </a:pPr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</a:rPr>
              <a:t>Web </a:t>
            </a:r>
            <a:r>
              <a:rPr lang="en-US" sz="2400" dirty="0" err="1" smtClean="0">
                <a:solidFill>
                  <a:srgbClr val="002060"/>
                </a:solidFill>
                <a:latin typeface="Verdana" pitchFamily="34" charset="0"/>
              </a:rPr>
              <a:t>là</a:t>
            </a:r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latin typeface="Verdana" pitchFamily="34" charset="0"/>
              </a:rPr>
              <a:t>gì</a:t>
            </a:r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</a:rPr>
              <a:t> ?</a:t>
            </a: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3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0" y="1143000"/>
            <a:ext cx="9144000" cy="491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3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Là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các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dịch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vụ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i="0" u="none" strike="noStrike" kern="0" cap="none" spc="0" normalizeH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</a:rPr>
              <a:t>phân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i="0" u="none" strike="noStrike" kern="0" cap="none" spc="0" normalizeH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</a:rPr>
              <a:t>tán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cung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cấp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thông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tin 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</a:rPr>
              <a:t>multimedia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dựa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trên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i="0" u="none" strike="noStrike" kern="0" cap="none" spc="0" normalizeH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itchFamily="34" charset="0"/>
              </a:rPr>
              <a:t>hypertext</a:t>
            </a:r>
            <a:endParaRPr lang="en-US" sz="2300" kern="0" dirty="0" smtClean="0">
              <a:solidFill>
                <a:srgbClr val="0070C0"/>
              </a:solidFill>
              <a:latin typeface="Verdana" pitchFamily="34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kumimoji="0" lang="en-US" sz="23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Phân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tán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: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Thông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tin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được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đặt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trên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nhiều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máy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chủ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khắp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thế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giới</a:t>
            </a:r>
            <a:endParaRPr kumimoji="0" lang="en-US" sz="2300" b="0" i="0" u="none" strike="noStrike" kern="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Multimedia: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thông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tin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bao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</a:t>
            </a:r>
            <a:r>
              <a:rPr kumimoji="0" lang="en-US" sz="2300" b="0" i="0" u="none" strike="noStrike" kern="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gồm</a:t>
            </a:r>
            <a:r>
              <a:rPr kumimoji="0" lang="en-US" sz="23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</a:rPr>
              <a:t> text, graphics, sound, video.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300" kern="0" dirty="0" smtClean="0">
                <a:latin typeface="Verdana" pitchFamily="34" charset="0"/>
              </a:rPr>
              <a:t>Hypertext: </a:t>
            </a:r>
            <a:r>
              <a:rPr lang="en-US" sz="2300" kern="0" dirty="0" err="1" smtClean="0">
                <a:latin typeface="Verdana" pitchFamily="34" charset="0"/>
              </a:rPr>
              <a:t>là</a:t>
            </a:r>
            <a:r>
              <a:rPr lang="en-US" sz="2300" kern="0" dirty="0" smtClean="0">
                <a:latin typeface="Verdana" pitchFamily="34" charset="0"/>
              </a:rPr>
              <a:t> </a:t>
            </a:r>
            <a:r>
              <a:rPr lang="en-US" sz="2300" kern="0" dirty="0" err="1" smtClean="0">
                <a:latin typeface="Verdana" pitchFamily="34" charset="0"/>
              </a:rPr>
              <a:t>kỹ</a:t>
            </a:r>
            <a:r>
              <a:rPr lang="en-US" sz="2300" kern="0" dirty="0" smtClean="0">
                <a:latin typeface="Verdana" pitchFamily="34" charset="0"/>
              </a:rPr>
              <a:t> </a:t>
            </a:r>
            <a:r>
              <a:rPr lang="en-US" sz="2300" kern="0" dirty="0" err="1" smtClean="0">
                <a:latin typeface="Verdana" pitchFamily="34" charset="0"/>
              </a:rPr>
              <a:t>thuật</a:t>
            </a:r>
            <a:r>
              <a:rPr lang="en-US" sz="2300" kern="0" dirty="0" smtClean="0">
                <a:latin typeface="Verdana" pitchFamily="34" charset="0"/>
              </a:rPr>
              <a:t> </a:t>
            </a:r>
            <a:r>
              <a:rPr lang="en-US" sz="2300" kern="0" dirty="0" err="1" smtClean="0">
                <a:latin typeface="Verdana" pitchFamily="34" charset="0"/>
              </a:rPr>
              <a:t>được</a:t>
            </a:r>
            <a:r>
              <a:rPr lang="en-US" sz="2300" kern="0" dirty="0" smtClean="0">
                <a:latin typeface="Verdana" pitchFamily="34" charset="0"/>
              </a:rPr>
              <a:t> </a:t>
            </a:r>
            <a:r>
              <a:rPr lang="en-US" sz="2300" kern="0" dirty="0" err="1" smtClean="0">
                <a:latin typeface="Verdana" pitchFamily="34" charset="0"/>
              </a:rPr>
              <a:t>sử</a:t>
            </a:r>
            <a:r>
              <a:rPr lang="en-US" sz="2300" kern="0" dirty="0" smtClean="0">
                <a:latin typeface="Verdana" pitchFamily="34" charset="0"/>
              </a:rPr>
              <a:t> </a:t>
            </a:r>
            <a:r>
              <a:rPr lang="en-US" sz="2300" kern="0" dirty="0" err="1" smtClean="0">
                <a:latin typeface="Verdana" pitchFamily="34" charset="0"/>
              </a:rPr>
              <a:t>dụng</a:t>
            </a:r>
            <a:r>
              <a:rPr lang="en-US" sz="2300" kern="0" dirty="0" smtClean="0">
                <a:latin typeface="Verdana" pitchFamily="34" charset="0"/>
              </a:rPr>
              <a:t> </a:t>
            </a:r>
            <a:r>
              <a:rPr lang="en-US" sz="2300" kern="0" dirty="0" err="1" smtClean="0">
                <a:latin typeface="Verdana" pitchFamily="34" charset="0"/>
              </a:rPr>
              <a:t>để</a:t>
            </a:r>
            <a:r>
              <a:rPr lang="en-US" sz="2300" kern="0" dirty="0" smtClean="0">
                <a:latin typeface="Verdana" pitchFamily="34" charset="0"/>
              </a:rPr>
              <a:t> </a:t>
            </a:r>
            <a:r>
              <a:rPr lang="en-US" sz="2300" kern="0" dirty="0" err="1" smtClean="0">
                <a:latin typeface="Verdana" pitchFamily="34" charset="0"/>
              </a:rPr>
              <a:t>truy</a:t>
            </a:r>
            <a:r>
              <a:rPr lang="en-US" sz="2300" kern="0" dirty="0" smtClean="0">
                <a:latin typeface="Verdana" pitchFamily="34" charset="0"/>
              </a:rPr>
              <a:t> </a:t>
            </a:r>
            <a:r>
              <a:rPr lang="en-US" sz="2300" kern="0" dirty="0" err="1" smtClean="0">
                <a:latin typeface="Verdana" pitchFamily="34" charset="0"/>
              </a:rPr>
              <a:t>cập</a:t>
            </a:r>
            <a:r>
              <a:rPr lang="en-US" sz="2300" kern="0" dirty="0" smtClean="0">
                <a:latin typeface="Verdana" pitchFamily="34" charset="0"/>
              </a:rPr>
              <a:t> </a:t>
            </a:r>
            <a:r>
              <a:rPr lang="en-US" sz="2300" kern="0" dirty="0" err="1" smtClean="0">
                <a:latin typeface="Verdana" pitchFamily="34" charset="0"/>
              </a:rPr>
              <a:t>thông</a:t>
            </a:r>
            <a:r>
              <a:rPr lang="en-US" sz="2300" kern="0" dirty="0" smtClean="0">
                <a:latin typeface="Verdana" pitchFamily="34" charset="0"/>
              </a:rPr>
              <a:t> tin</a:t>
            </a:r>
            <a:endParaRPr kumimoji="0" lang="en-US" sz="2300" b="0" i="0" u="none" strike="noStrike" kern="0" cap="none" spc="0" normalizeH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Khái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niệm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cơ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4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4800" y="533400"/>
            <a:ext cx="883920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>
              <a:latin typeface="Verdana" pitchFamily="34" charset="0"/>
            </a:endParaRPr>
          </a:p>
          <a:p>
            <a:pPr marL="168275" indent="-168275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</a:rPr>
              <a:t>Web = protocol + language + naming infrastructure</a:t>
            </a:r>
          </a:p>
          <a:p>
            <a:pPr marL="168275" indent="-168275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</a:rPr>
              <a:t>HTTP -</a:t>
            </a:r>
            <a:r>
              <a:rPr lang="en-US" sz="2400" dirty="0" err="1" smtClean="0">
                <a:solidFill>
                  <a:srgbClr val="002060"/>
                </a:solidFill>
                <a:latin typeface="Verdana" pitchFamily="34" charset="0"/>
              </a:rPr>
              <a:t>HyperText</a:t>
            </a:r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latin typeface="Verdana" pitchFamily="34" charset="0"/>
              </a:rPr>
              <a:t>Tranfer</a:t>
            </a:r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</a:rPr>
              <a:t> Protocol</a:t>
            </a:r>
          </a:p>
          <a:p>
            <a:pPr marL="625475" lvl="1" indent="-168275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400" dirty="0" smtClean="0">
                <a:latin typeface="Verdana" pitchFamily="34" charset="0"/>
              </a:rPr>
              <a:t>Là giao thức giao tiếp giữa WWW client and server</a:t>
            </a:r>
          </a:p>
          <a:p>
            <a:pPr marL="168275" indent="-168275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</a:rPr>
              <a:t>HTML -</a:t>
            </a:r>
            <a:r>
              <a:rPr lang="en-US" sz="2400" dirty="0" err="1" smtClean="0">
                <a:solidFill>
                  <a:srgbClr val="002060"/>
                </a:solidFill>
                <a:latin typeface="Verdana" pitchFamily="34" charset="0"/>
              </a:rPr>
              <a:t>HyperText</a:t>
            </a:r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</a:rPr>
              <a:t> Markup Language</a:t>
            </a:r>
          </a:p>
          <a:p>
            <a:pPr marL="625475" lvl="1" indent="-168275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400" dirty="0" smtClean="0">
                <a:latin typeface="Verdana" pitchFamily="34" charset="0"/>
              </a:rPr>
              <a:t>Ngôn ngữ biểu diễn các tài liệu WWW</a:t>
            </a:r>
          </a:p>
          <a:p>
            <a:pPr marL="168275" indent="-168275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</a:rPr>
              <a:t>URL-Uniform Resource Locator</a:t>
            </a:r>
          </a:p>
          <a:p>
            <a:pPr marL="625475" lvl="1" indent="-168275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400" dirty="0" smtClean="0">
                <a:latin typeface="Verdana" pitchFamily="34" charset="0"/>
              </a:rPr>
              <a:t>Địa chỉ web(xác định duy nhất</a:t>
            </a:r>
            <a:r>
              <a:rPr lang="en-US" sz="2400" dirty="0" smtClean="0">
                <a:latin typeface="Verdana" pitchFamily="34" charset="0"/>
              </a:rPr>
              <a:t>)</a:t>
            </a:r>
          </a:p>
          <a:p>
            <a:pPr marL="168275" indent="-168275">
              <a:lnSpc>
                <a:spcPct val="150000"/>
              </a:lnSpc>
              <a:buFont typeface="Wingdings" pitchFamily="2" charset="2"/>
              <a:buChar char="§"/>
            </a:pPr>
            <a:r>
              <a:rPr lang="fr-FR" sz="2400" dirty="0" smtClean="0">
                <a:solidFill>
                  <a:srgbClr val="002060"/>
                </a:solidFill>
                <a:latin typeface="Verdana" pitchFamily="34" charset="0"/>
              </a:rPr>
              <a:t>Client-script: VB script, Java script</a:t>
            </a:r>
          </a:p>
          <a:p>
            <a:pPr marL="168275" indent="-168275">
              <a:lnSpc>
                <a:spcPct val="150000"/>
              </a:lnSpc>
              <a:buFont typeface="Wingdings" pitchFamily="2" charset="2"/>
              <a:buChar char="§"/>
            </a:pPr>
            <a:r>
              <a:rPr lang="nl-NL" sz="2400" dirty="0" smtClean="0">
                <a:solidFill>
                  <a:srgbClr val="002060"/>
                </a:solidFill>
                <a:latin typeface="Verdana" pitchFamily="34" charset="0"/>
              </a:rPr>
              <a:t>Serverscript: ASP, PHP, JSP, ASP.NET, ...</a:t>
            </a:r>
            <a:endParaRPr lang="en-US" sz="2400" dirty="0" smtClean="0">
              <a:solidFill>
                <a:srgbClr val="002060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2"/>
          <p:cNvSpPr txBox="1">
            <a:spLocks/>
          </p:cNvSpPr>
          <p:nvPr/>
        </p:nvSpPr>
        <p:spPr>
          <a:xfrm>
            <a:off x="0" y="609600"/>
            <a:ext cx="9144000" cy="563563"/>
          </a:xfrm>
          <a:prstGeom prst="rect">
            <a:avLst/>
          </a:prstGeom>
        </p:spPr>
        <p:txBody>
          <a:bodyPr/>
          <a:lstStyle/>
          <a:p>
            <a:pPr marL="742950" marR="0" lvl="1" indent="-40005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itchFamily="34" charset="0"/>
              </a:rPr>
              <a:t>Web –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itchFamily="34" charset="0"/>
              </a:rPr>
              <a:t>hoạ</a:t>
            </a:r>
            <a:r>
              <a:rPr lang="en-US" sz="2400" kern="0" baseline="0" dirty="0" smtClean="0">
                <a:solidFill>
                  <a:srgbClr val="002060"/>
                </a:solidFill>
                <a:latin typeface="Verdana" pitchFamily="34" charset="0"/>
              </a:rPr>
              <a:t>t</a:t>
            </a:r>
            <a:r>
              <a:rPr lang="en-US" sz="2400" kern="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rgbClr val="002060"/>
                </a:solidFill>
                <a:latin typeface="Verdana" pitchFamily="34" charset="0"/>
              </a:rPr>
              <a:t>động</a:t>
            </a:r>
            <a:r>
              <a:rPr lang="en-US" sz="2400" kern="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rgbClr val="002060"/>
                </a:solidFill>
                <a:latin typeface="Verdana" pitchFamily="34" charset="0"/>
              </a:rPr>
              <a:t>thế</a:t>
            </a:r>
            <a:r>
              <a:rPr lang="en-US" sz="2400" kern="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rgbClr val="002060"/>
                </a:solidFill>
                <a:latin typeface="Verdana" pitchFamily="34" charset="0"/>
              </a:rPr>
              <a:t>nào</a:t>
            </a:r>
            <a:r>
              <a:rPr lang="en-US" sz="2400" kern="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itchFamily="34" charset="0"/>
              </a:rPr>
              <a:t>?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Nguyên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tắc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hoạt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động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5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41120"/>
            <a:ext cx="8305800" cy="4983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2"/>
          <p:cNvSpPr txBox="1">
            <a:spLocks/>
          </p:cNvSpPr>
          <p:nvPr/>
        </p:nvSpPr>
        <p:spPr>
          <a:xfrm>
            <a:off x="0" y="523875"/>
            <a:ext cx="9144000" cy="563563"/>
          </a:xfrm>
          <a:prstGeom prst="rect">
            <a:avLst/>
          </a:prstGeom>
        </p:spPr>
        <p:txBody>
          <a:bodyPr/>
          <a:lstStyle/>
          <a:p>
            <a:pPr marL="742950" marR="0" lvl="1" indent="-40005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itchFamily="34" charset="0"/>
              </a:rPr>
              <a:t>Web –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itchFamily="34" charset="0"/>
              </a:rPr>
              <a:t>hoạ</a:t>
            </a:r>
            <a:r>
              <a:rPr lang="en-US" sz="2400" kern="0" baseline="0" dirty="0" smtClean="0">
                <a:solidFill>
                  <a:srgbClr val="002060"/>
                </a:solidFill>
                <a:latin typeface="Verdana" pitchFamily="34" charset="0"/>
              </a:rPr>
              <a:t>t</a:t>
            </a:r>
            <a:r>
              <a:rPr lang="en-US" sz="2400" kern="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rgbClr val="002060"/>
                </a:solidFill>
                <a:latin typeface="Verdana" pitchFamily="34" charset="0"/>
              </a:rPr>
              <a:t>động</a:t>
            </a:r>
            <a:r>
              <a:rPr lang="en-US" sz="2400" kern="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rgbClr val="002060"/>
                </a:solidFill>
                <a:latin typeface="Verdana" pitchFamily="34" charset="0"/>
              </a:rPr>
              <a:t>thế</a:t>
            </a:r>
            <a:r>
              <a:rPr lang="en-US" sz="2400" kern="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rgbClr val="002060"/>
                </a:solidFill>
                <a:latin typeface="Verdana" pitchFamily="34" charset="0"/>
              </a:rPr>
              <a:t>nào</a:t>
            </a:r>
            <a:r>
              <a:rPr lang="en-US" sz="2400" kern="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itchFamily="34" charset="0"/>
              </a:rPr>
              <a:t>?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Nguyên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tắc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hoạt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động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6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990600"/>
            <a:ext cx="7415212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290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2"/>
          <p:cNvSpPr txBox="1">
            <a:spLocks/>
          </p:cNvSpPr>
          <p:nvPr/>
        </p:nvSpPr>
        <p:spPr>
          <a:xfrm>
            <a:off x="0" y="523875"/>
            <a:ext cx="9144000" cy="563563"/>
          </a:xfrm>
          <a:prstGeom prst="rect">
            <a:avLst/>
          </a:prstGeom>
        </p:spPr>
        <p:txBody>
          <a:bodyPr/>
          <a:lstStyle/>
          <a:p>
            <a:pPr marL="742950" marR="0" lvl="1" indent="-40005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itchFamily="34" charset="0"/>
              </a:rPr>
              <a:t>Web –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itchFamily="34" charset="0"/>
              </a:rPr>
              <a:t>hoạ</a:t>
            </a:r>
            <a:r>
              <a:rPr lang="en-US" sz="2400" kern="0" baseline="0" dirty="0" smtClean="0">
                <a:solidFill>
                  <a:srgbClr val="002060"/>
                </a:solidFill>
                <a:latin typeface="Verdana" pitchFamily="34" charset="0"/>
              </a:rPr>
              <a:t>t</a:t>
            </a:r>
            <a:r>
              <a:rPr lang="en-US" sz="2400" kern="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rgbClr val="002060"/>
                </a:solidFill>
                <a:latin typeface="Verdana" pitchFamily="34" charset="0"/>
              </a:rPr>
              <a:t>động</a:t>
            </a:r>
            <a:r>
              <a:rPr lang="en-US" sz="2400" kern="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rgbClr val="002060"/>
                </a:solidFill>
                <a:latin typeface="Verdana" pitchFamily="34" charset="0"/>
              </a:rPr>
              <a:t>thế</a:t>
            </a:r>
            <a:r>
              <a:rPr lang="en-US" sz="2400" kern="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rgbClr val="002060"/>
                </a:solidFill>
                <a:latin typeface="Verdana" pitchFamily="34" charset="0"/>
              </a:rPr>
              <a:t>nào</a:t>
            </a:r>
            <a:r>
              <a:rPr lang="en-US" sz="2400" kern="0" dirty="0" smtClean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 pitchFamily="34" charset="0"/>
              </a:rPr>
              <a:t>?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Nguyên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tắc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hoạt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</a:rPr>
              <a:t>động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7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990600"/>
            <a:ext cx="8077199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308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Khái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niệm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cơ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8" name="Title 32"/>
          <p:cNvSpPr>
            <a:spLocks noGrp="1"/>
          </p:cNvSpPr>
          <p:nvPr>
            <p:ph type="title"/>
          </p:nvPr>
        </p:nvSpPr>
        <p:spPr>
          <a:xfrm>
            <a:off x="0" y="609600"/>
            <a:ext cx="9144000" cy="563563"/>
          </a:xfrm>
        </p:spPr>
        <p:txBody>
          <a:bodyPr/>
          <a:lstStyle/>
          <a:p>
            <a:pPr marL="742950" lvl="1" indent="-400050" algn="l">
              <a:spcBef>
                <a:spcPct val="20000"/>
              </a:spcBef>
              <a:defRPr/>
            </a:pPr>
            <a:r>
              <a:rPr lang="en-US" sz="2400" dirty="0">
                <a:solidFill>
                  <a:srgbClr val="002060"/>
                </a:solidFill>
                <a:latin typeface="Verdana" pitchFamily="34" charset="0"/>
              </a:rPr>
              <a:t>Web – </a:t>
            </a:r>
            <a:r>
              <a:rPr lang="en-US" sz="2400" dirty="0" err="1">
                <a:solidFill>
                  <a:srgbClr val="002060"/>
                </a:solidFill>
                <a:latin typeface="Verdana" pitchFamily="34" charset="0"/>
              </a:rPr>
              <a:t>Cái</a:t>
            </a:r>
            <a:r>
              <a:rPr lang="en-US" sz="2400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Verdana" pitchFamily="34" charset="0"/>
              </a:rPr>
              <a:t>khái</a:t>
            </a:r>
            <a:r>
              <a:rPr lang="en-US" sz="2400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Verdana" pitchFamily="34" charset="0"/>
              </a:rPr>
              <a:t>niệm</a:t>
            </a:r>
            <a:r>
              <a:rPr lang="en-US" sz="2400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Verdana" pitchFamily="34" charset="0"/>
              </a:rPr>
              <a:t>chính</a:t>
            </a:r>
            <a:r>
              <a:rPr lang="en-US" sz="2400" dirty="0">
                <a:solidFill>
                  <a:srgbClr val="002060"/>
                </a:solidFill>
                <a:latin typeface="Verdana" pitchFamily="34" charset="0"/>
              </a:rPr>
              <a:t> ?</a:t>
            </a:r>
            <a:endParaRPr lang="en-US" sz="2400" b="1" dirty="0" smtClean="0">
              <a:solidFill>
                <a:srgbClr val="002060"/>
              </a:solidFill>
              <a:latin typeface="Verdana" pitchFamily="34" charset="0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8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0" y="1143000"/>
            <a:ext cx="9144000" cy="491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fontAlgn="base">
              <a:lnSpc>
                <a:spcPct val="150000"/>
              </a:lnSpc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kern="0" dirty="0" err="1" smtClean="0">
                <a:latin typeface="Verdana" pitchFamily="34" charset="0"/>
              </a:rPr>
              <a:t>Địa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chỉ</a:t>
            </a:r>
            <a:r>
              <a:rPr lang="en-US" sz="2400" kern="0" dirty="0" smtClean="0">
                <a:latin typeface="Verdana" pitchFamily="34" charset="0"/>
              </a:rPr>
              <a:t> IP – IP Address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Là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1 con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số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32 bit,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chia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thành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4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số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8 bit,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vd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: 203.162.33.44 (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gồm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2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phần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: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netwwork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address, host address)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Các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định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đối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tượng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nhận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và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gởi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thông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tin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trên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Internet.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Để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0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biết</a:t>
            </a:r>
            <a:r>
              <a:rPr lang="en-US" sz="20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IP : ping www.intel.com</a:t>
            </a:r>
          </a:p>
        </p:txBody>
      </p:sp>
      <p:pic>
        <p:nvPicPr>
          <p:cNvPr id="9" name="Picture 8" descr="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581400"/>
            <a:ext cx="6096000" cy="27670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Khái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niệm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cơ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bản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8" name="Title 32"/>
          <p:cNvSpPr>
            <a:spLocks noGrp="1"/>
          </p:cNvSpPr>
          <p:nvPr>
            <p:ph type="title"/>
          </p:nvPr>
        </p:nvSpPr>
        <p:spPr>
          <a:xfrm>
            <a:off x="0" y="609600"/>
            <a:ext cx="9144000" cy="563563"/>
          </a:xfrm>
        </p:spPr>
        <p:txBody>
          <a:bodyPr/>
          <a:lstStyle/>
          <a:p>
            <a:pPr marL="742950" lvl="1" indent="-400050" algn="l">
              <a:spcBef>
                <a:spcPct val="20000"/>
              </a:spcBef>
              <a:defRPr/>
            </a:pPr>
            <a:r>
              <a:rPr lang="en-US" sz="2400" dirty="0">
                <a:solidFill>
                  <a:srgbClr val="002060"/>
                </a:solidFill>
                <a:latin typeface="Verdana" pitchFamily="34" charset="0"/>
              </a:rPr>
              <a:t>Web – </a:t>
            </a:r>
            <a:r>
              <a:rPr lang="en-US" sz="2400" dirty="0" err="1">
                <a:solidFill>
                  <a:srgbClr val="002060"/>
                </a:solidFill>
                <a:latin typeface="Verdana" pitchFamily="34" charset="0"/>
              </a:rPr>
              <a:t>Cái</a:t>
            </a:r>
            <a:r>
              <a:rPr lang="en-US" sz="2400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Verdana" pitchFamily="34" charset="0"/>
              </a:rPr>
              <a:t>khái</a:t>
            </a:r>
            <a:r>
              <a:rPr lang="en-US" sz="2400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Verdana" pitchFamily="34" charset="0"/>
              </a:rPr>
              <a:t>niệm</a:t>
            </a:r>
            <a:r>
              <a:rPr lang="en-US" sz="2400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Verdana" pitchFamily="34" charset="0"/>
              </a:rPr>
              <a:t>chính</a:t>
            </a:r>
            <a:r>
              <a:rPr lang="en-US" sz="2400" dirty="0">
                <a:solidFill>
                  <a:srgbClr val="002060"/>
                </a:solidFill>
                <a:latin typeface="Verdana" pitchFamily="34" charset="0"/>
              </a:rPr>
              <a:t> ?</a:t>
            </a:r>
            <a:endParaRPr lang="en-US" sz="2400" b="1" dirty="0" smtClean="0">
              <a:solidFill>
                <a:srgbClr val="002060"/>
              </a:solidFill>
              <a:latin typeface="Verdana" pitchFamily="34" charset="0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9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0" y="1295400"/>
            <a:ext cx="91440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kern="0" dirty="0" err="1" smtClean="0">
                <a:latin typeface="Verdana" pitchFamily="34" charset="0"/>
              </a:rPr>
              <a:t>Tên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miền</a:t>
            </a:r>
            <a:r>
              <a:rPr lang="en-US" sz="2400" kern="0" dirty="0" smtClean="0">
                <a:latin typeface="Verdana" pitchFamily="34" charset="0"/>
              </a:rPr>
              <a:t> – Domain name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2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Là</a:t>
            </a: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2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tên</a:t>
            </a: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2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giao</a:t>
            </a: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2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dịch</a:t>
            </a: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2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của</a:t>
            </a: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2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công</a:t>
            </a: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2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ty</a:t>
            </a: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hay </a:t>
            </a:r>
            <a:r>
              <a:rPr lang="en-US" sz="22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tổ</a:t>
            </a: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2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chức</a:t>
            </a: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2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trên</a:t>
            </a: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Internet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2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Ví</a:t>
            </a: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2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dụ</a:t>
            </a: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: </a:t>
            </a: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hlinkClick r:id="rId2"/>
              </a:rPr>
              <a:t>www.fit.sgu.edu.vn</a:t>
            </a:r>
            <a:endParaRPr lang="en-US" sz="2200" kern="0" dirty="0" smtClean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endParaRPr lang="en-US" sz="2400" kern="0" dirty="0" smtClean="0">
              <a:latin typeface="Verdana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kern="0" dirty="0" err="1" smtClean="0">
                <a:latin typeface="Verdana" pitchFamily="34" charset="0"/>
              </a:rPr>
              <a:t>Ánh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xạ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giữa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tên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miền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và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địa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chỉ</a:t>
            </a:r>
            <a:r>
              <a:rPr lang="en-US" sz="2400" kern="0" dirty="0" smtClean="0">
                <a:latin typeface="Verdana" pitchFamily="34" charset="0"/>
              </a:rPr>
              <a:t> IP 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2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DNS Server – Domain name </a:t>
            </a:r>
            <a:r>
              <a:rPr lang="en-US" sz="2200" kern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system server.</a:t>
            </a:r>
            <a:endParaRPr lang="en-US" sz="2200" kern="0" dirty="0" smtClean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endParaRPr lang="en-US" sz="2000" kern="0" dirty="0" smtClean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</a:endParaRPr>
          </a:p>
          <a:p>
            <a:pPr marL="342900" lvl="1" indent="-342900">
              <a:lnSpc>
                <a:spcPct val="150000"/>
              </a:lnSpc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kern="0" dirty="0" smtClean="0">
                <a:latin typeface="Verdana" pitchFamily="34" charset="0"/>
              </a:rPr>
              <a:t>Host service: </a:t>
            </a:r>
            <a:r>
              <a:rPr lang="en-US" sz="2400" kern="0" dirty="0" err="1" smtClean="0">
                <a:latin typeface="Verdana" pitchFamily="34" charset="0"/>
              </a:rPr>
              <a:t>dịch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vụ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lưu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trữ</a:t>
            </a:r>
            <a:r>
              <a:rPr lang="en-US" sz="2400" kern="0" dirty="0" smtClean="0">
                <a:latin typeface="Verdana" pitchFamily="34" charset="0"/>
              </a:rPr>
              <a:t> web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Các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thành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phần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của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website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10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8" name="Picture 7" descr="ww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09600"/>
            <a:ext cx="7848600" cy="5608335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2971800" y="1143000"/>
            <a:ext cx="5257800" cy="1588"/>
          </a:xfrm>
          <a:prstGeom prst="straightConnector1">
            <a:avLst/>
          </a:prstGeom>
          <a:ln w="15875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334000" y="5715000"/>
            <a:ext cx="2971800" cy="1588"/>
          </a:xfrm>
          <a:prstGeom prst="straightConnector1">
            <a:avLst/>
          </a:prstGeom>
          <a:ln w="15875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924800" y="3810000"/>
            <a:ext cx="304800" cy="1588"/>
          </a:xfrm>
          <a:prstGeom prst="straightConnector1">
            <a:avLst/>
          </a:prstGeom>
          <a:ln w="15875">
            <a:solidFill>
              <a:srgbClr val="C000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52425" y="990600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URL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0" y="3657600"/>
            <a:ext cx="975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Web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Browser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77200" y="5410200"/>
            <a:ext cx="1084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Webpage</a:t>
            </a:r>
            <a:endParaRPr 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Khái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niệm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chính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Browser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11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0" y="685800"/>
            <a:ext cx="91440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kern="0" dirty="0" err="1" smtClean="0">
                <a:latin typeface="Verdana" pitchFamily="34" charset="0"/>
              </a:rPr>
              <a:t>Lấy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hiển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thị</a:t>
            </a:r>
            <a:r>
              <a:rPr lang="en-US" sz="2400" kern="0" dirty="0" smtClean="0">
                <a:latin typeface="Verdana" pitchFamily="34" charset="0"/>
              </a:rPr>
              <a:t> (</a:t>
            </a:r>
            <a:r>
              <a:rPr lang="en-US" sz="2400" kern="0" dirty="0" err="1" smtClean="0">
                <a:latin typeface="Verdana" pitchFamily="34" charset="0"/>
              </a:rPr>
              <a:t>nếu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có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thể</a:t>
            </a:r>
            <a:r>
              <a:rPr lang="en-US" sz="2400" kern="0" dirty="0" smtClean="0">
                <a:latin typeface="Verdana" pitchFamily="34" charset="0"/>
              </a:rPr>
              <a:t>) </a:t>
            </a:r>
            <a:r>
              <a:rPr lang="en-US" sz="2400" kern="0" dirty="0" err="1" smtClean="0">
                <a:latin typeface="Verdana" pitchFamily="34" charset="0"/>
              </a:rPr>
              <a:t>các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tài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nguyên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khác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nhau</a:t>
            </a:r>
            <a:endParaRPr lang="en-US" sz="2400" kern="0" dirty="0" smtClean="0">
              <a:latin typeface="Verdana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kern="0" dirty="0" err="1" smtClean="0">
                <a:latin typeface="Verdana" pitchFamily="34" charset="0"/>
              </a:rPr>
              <a:t>Khả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năng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hiển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thị</a:t>
            </a:r>
            <a:r>
              <a:rPr lang="en-US" sz="2400" kern="0" dirty="0" smtClean="0">
                <a:latin typeface="Verdana" pitchFamily="34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4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Text-only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4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Graphic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kern="0" dirty="0" err="1" smtClean="0">
                <a:latin typeface="Verdana" pitchFamily="34" charset="0"/>
              </a:rPr>
              <a:t>Hiển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thị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được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nhiều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loại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ảnh</a:t>
            </a:r>
            <a:r>
              <a:rPr lang="en-US" sz="2400" kern="0" dirty="0" smtClean="0">
                <a:latin typeface="Verdana" pitchFamily="34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4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TIFT, GIF, JPEG, sound, video, postscript, …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kern="0" dirty="0" err="1" smtClean="0">
                <a:latin typeface="Verdana" pitchFamily="34" charset="0"/>
              </a:rPr>
              <a:t>Hỗ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trợ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nhiều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giao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thức</a:t>
            </a:r>
            <a:r>
              <a:rPr lang="en-US" sz="2400" kern="0" dirty="0" smtClean="0">
                <a:latin typeface="Verdana" pitchFamily="34" charset="0"/>
              </a:rPr>
              <a:t>: HTTP, FTP, SMTP, POP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kern="0" dirty="0" err="1" smtClean="0">
                <a:latin typeface="Verdana" pitchFamily="34" charset="0"/>
              </a:rPr>
              <a:t>Có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thể</a:t>
            </a:r>
            <a:r>
              <a:rPr lang="en-US" sz="2400" kern="0" dirty="0" smtClean="0">
                <a:latin typeface="Verdana" pitchFamily="34" charset="0"/>
              </a:rPr>
              <a:t> “plug-in” </a:t>
            </a:r>
            <a:r>
              <a:rPr lang="en-US" sz="2400" kern="0" dirty="0" err="1" smtClean="0">
                <a:latin typeface="Verdana" pitchFamily="34" charset="0"/>
              </a:rPr>
              <a:t>các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công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cụ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vào</a:t>
            </a:r>
            <a:r>
              <a:rPr lang="en-US" sz="2400" kern="0" dirty="0" smtClean="0">
                <a:latin typeface="Verdana" pitchFamily="34" charset="0"/>
              </a:rPr>
              <a:t> browser </a:t>
            </a:r>
            <a:r>
              <a:rPr lang="en-US" sz="2400" kern="0" dirty="0" err="1" smtClean="0">
                <a:latin typeface="Verdana" pitchFamily="34" charset="0"/>
              </a:rPr>
              <a:t>để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tăng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tính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năng</a:t>
            </a:r>
            <a:r>
              <a:rPr lang="en-US" sz="2400" kern="0" dirty="0" smtClean="0">
                <a:latin typeface="Verdana" pitchFamily="34" charset="0"/>
              </a:rPr>
              <a:t> (3D animation, SWF, …)</a:t>
            </a:r>
            <a:endParaRPr lang="en-US" sz="2000" kern="0" dirty="0" smtClean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URL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định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vị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các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tài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nguyên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trên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Internet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3246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12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0" y="685800"/>
            <a:ext cx="91440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b="1" kern="0" dirty="0" smtClean="0">
                <a:latin typeface="Verdana" pitchFamily="34" charset="0"/>
              </a:rPr>
              <a:t>URL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là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định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danh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duy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nhất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cho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các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tài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nguyên</a:t>
            </a:r>
            <a:r>
              <a:rPr lang="en-US" sz="2400" kern="0" dirty="0" smtClean="0">
                <a:latin typeface="Verdana" pitchFamily="34" charset="0"/>
              </a:rPr>
              <a:t> Internet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kern="0" dirty="0" err="1" smtClean="0">
                <a:latin typeface="Verdana" pitchFamily="34" charset="0"/>
              </a:rPr>
              <a:t>Chỉ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ra</a:t>
            </a:r>
            <a:r>
              <a:rPr lang="en-US" sz="2400" kern="0" dirty="0" smtClean="0">
                <a:latin typeface="Verdana" pitchFamily="34" charset="0"/>
              </a:rPr>
              <a:t>: 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4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Cách</a:t>
            </a:r>
            <a:r>
              <a:rPr lang="en-US" sz="24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truy</a:t>
            </a:r>
            <a:r>
              <a:rPr lang="en-US" sz="24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cập</a:t>
            </a:r>
            <a:endParaRPr lang="en-US" sz="2400" kern="0" dirty="0" smtClean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4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Vị</a:t>
            </a:r>
            <a:r>
              <a:rPr lang="en-US" sz="24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trí</a:t>
            </a:r>
            <a:r>
              <a:rPr lang="en-US" sz="24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tài</a:t>
            </a:r>
            <a:r>
              <a:rPr lang="en-US" sz="2400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</a:t>
            </a:r>
            <a:r>
              <a:rPr lang="en-US" sz="2400" kern="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nguyên</a:t>
            </a:r>
            <a:endParaRPr lang="en-US" sz="2400" kern="0" dirty="0" smtClean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kern="0" dirty="0" err="1" smtClean="0">
                <a:latin typeface="Verdana" pitchFamily="34" charset="0"/>
              </a:rPr>
              <a:t>Cú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pháp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chung</a:t>
            </a:r>
            <a:r>
              <a:rPr lang="en-US" sz="2400" kern="0" dirty="0" smtClean="0">
                <a:latin typeface="Verdana" pitchFamily="34" charset="0"/>
              </a:rPr>
              <a:t>:</a:t>
            </a:r>
          </a:p>
          <a:p>
            <a:pPr marL="677863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defRPr/>
            </a:pPr>
            <a:r>
              <a:rPr lang="en-US" sz="2000" b="1" kern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Protocol://host_name[:port_num][/path][/file_name]</a:t>
            </a:r>
            <a:endParaRPr lang="en-US" b="1" kern="0" dirty="0" smtClean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</a:endParaRPr>
          </a:p>
        </p:txBody>
      </p:sp>
      <p:pic>
        <p:nvPicPr>
          <p:cNvPr id="10" name="Picture 9" descr="P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24" y="4076700"/>
            <a:ext cx="7493876" cy="1181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5371969"/>
            <a:ext cx="9144000" cy="571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50000"/>
              </a:lnSpc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kern="0" dirty="0" smtClean="0">
                <a:latin typeface="Verdana" pitchFamily="34" charset="0"/>
              </a:rPr>
              <a:t>URL </a:t>
            </a:r>
            <a:r>
              <a:rPr lang="en-US" sz="2400" kern="0" dirty="0" err="1" smtClean="0">
                <a:latin typeface="Verdana" pitchFamily="34" charset="0"/>
              </a:rPr>
              <a:t>không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bao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giờ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chứa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khoảng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trắng</a:t>
            </a:r>
            <a:endParaRPr lang="en-US" sz="2400" kern="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Các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giao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tác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chuẩn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trên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web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13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11" name="Picture 10" descr="Cac thao tac chuan tren we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33882"/>
            <a:ext cx="8839200" cy="52105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0" y="990600"/>
            <a:ext cx="9144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0" y="533400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b="1" kern="0" dirty="0" smtClean="0">
                <a:latin typeface="Verdana" pitchFamily="34" charset="0"/>
              </a:rPr>
              <a:t>World Wide Web - www</a:t>
            </a:r>
            <a:endParaRPr lang="en-US" sz="2400" kern="0" dirty="0" smtClean="0">
              <a:latin typeface="Verdana" pitchFamily="34" charset="0"/>
            </a:endParaRP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Các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dịch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vụ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trên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web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14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1219200"/>
            <a:ext cx="6705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0" y="990600"/>
            <a:ext cx="9144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0" y="533400"/>
            <a:ext cx="9144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kern="0" dirty="0" err="1" smtClean="0">
                <a:latin typeface="Verdana" pitchFamily="34" charset="0"/>
              </a:rPr>
              <a:t>Thư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điện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tử</a:t>
            </a:r>
            <a:r>
              <a:rPr lang="en-US" sz="2400" kern="0" dirty="0" smtClean="0">
                <a:latin typeface="Verdana" pitchFamily="34" charset="0"/>
              </a:rPr>
              <a:t> - email (Electronic mail)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400" kern="0" dirty="0" err="1" smtClean="0">
                <a:latin typeface="Verdana" pitchFamily="34" charset="0"/>
              </a:rPr>
              <a:t>Là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dịch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vụ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trao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đổi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các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thông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điểm</a:t>
            </a:r>
            <a:r>
              <a:rPr lang="en-US" sz="2400" kern="0" dirty="0" smtClean="0">
                <a:latin typeface="Verdana" pitchFamily="34" charset="0"/>
              </a:rPr>
              <a:t> qua </a:t>
            </a:r>
            <a:r>
              <a:rPr lang="en-US" sz="2400" kern="0" dirty="0" err="1" smtClean="0">
                <a:latin typeface="Verdana" pitchFamily="34" charset="0"/>
              </a:rPr>
              <a:t>mạng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viễn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thông</a:t>
            </a:r>
            <a:endParaRPr lang="en-US" sz="2400" kern="0" dirty="0" smtClean="0">
              <a:latin typeface="Verdana" pitchFamily="34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400" kern="0" dirty="0" err="1" smtClean="0">
                <a:latin typeface="Verdana" pitchFamily="34" charset="0"/>
              </a:rPr>
              <a:t>Sử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dụng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giao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thức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800" kern="0" dirty="0" smtClean="0">
                <a:latin typeface="Verdana" pitchFamily="34" charset="0"/>
              </a:rPr>
              <a:t>SMTP/POP3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để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gởi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nhận</a:t>
            </a:r>
            <a:r>
              <a:rPr lang="en-US" sz="2400" kern="0" dirty="0" smtClean="0">
                <a:latin typeface="Verdana" pitchFamily="34" charset="0"/>
              </a:rPr>
              <a:t> email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400" kern="0" dirty="0" err="1" smtClean="0">
                <a:latin typeface="Verdana" pitchFamily="34" charset="0"/>
              </a:rPr>
              <a:t>Địa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chỉ</a:t>
            </a:r>
            <a:r>
              <a:rPr lang="en-US" sz="2400" kern="0" dirty="0" smtClean="0">
                <a:latin typeface="Verdana" pitchFamily="34" charset="0"/>
              </a:rPr>
              <a:t> email </a:t>
            </a:r>
            <a:r>
              <a:rPr lang="en-US" sz="2400" kern="0" dirty="0" err="1" smtClean="0">
                <a:latin typeface="Verdana" pitchFamily="34" charset="0"/>
              </a:rPr>
              <a:t>có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dạng</a:t>
            </a:r>
            <a:r>
              <a:rPr lang="en-US" sz="2400" kern="0" dirty="0" smtClean="0">
                <a:latin typeface="Verdana" pitchFamily="34" charset="0"/>
              </a:rPr>
              <a:t>: </a:t>
            </a:r>
            <a:r>
              <a:rPr lang="en-US" sz="2400" kern="0" dirty="0" err="1" smtClean="0">
                <a:latin typeface="Verdana" pitchFamily="34" charset="0"/>
              </a:rPr>
              <a:t>name@domain_name</a:t>
            </a:r>
            <a:r>
              <a:rPr lang="en-US" sz="2400" kern="0" dirty="0" smtClean="0">
                <a:latin typeface="Verdana" pitchFamily="34" charset="0"/>
              </a:rPr>
              <a:t> 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400" kern="0" dirty="0" err="1" smtClean="0">
                <a:latin typeface="Verdana" pitchFamily="34" charset="0"/>
              </a:rPr>
              <a:t>Được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quản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lý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bởi</a:t>
            </a:r>
            <a:r>
              <a:rPr lang="en-US" sz="2400" kern="0" dirty="0" smtClean="0">
                <a:latin typeface="Verdana" pitchFamily="34" charset="0"/>
              </a:rPr>
              <a:t> Mail Server ( &lt;&gt; </a:t>
            </a:r>
            <a:r>
              <a:rPr lang="en-US" sz="2400" kern="0" dirty="0" err="1" smtClean="0">
                <a:latin typeface="Verdana" pitchFamily="34" charset="0"/>
              </a:rPr>
              <a:t>MailClient</a:t>
            </a:r>
            <a:r>
              <a:rPr lang="en-US" sz="2400" kern="0" dirty="0" smtClean="0">
                <a:latin typeface="Verdana" pitchFamily="34" charset="0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kern="0" dirty="0" err="1" smtClean="0">
                <a:latin typeface="Verdana" pitchFamily="34" charset="0"/>
              </a:rPr>
              <a:t>Truyền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tải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tập</a:t>
            </a:r>
            <a:r>
              <a:rPr lang="en-US" sz="2400" kern="0" dirty="0" smtClean="0">
                <a:latin typeface="Verdana" pitchFamily="34" charset="0"/>
              </a:rPr>
              <a:t> tin – FTP – File Transfer Protocol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200" kern="0" dirty="0" err="1" smtClean="0">
                <a:latin typeface="Verdana" pitchFamily="34" charset="0"/>
              </a:rPr>
              <a:t>Là</a:t>
            </a:r>
            <a:r>
              <a:rPr lang="en-US" sz="2200" kern="0" dirty="0" smtClean="0">
                <a:latin typeface="Verdana" pitchFamily="34" charset="0"/>
              </a:rPr>
              <a:t> </a:t>
            </a:r>
            <a:r>
              <a:rPr lang="en-US" sz="2200" kern="0" dirty="0" err="1" smtClean="0">
                <a:latin typeface="Verdana" pitchFamily="34" charset="0"/>
              </a:rPr>
              <a:t>dịch</a:t>
            </a:r>
            <a:r>
              <a:rPr lang="en-US" sz="2200" kern="0" dirty="0" smtClean="0">
                <a:latin typeface="Verdana" pitchFamily="34" charset="0"/>
              </a:rPr>
              <a:t> </a:t>
            </a:r>
            <a:r>
              <a:rPr lang="en-US" sz="2200" kern="0" dirty="0" err="1" smtClean="0">
                <a:latin typeface="Verdana" pitchFamily="34" charset="0"/>
              </a:rPr>
              <a:t>vụ</a:t>
            </a:r>
            <a:r>
              <a:rPr lang="en-US" sz="2200" kern="0" dirty="0" smtClean="0">
                <a:latin typeface="Verdana" pitchFamily="34" charset="0"/>
              </a:rPr>
              <a:t> </a:t>
            </a:r>
            <a:r>
              <a:rPr lang="en-US" sz="2200" kern="0" dirty="0" err="1" smtClean="0">
                <a:latin typeface="Verdana" pitchFamily="34" charset="0"/>
              </a:rPr>
              <a:t>trao</a:t>
            </a:r>
            <a:r>
              <a:rPr lang="en-US" sz="2200" kern="0" dirty="0" smtClean="0">
                <a:latin typeface="Verdana" pitchFamily="34" charset="0"/>
              </a:rPr>
              <a:t> </a:t>
            </a:r>
            <a:r>
              <a:rPr lang="en-US" sz="2200" kern="0" dirty="0" err="1" smtClean="0">
                <a:latin typeface="Verdana" pitchFamily="34" charset="0"/>
              </a:rPr>
              <a:t>đổi</a:t>
            </a:r>
            <a:r>
              <a:rPr lang="en-US" sz="2200" kern="0" dirty="0" smtClean="0">
                <a:latin typeface="Verdana" pitchFamily="34" charset="0"/>
              </a:rPr>
              <a:t> </a:t>
            </a:r>
            <a:r>
              <a:rPr lang="en-US" sz="2200" kern="0" dirty="0" err="1" smtClean="0">
                <a:latin typeface="Verdana" pitchFamily="34" charset="0"/>
              </a:rPr>
              <a:t>các</a:t>
            </a:r>
            <a:r>
              <a:rPr lang="en-US" sz="2200" kern="0" dirty="0" smtClean="0">
                <a:latin typeface="Verdana" pitchFamily="34" charset="0"/>
              </a:rPr>
              <a:t> </a:t>
            </a:r>
            <a:r>
              <a:rPr lang="en-US" sz="2200" kern="0" dirty="0" err="1" smtClean="0">
                <a:latin typeface="Verdana" pitchFamily="34" charset="0"/>
              </a:rPr>
              <a:t>tập</a:t>
            </a:r>
            <a:r>
              <a:rPr lang="en-US" sz="2200" kern="0" dirty="0" smtClean="0">
                <a:latin typeface="Verdana" pitchFamily="34" charset="0"/>
              </a:rPr>
              <a:t> tin </a:t>
            </a:r>
            <a:r>
              <a:rPr lang="en-US" sz="2200" kern="0" dirty="0" err="1" smtClean="0">
                <a:latin typeface="Verdana" pitchFamily="34" charset="0"/>
              </a:rPr>
              <a:t>giữa</a:t>
            </a:r>
            <a:r>
              <a:rPr lang="en-US" sz="2200" kern="0" dirty="0" smtClean="0">
                <a:latin typeface="Verdana" pitchFamily="34" charset="0"/>
              </a:rPr>
              <a:t> </a:t>
            </a:r>
            <a:r>
              <a:rPr lang="en-US" sz="2200" kern="0" dirty="0" err="1" smtClean="0">
                <a:latin typeface="Verdana" pitchFamily="34" charset="0"/>
              </a:rPr>
              <a:t>các</a:t>
            </a:r>
            <a:r>
              <a:rPr lang="en-US" sz="2200" kern="0" dirty="0" smtClean="0">
                <a:latin typeface="Verdana" pitchFamily="34" charset="0"/>
              </a:rPr>
              <a:t> </a:t>
            </a:r>
            <a:r>
              <a:rPr lang="en-US" sz="2200" kern="0" dirty="0" err="1" smtClean="0">
                <a:latin typeface="Verdana" pitchFamily="34" charset="0"/>
              </a:rPr>
              <a:t>máy</a:t>
            </a:r>
            <a:r>
              <a:rPr lang="en-US" sz="2200" kern="0" dirty="0" smtClean="0">
                <a:latin typeface="Verdana" pitchFamily="34" charset="0"/>
              </a:rPr>
              <a:t> </a:t>
            </a:r>
            <a:r>
              <a:rPr lang="en-US" sz="2200" kern="0" dirty="0" err="1" smtClean="0">
                <a:latin typeface="Verdana" pitchFamily="34" charset="0"/>
              </a:rPr>
              <a:t>tính</a:t>
            </a:r>
            <a:r>
              <a:rPr lang="en-US" sz="2200" kern="0" dirty="0" smtClean="0">
                <a:latin typeface="Verdana" pitchFamily="34" charset="0"/>
              </a:rPr>
              <a:t> </a:t>
            </a:r>
            <a:r>
              <a:rPr lang="en-US" sz="2200" kern="0" dirty="0" err="1" smtClean="0">
                <a:latin typeface="Verdana" pitchFamily="34" charset="0"/>
              </a:rPr>
              <a:t>trên</a:t>
            </a:r>
            <a:r>
              <a:rPr lang="en-US" sz="2200" kern="0" dirty="0" smtClean="0">
                <a:latin typeface="Verdana" pitchFamily="34" charset="0"/>
              </a:rPr>
              <a:t> Internet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kern="0" dirty="0" err="1" smtClean="0">
                <a:latin typeface="Verdana" pitchFamily="34" charset="0"/>
              </a:rPr>
              <a:t>Tán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ngẫu</a:t>
            </a:r>
            <a:r>
              <a:rPr lang="en-US" sz="2400" kern="0" dirty="0" smtClean="0">
                <a:latin typeface="Verdana" pitchFamily="34" charset="0"/>
              </a:rPr>
              <a:t> – Chat – Yahoo Messenger / Google Talk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Các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dịch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vụ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trên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Internet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15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/>
          <p:cNvSpPr>
            <a:spLocks noGrp="1"/>
          </p:cNvSpPr>
          <p:nvPr>
            <p:ph type="title"/>
          </p:nvPr>
        </p:nvSpPr>
        <p:spPr>
          <a:xfrm>
            <a:off x="685800" y="457200"/>
            <a:ext cx="8001000" cy="563563"/>
          </a:xfrm>
        </p:spPr>
        <p:txBody>
          <a:bodyPr/>
          <a:lstStyle/>
          <a:p>
            <a:pPr marL="742950" lvl="1" indent="-285750">
              <a:spcBef>
                <a:spcPct val="20000"/>
              </a:spcBef>
              <a:defRPr/>
            </a:pPr>
            <a:r>
              <a:rPr lang="en-US" sz="2400" b="1" dirty="0" smtClean="0">
                <a:latin typeface="Verdana" pitchFamily="34" charset="0"/>
              </a:rPr>
              <a:t>Google</a:t>
            </a:r>
          </a:p>
        </p:txBody>
      </p:sp>
      <p:sp>
        <p:nvSpPr>
          <p:cNvPr id="1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16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0" y="990600"/>
            <a:ext cx="9144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</p:txBody>
      </p:sp>
      <p:pic>
        <p:nvPicPr>
          <p:cNvPr id="13" name="Picture 12" descr="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7648"/>
            <a:ext cx="8610600" cy="4482703"/>
          </a:xfrm>
          <a:prstGeom prst="rect">
            <a:avLst/>
          </a:prstGeom>
        </p:spPr>
      </p:pic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Tra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cứu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thông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tin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trên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Internet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0" y="990600"/>
            <a:ext cx="9144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0" y="838200"/>
            <a:ext cx="9144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kern="0" dirty="0" smtClean="0">
                <a:latin typeface="Verdana" pitchFamily="34" charset="0"/>
              </a:rPr>
              <a:t>Download website offline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000" kern="0" dirty="0" smtClean="0">
                <a:latin typeface="Verdana" pitchFamily="34" charset="0"/>
              </a:rPr>
              <a:t>Cho </a:t>
            </a:r>
            <a:r>
              <a:rPr lang="en-US" sz="2000" kern="0" dirty="0" err="1" smtClean="0">
                <a:latin typeface="Verdana" pitchFamily="34" charset="0"/>
              </a:rPr>
              <a:t>phép</a:t>
            </a:r>
            <a:r>
              <a:rPr lang="en-US" sz="2000" kern="0" dirty="0" smtClean="0">
                <a:latin typeface="Verdana" pitchFamily="34" charset="0"/>
              </a:rPr>
              <a:t> download website </a:t>
            </a:r>
            <a:r>
              <a:rPr lang="en-US" sz="2000" kern="0" dirty="0" err="1" smtClean="0">
                <a:latin typeface="Verdana" pitchFamily="34" charset="0"/>
              </a:rPr>
              <a:t>về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và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truy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cập</a:t>
            </a:r>
            <a:r>
              <a:rPr lang="en-US" sz="2000" kern="0" dirty="0" smtClean="0">
                <a:latin typeface="Verdana" pitchFamily="34" charset="0"/>
              </a:rPr>
              <a:t> offline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000" kern="0" dirty="0" smtClean="0">
                <a:latin typeface="Verdana" pitchFamily="34" charset="0"/>
              </a:rPr>
              <a:t>Teleport Pro – </a:t>
            </a:r>
            <a:r>
              <a:rPr lang="en-US" sz="2000" kern="0" dirty="0" smtClean="0">
                <a:latin typeface="Verdana" pitchFamily="34" charset="0"/>
                <a:hlinkClick r:id="rId3"/>
              </a:rPr>
              <a:t>http://www.tenmax.com</a:t>
            </a:r>
            <a:endParaRPr lang="en-US" sz="2000" kern="0" dirty="0" smtClean="0">
              <a:latin typeface="Verdana" pitchFamily="34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000" kern="0" dirty="0" smtClean="0">
                <a:latin typeface="Verdana" pitchFamily="34" charset="0"/>
              </a:rPr>
              <a:t>Offline Explorer Enterprise: </a:t>
            </a:r>
            <a:r>
              <a:rPr lang="en-US" sz="2000" kern="0" dirty="0" smtClean="0">
                <a:latin typeface="Verdana" pitchFamily="34" charset="0"/>
                <a:hlinkClick r:id="rId4"/>
              </a:rPr>
              <a:t>http://www.metaproducts.com</a:t>
            </a:r>
            <a:endParaRPr lang="en-US" sz="2000" kern="0" dirty="0" smtClean="0">
              <a:latin typeface="Verdana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kern="0" dirty="0" smtClean="0">
                <a:latin typeface="Verdana" pitchFamily="34" charset="0"/>
              </a:rPr>
              <a:t>Download file: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000" kern="0" dirty="0" err="1" smtClean="0">
                <a:latin typeface="Verdana" pitchFamily="34" charset="0"/>
              </a:rPr>
              <a:t>FlashGet</a:t>
            </a:r>
            <a:r>
              <a:rPr lang="en-US" sz="2000" kern="0" dirty="0" smtClean="0">
                <a:latin typeface="Verdana" pitchFamily="34" charset="0"/>
              </a:rPr>
              <a:t> – </a:t>
            </a:r>
            <a:r>
              <a:rPr lang="en-US" sz="2000" kern="0" dirty="0" smtClean="0">
                <a:latin typeface="Verdana" pitchFamily="34" charset="0"/>
                <a:hlinkClick r:id="rId5"/>
              </a:rPr>
              <a:t>www.flashget.com</a:t>
            </a:r>
            <a:endParaRPr lang="en-US" sz="2000" kern="0" dirty="0" smtClean="0">
              <a:latin typeface="Verdana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1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kern="0" dirty="0" err="1" smtClean="0">
                <a:latin typeface="Verdana" pitchFamily="34" charset="0"/>
              </a:rPr>
              <a:t>Tìm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400" kern="0" dirty="0" err="1" smtClean="0">
                <a:latin typeface="Verdana" pitchFamily="34" charset="0"/>
              </a:rPr>
              <a:t>kiếm</a:t>
            </a:r>
            <a:r>
              <a:rPr lang="en-US" sz="2400" kern="0" dirty="0" smtClean="0">
                <a:latin typeface="Verdana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2000" kern="0" dirty="0" err="1" smtClean="0">
                <a:latin typeface="Verdana" pitchFamily="34" charset="0"/>
              </a:rPr>
              <a:t>Copernic</a:t>
            </a:r>
            <a:r>
              <a:rPr lang="en-US" sz="2000" kern="0" dirty="0" smtClean="0">
                <a:latin typeface="Verdana" pitchFamily="34" charset="0"/>
              </a:rPr>
              <a:t> – </a:t>
            </a:r>
            <a:r>
              <a:rPr lang="en-US" sz="2000" kern="0" dirty="0" smtClean="0">
                <a:latin typeface="Verdana" pitchFamily="34" charset="0"/>
                <a:hlinkClick r:id="rId6"/>
              </a:rPr>
              <a:t>www.copernic.com</a:t>
            </a:r>
            <a:r>
              <a:rPr lang="en-US" sz="2000" kern="0" dirty="0" smtClean="0">
                <a:latin typeface="Verdana" pitchFamily="34" charset="0"/>
              </a:rPr>
              <a:t>: </a:t>
            </a:r>
            <a:r>
              <a:rPr lang="en-US" sz="2000" kern="0" dirty="0" err="1" smtClean="0">
                <a:latin typeface="Verdana" pitchFamily="34" charset="0"/>
              </a:rPr>
              <a:t>hỗ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trợ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tìm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kiếm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thông</a:t>
            </a:r>
            <a:r>
              <a:rPr lang="en-US" sz="2000" kern="0" dirty="0" smtClean="0">
                <a:latin typeface="Verdana" pitchFamily="34" charset="0"/>
              </a:rPr>
              <a:t> minh </a:t>
            </a:r>
            <a:r>
              <a:rPr lang="en-US" sz="2000" kern="0" dirty="0" err="1" smtClean="0">
                <a:latin typeface="Verdana" pitchFamily="34" charset="0"/>
              </a:rPr>
              <a:t>trên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nhiều</a:t>
            </a:r>
            <a:r>
              <a:rPr lang="en-US" sz="2000" kern="0" dirty="0" smtClean="0">
                <a:latin typeface="Verdana" pitchFamily="34" charset="0"/>
              </a:rPr>
              <a:t> Search Engine </a:t>
            </a:r>
            <a:r>
              <a:rPr lang="en-US" sz="2000" kern="0" dirty="0" err="1" smtClean="0">
                <a:latin typeface="Verdana" pitchFamily="34" charset="0"/>
              </a:rPr>
              <a:t>cùng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lúc</a:t>
            </a:r>
            <a:r>
              <a:rPr lang="en-US" sz="2000" kern="0" dirty="0" smtClean="0">
                <a:latin typeface="Verdana" pitchFamily="34" charset="0"/>
              </a:rPr>
              <a:t>, </a:t>
            </a:r>
            <a:r>
              <a:rPr lang="en-US" sz="2000" kern="0" dirty="0" err="1" smtClean="0">
                <a:latin typeface="Verdana" pitchFamily="34" charset="0"/>
              </a:rPr>
              <a:t>và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loại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bot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kết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quả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trùng</a:t>
            </a:r>
            <a:r>
              <a:rPr lang="en-US" sz="2000" kern="0" dirty="0" smtClean="0">
                <a:latin typeface="Verdana" pitchFamily="34" charset="0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endParaRPr lang="en-US" sz="2400" kern="0" dirty="0" smtClean="0">
              <a:latin typeface="Verdana" pitchFamily="34" charset="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Một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số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công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cụ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khai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thác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tài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nguyên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Internet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17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0" y="990600"/>
            <a:ext cx="9144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0" y="762000"/>
            <a:ext cx="9144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b="1" kern="0" dirty="0" smtClean="0">
                <a:latin typeface="Verdana" pitchFamily="34" charset="0"/>
              </a:rPr>
              <a:t>Internet: </a:t>
            </a:r>
            <a:r>
              <a:rPr lang="en-US" sz="2000" kern="0" dirty="0" err="1" smtClean="0">
                <a:latin typeface="Verdana" pitchFamily="34" charset="0"/>
              </a:rPr>
              <a:t>Mạng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máy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tính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toàn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cầu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kết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nối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mạng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máy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tính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khắp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nơi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trên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thế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giới</a:t>
            </a:r>
            <a:r>
              <a:rPr lang="en-US" sz="2000" kern="0" dirty="0" smtClean="0">
                <a:latin typeface="Verdana" pitchFamily="34" charset="0"/>
              </a:rPr>
              <a:t>. </a:t>
            </a:r>
            <a:r>
              <a:rPr lang="en-US" sz="2000" kern="0" dirty="0" err="1" smtClean="0">
                <a:latin typeface="Verdana" pitchFamily="34" charset="0"/>
              </a:rPr>
              <a:t>Tập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giao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thức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được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dùng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gọi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chung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là</a:t>
            </a:r>
            <a:r>
              <a:rPr lang="en-US" sz="2000" kern="0" dirty="0" smtClean="0">
                <a:latin typeface="Verdana" pitchFamily="34" charset="0"/>
              </a:rPr>
              <a:t> TCP/IP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b="1" kern="0" dirty="0" smtClean="0">
                <a:latin typeface="Verdana" pitchFamily="34" charset="0"/>
              </a:rPr>
              <a:t>Intranet: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Mạng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cục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bộ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có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kiến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trúc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tương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tự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mạng</a:t>
            </a:r>
            <a:r>
              <a:rPr lang="en-US" sz="2000" kern="0" dirty="0" smtClean="0">
                <a:latin typeface="Verdana" pitchFamily="34" charset="0"/>
              </a:rPr>
              <a:t> Internet.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b="1" kern="0" dirty="0" smtClean="0">
                <a:latin typeface="Verdana" pitchFamily="34" charset="0"/>
              </a:rPr>
              <a:t>Website: </a:t>
            </a:r>
            <a:r>
              <a:rPr lang="en-US" sz="2000" kern="0" dirty="0" err="1" smtClean="0">
                <a:latin typeface="Verdana" pitchFamily="34" charset="0"/>
              </a:rPr>
              <a:t>Tập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hợp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trang</a:t>
            </a:r>
            <a:r>
              <a:rPr lang="en-US" sz="2000" kern="0" dirty="0" smtClean="0">
                <a:latin typeface="Verdana" pitchFamily="34" charset="0"/>
              </a:rPr>
              <a:t> web. Website </a:t>
            </a:r>
            <a:r>
              <a:rPr lang="en-US" sz="2000" kern="0" dirty="0" err="1" smtClean="0">
                <a:latin typeface="Verdana" pitchFamily="34" charset="0"/>
              </a:rPr>
              <a:t>của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tổ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chức</a:t>
            </a:r>
            <a:r>
              <a:rPr lang="en-US" sz="2000" kern="0" dirty="0" smtClean="0">
                <a:latin typeface="Verdana" pitchFamily="34" charset="0"/>
              </a:rPr>
              <a:t> hay </a:t>
            </a:r>
            <a:r>
              <a:rPr lang="en-US" sz="2000" kern="0" dirty="0" err="1" smtClean="0">
                <a:latin typeface="Verdana" pitchFamily="34" charset="0"/>
              </a:rPr>
              <a:t>cá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nhân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trên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mạng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bao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gồm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tập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hợp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trang</a:t>
            </a:r>
            <a:r>
              <a:rPr lang="en-US" sz="2000" kern="0" dirty="0" smtClean="0">
                <a:latin typeface="Verdana" pitchFamily="34" charset="0"/>
              </a:rPr>
              <a:t> web </a:t>
            </a:r>
            <a:r>
              <a:rPr lang="en-US" sz="2000" kern="0" dirty="0" err="1" smtClean="0">
                <a:latin typeface="Verdana" pitchFamily="34" charset="0"/>
              </a:rPr>
              <a:t>liên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quan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err="1" smtClean="0">
                <a:latin typeface="Verdana" pitchFamily="34" charset="0"/>
              </a:rPr>
              <a:t>đến</a:t>
            </a:r>
            <a:r>
              <a:rPr lang="en-US" sz="2000" kern="0" smtClean="0">
                <a:latin typeface="Verdana" pitchFamily="34" charset="0"/>
              </a:rPr>
              <a:t> tổ chức </a:t>
            </a:r>
            <a:r>
              <a:rPr lang="en-US" sz="2000" kern="0" dirty="0" err="1" smtClean="0">
                <a:latin typeface="Verdana" pitchFamily="34" charset="0"/>
              </a:rPr>
              <a:t>này</a:t>
            </a:r>
            <a:r>
              <a:rPr lang="en-US" sz="2000" kern="0" dirty="0" smtClean="0">
                <a:latin typeface="Verdana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b="1" kern="0" dirty="0" smtClean="0">
                <a:latin typeface="Verdana" pitchFamily="34" charset="0"/>
              </a:rPr>
              <a:t>Webpage: </a:t>
            </a:r>
            <a:r>
              <a:rPr lang="en-US" sz="2000" kern="0" dirty="0" err="1" smtClean="0">
                <a:latin typeface="Verdana" pitchFamily="34" charset="0"/>
              </a:rPr>
              <a:t>Là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trang</a:t>
            </a:r>
            <a:r>
              <a:rPr lang="en-US" sz="2000" kern="0" dirty="0" smtClean="0">
                <a:latin typeface="Verdana" pitchFamily="34" charset="0"/>
              </a:rPr>
              <a:t> web. </a:t>
            </a:r>
            <a:r>
              <a:rPr lang="en-US" sz="2000" kern="0" dirty="0" err="1" smtClean="0">
                <a:latin typeface="Verdana" pitchFamily="34" charset="0"/>
              </a:rPr>
              <a:t>Có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thể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hiển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thị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thông</a:t>
            </a:r>
            <a:r>
              <a:rPr lang="en-US" sz="2000" kern="0" dirty="0" smtClean="0">
                <a:latin typeface="Verdana" pitchFamily="34" charset="0"/>
              </a:rPr>
              <a:t> tin </a:t>
            </a:r>
            <a:r>
              <a:rPr lang="en-US" sz="2000" kern="0" dirty="0" err="1" smtClean="0">
                <a:latin typeface="Verdana" pitchFamily="34" charset="0"/>
              </a:rPr>
              <a:t>dưới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dạng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văn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bản</a:t>
            </a:r>
            <a:r>
              <a:rPr lang="en-US" sz="2000" kern="0" dirty="0" smtClean="0">
                <a:latin typeface="Verdana" pitchFamily="34" charset="0"/>
              </a:rPr>
              <a:t>, </a:t>
            </a:r>
            <a:r>
              <a:rPr lang="en-US" sz="2000" kern="0" dirty="0" err="1" smtClean="0">
                <a:latin typeface="Verdana" pitchFamily="34" charset="0"/>
              </a:rPr>
              <a:t>hình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cảnh</a:t>
            </a:r>
            <a:r>
              <a:rPr lang="en-US" sz="2000" kern="0" dirty="0" smtClean="0">
                <a:latin typeface="Verdana" pitchFamily="34" charset="0"/>
              </a:rPr>
              <a:t>, </a:t>
            </a:r>
            <a:r>
              <a:rPr lang="en-US" sz="2000" kern="0" dirty="0" err="1" smtClean="0">
                <a:latin typeface="Verdana" pitchFamily="34" charset="0"/>
              </a:rPr>
              <a:t>âm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thanh</a:t>
            </a:r>
            <a:r>
              <a:rPr lang="en-US" sz="2000" kern="0" dirty="0" smtClean="0">
                <a:latin typeface="Verdana" pitchFamily="34" charset="0"/>
              </a:rPr>
              <a:t> ..</a:t>
            </a:r>
            <a:r>
              <a:rPr lang="en-US" sz="2400" kern="0" dirty="0" smtClean="0">
                <a:latin typeface="Verdana" pitchFamily="34" charset="0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endParaRPr lang="en-US" sz="2400" kern="0" dirty="0" smtClean="0">
              <a:latin typeface="Verdana" pitchFamily="34" charset="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Một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số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thuật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ngữ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thông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dụng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18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0" y="990600"/>
            <a:ext cx="9144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0" y="990600"/>
            <a:ext cx="9144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b="1" kern="0" dirty="0" smtClean="0">
                <a:latin typeface="Verdana" pitchFamily="34" charset="0"/>
              </a:rPr>
              <a:t>Web browser: </a:t>
            </a:r>
            <a:r>
              <a:rPr lang="en-US" sz="2000" kern="0" dirty="0" err="1" smtClean="0">
                <a:latin typeface="Verdana" pitchFamily="34" charset="0"/>
              </a:rPr>
              <a:t>Trình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duyệt</a:t>
            </a:r>
            <a:r>
              <a:rPr lang="en-US" sz="2000" kern="0" dirty="0" smtClean="0">
                <a:latin typeface="Verdana" pitchFamily="34" charset="0"/>
              </a:rPr>
              <a:t> web, </a:t>
            </a:r>
            <a:r>
              <a:rPr lang="en-US" sz="2000" kern="0" dirty="0" err="1" smtClean="0">
                <a:latin typeface="Verdana" pitchFamily="34" charset="0"/>
              </a:rPr>
              <a:t>dùng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để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hiển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thị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trang</a:t>
            </a:r>
            <a:r>
              <a:rPr lang="en-US" sz="2000" kern="0" dirty="0" smtClean="0">
                <a:latin typeface="Verdana" pitchFamily="34" charset="0"/>
              </a:rPr>
              <a:t> web.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web browser </a:t>
            </a:r>
            <a:r>
              <a:rPr lang="en-US" sz="2000" kern="0" dirty="0" err="1" smtClean="0">
                <a:latin typeface="Verdana" pitchFamily="34" charset="0"/>
              </a:rPr>
              <a:t>thông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dụng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hiện</a:t>
            </a:r>
            <a:r>
              <a:rPr lang="en-US" sz="2000" kern="0" dirty="0" smtClean="0">
                <a:latin typeface="Verdana" pitchFamily="34" charset="0"/>
              </a:rPr>
              <a:t> nay </a:t>
            </a:r>
            <a:r>
              <a:rPr lang="en-US" sz="2000" kern="0" dirty="0" err="1" smtClean="0">
                <a:latin typeface="Verdana" pitchFamily="34" charset="0"/>
              </a:rPr>
              <a:t>là</a:t>
            </a:r>
            <a:r>
              <a:rPr lang="en-US" sz="2000" kern="0" dirty="0" smtClean="0">
                <a:latin typeface="Verdana" pitchFamily="34" charset="0"/>
              </a:rPr>
              <a:t> IE </a:t>
            </a:r>
            <a:r>
              <a:rPr lang="en-US" sz="2000" kern="0" dirty="0" err="1" smtClean="0">
                <a:latin typeface="Verdana" pitchFamily="34" charset="0"/>
              </a:rPr>
              <a:t>và</a:t>
            </a:r>
            <a:r>
              <a:rPr lang="en-US" sz="2000" kern="0" dirty="0" smtClean="0">
                <a:latin typeface="Verdana" pitchFamily="34" charset="0"/>
              </a:rPr>
              <a:t> Firefox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endParaRPr lang="en-US" sz="2000" kern="0" dirty="0" smtClean="0">
              <a:latin typeface="Verdana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endParaRPr lang="en-US" sz="2400" b="1" kern="0" dirty="0" smtClean="0">
              <a:latin typeface="Verdana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b="1" kern="0" dirty="0" smtClean="0">
                <a:latin typeface="Verdana" pitchFamily="34" charset="0"/>
              </a:rPr>
              <a:t>Homepage: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Trang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chủ</a:t>
            </a:r>
            <a:r>
              <a:rPr lang="en-US" sz="2000" kern="0" dirty="0" smtClean="0">
                <a:latin typeface="Verdana" pitchFamily="34" charset="0"/>
              </a:rPr>
              <a:t>. </a:t>
            </a:r>
            <a:r>
              <a:rPr lang="en-US" sz="2000" kern="0" dirty="0" err="1" smtClean="0">
                <a:latin typeface="Verdana" pitchFamily="34" charset="0"/>
              </a:rPr>
              <a:t>Thường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là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trang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đầu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tiên</a:t>
            </a:r>
            <a:r>
              <a:rPr lang="en-US" sz="2000" kern="0" dirty="0" smtClean="0">
                <a:latin typeface="Verdana" pitchFamily="34" charset="0"/>
              </a:rPr>
              <a:t> (</a:t>
            </a:r>
            <a:r>
              <a:rPr lang="en-US" sz="2000" kern="0" dirty="0" err="1" smtClean="0">
                <a:latin typeface="Verdana" pitchFamily="34" charset="0"/>
              </a:rPr>
              <a:t>mặc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định</a:t>
            </a:r>
            <a:r>
              <a:rPr lang="en-US" sz="2000" kern="0" dirty="0" smtClean="0">
                <a:latin typeface="Verdana" pitchFamily="34" charset="0"/>
              </a:rPr>
              <a:t>) </a:t>
            </a:r>
            <a:r>
              <a:rPr lang="en-US" sz="2000" kern="0" dirty="0" err="1" smtClean="0">
                <a:latin typeface="Verdana" pitchFamily="34" charset="0"/>
              </a:rPr>
              <a:t>khi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truy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cập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một</a:t>
            </a:r>
            <a:r>
              <a:rPr lang="en-US" sz="2000" kern="0" dirty="0" smtClean="0">
                <a:latin typeface="Verdana" pitchFamily="34" charset="0"/>
              </a:rPr>
              <a:t> website.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b="1" kern="0" dirty="0" smtClean="0">
                <a:latin typeface="Verdana" pitchFamily="34" charset="0"/>
              </a:rPr>
              <a:t>Hyperlink: </a:t>
            </a:r>
            <a:r>
              <a:rPr lang="en-US" sz="2000" kern="0" dirty="0" err="1" smtClean="0">
                <a:latin typeface="Verdana" pitchFamily="34" charset="0"/>
              </a:rPr>
              <a:t>siêu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liên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kết</a:t>
            </a:r>
            <a:r>
              <a:rPr lang="en-US" sz="2000" kern="0" dirty="0" smtClean="0">
                <a:latin typeface="Verdana" pitchFamily="34" charset="0"/>
              </a:rPr>
              <a:t>. </a:t>
            </a:r>
            <a:r>
              <a:rPr lang="en-US" sz="2000" kern="0" dirty="0" err="1" smtClean="0">
                <a:latin typeface="Verdana" pitchFamily="34" charset="0"/>
              </a:rPr>
              <a:t>Dùng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để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liên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kết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trang</a:t>
            </a:r>
            <a:r>
              <a:rPr lang="en-US" sz="2000" kern="0" dirty="0" smtClean="0">
                <a:latin typeface="Verdana" pitchFamily="34" charset="0"/>
              </a:rPr>
              <a:t> web </a:t>
            </a:r>
            <a:r>
              <a:rPr lang="en-US" sz="2000" kern="0" dirty="0" err="1" smtClean="0">
                <a:latin typeface="Verdana" pitchFamily="34" charset="0"/>
              </a:rPr>
              <a:t>và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dịch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vụ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của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website </a:t>
            </a:r>
            <a:r>
              <a:rPr lang="en-US" sz="2000" kern="0" dirty="0" err="1" smtClean="0">
                <a:latin typeface="Verdana" pitchFamily="34" charset="0"/>
              </a:rPr>
              <a:t>trên</a:t>
            </a:r>
            <a:r>
              <a:rPr lang="en-US" sz="2000" kern="0" dirty="0" smtClean="0">
                <a:latin typeface="Verdana" pitchFamily="34" charset="0"/>
              </a:rPr>
              <a:t> Internet.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b="1" kern="0" dirty="0" smtClean="0">
                <a:latin typeface="Verdana" pitchFamily="34" charset="0"/>
              </a:rPr>
              <a:t>ISP (Internet </a:t>
            </a:r>
            <a:r>
              <a:rPr lang="en-US" sz="2400" b="1" kern="0" dirty="0" smtClean="0">
                <a:latin typeface="Verdana" pitchFamily="34" charset="0"/>
              </a:rPr>
              <a:t>Service Provider</a:t>
            </a:r>
            <a:r>
              <a:rPr lang="en-US" sz="2400" b="1" kern="0" dirty="0" smtClean="0">
                <a:latin typeface="Verdana" pitchFamily="34" charset="0"/>
              </a:rPr>
              <a:t>): </a:t>
            </a:r>
            <a:r>
              <a:rPr lang="en-US" sz="2000" kern="0" dirty="0" err="1" smtClean="0">
                <a:latin typeface="Verdana" pitchFamily="34" charset="0"/>
              </a:rPr>
              <a:t>Nhà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cung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cấp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dịch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vụ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smtClean="0">
                <a:latin typeface="Verdana" pitchFamily="34" charset="0"/>
              </a:rPr>
              <a:t>Internet..</a:t>
            </a:r>
            <a:r>
              <a:rPr lang="en-US" sz="2400" kern="0" dirty="0" smtClean="0">
                <a:latin typeface="Verdana" pitchFamily="34" charset="0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endParaRPr lang="en-US" sz="2400" kern="0" dirty="0" smtClean="0">
              <a:latin typeface="Verdana" pitchFamily="34" charset="0"/>
            </a:endParaRPr>
          </a:p>
        </p:txBody>
      </p:sp>
      <p:pic>
        <p:nvPicPr>
          <p:cNvPr id="13" name="Picture 12" descr="br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333625"/>
            <a:ext cx="3971925" cy="561975"/>
          </a:xfrm>
          <a:prstGeom prst="rect">
            <a:avLst/>
          </a:prstGeom>
        </p:spPr>
      </p:pic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Một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số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thuật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ngữ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thông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dụng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19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3" name="Picture 2" descr="chrome_log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333626"/>
            <a:ext cx="548841" cy="53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0" y="990600"/>
            <a:ext cx="9144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0" y="990600"/>
            <a:ext cx="9144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b="1" kern="0" dirty="0" smtClean="0">
                <a:latin typeface="Verdana" pitchFamily="34" charset="0"/>
              </a:rPr>
              <a:t>ISP (Internet Service Provider): </a:t>
            </a:r>
            <a:r>
              <a:rPr lang="en-US" sz="2000" kern="0" dirty="0" err="1" smtClean="0">
                <a:latin typeface="Verdana" pitchFamily="34" charset="0"/>
              </a:rPr>
              <a:t>Nhà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cung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cấp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dịch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vụ</a:t>
            </a:r>
            <a:r>
              <a:rPr lang="en-US" sz="2000" kern="0" dirty="0" smtClean="0">
                <a:latin typeface="Verdana" pitchFamily="34" charset="0"/>
              </a:rPr>
              <a:t> Internet. </a:t>
            </a:r>
            <a:r>
              <a:rPr lang="en-US" sz="2000" kern="0" dirty="0" err="1" smtClean="0">
                <a:latin typeface="Verdana" pitchFamily="34" charset="0"/>
              </a:rPr>
              <a:t>Một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số</a:t>
            </a:r>
            <a:r>
              <a:rPr lang="en-US" sz="2000" kern="0" dirty="0" smtClean="0">
                <a:latin typeface="Verdana" pitchFamily="34" charset="0"/>
              </a:rPr>
              <a:t> ISP </a:t>
            </a:r>
            <a:r>
              <a:rPr lang="en-US" sz="2000" kern="0" dirty="0" err="1" smtClean="0">
                <a:latin typeface="Verdana" pitchFamily="34" charset="0"/>
              </a:rPr>
              <a:t>hiện</a:t>
            </a:r>
            <a:r>
              <a:rPr lang="en-US" sz="2000" kern="0" dirty="0" smtClean="0">
                <a:latin typeface="Verdana" pitchFamily="34" charset="0"/>
              </a:rPr>
              <a:t> nay ở </a:t>
            </a:r>
            <a:r>
              <a:rPr lang="en-US" sz="2000" kern="0" dirty="0" err="1" smtClean="0">
                <a:latin typeface="Verdana" pitchFamily="34" charset="0"/>
              </a:rPr>
              <a:t>Việt</a:t>
            </a:r>
            <a:r>
              <a:rPr lang="en-US" sz="2000" kern="0" dirty="0" smtClean="0">
                <a:latin typeface="Verdana" pitchFamily="34" charset="0"/>
              </a:rPr>
              <a:t> Nam: VDC, FPT, </a:t>
            </a:r>
            <a:r>
              <a:rPr lang="en-US" sz="2000" kern="0" dirty="0" err="1" smtClean="0">
                <a:latin typeface="Verdana" pitchFamily="34" charset="0"/>
              </a:rPr>
              <a:t>SaigonNet</a:t>
            </a:r>
            <a:r>
              <a:rPr lang="en-US" sz="2000" kern="0" dirty="0" smtClean="0">
                <a:latin typeface="Verdana" pitchFamily="34" charset="0"/>
              </a:rPr>
              <a:t>, VNPT, </a:t>
            </a:r>
            <a:r>
              <a:rPr lang="en-US" sz="2000" kern="0" dirty="0" err="1" smtClean="0">
                <a:latin typeface="Verdana" pitchFamily="34" charset="0"/>
              </a:rPr>
              <a:t>Viettel</a:t>
            </a:r>
            <a:r>
              <a:rPr lang="en-US" sz="2000" kern="0" dirty="0" smtClean="0">
                <a:latin typeface="Verdana" pitchFamily="34" charset="0"/>
              </a:rPr>
              <a:t>…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b="1" kern="0" dirty="0" smtClean="0">
                <a:latin typeface="Verdana" pitchFamily="34" charset="0"/>
              </a:rPr>
              <a:t>Search engines: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Máy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tìsm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kiếm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công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cụ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tìm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kiếm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hiện</a:t>
            </a:r>
            <a:r>
              <a:rPr lang="en-US" sz="2000" kern="0" dirty="0" smtClean="0">
                <a:latin typeface="Verdana" pitchFamily="34" charset="0"/>
              </a:rPr>
              <a:t> nay, Google, Wiki,….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b="1" kern="0" dirty="0" smtClean="0">
                <a:latin typeface="Verdana" pitchFamily="34" charset="0"/>
              </a:rPr>
              <a:t>HTTP, FTP, SMTP, POP3: </a:t>
            </a:r>
            <a:r>
              <a:rPr lang="en-US" sz="2000" kern="0" dirty="0" err="1" smtClean="0">
                <a:latin typeface="Verdana" pitchFamily="34" charset="0"/>
              </a:rPr>
              <a:t>Đây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là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giao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thức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được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dùng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cho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dịch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vụ</a:t>
            </a:r>
            <a:r>
              <a:rPr lang="en-US" sz="2000" kern="0" dirty="0" smtClean="0">
                <a:latin typeface="Verdana" pitchFamily="34" charset="0"/>
              </a:rPr>
              <a:t> web ftp, email </a:t>
            </a:r>
            <a:r>
              <a:rPr lang="en-US" sz="2000" kern="0" dirty="0" err="1" smtClean="0">
                <a:latin typeface="Verdana" pitchFamily="34" charset="0"/>
              </a:rPr>
              <a:t>trên</a:t>
            </a:r>
            <a:r>
              <a:rPr lang="en-US" sz="2000" kern="0" dirty="0" smtClean="0">
                <a:latin typeface="Verdana" pitchFamily="34" charset="0"/>
              </a:rPr>
              <a:t> Internet ..</a:t>
            </a:r>
            <a:r>
              <a:rPr lang="en-US" sz="2400" kern="0" dirty="0" smtClean="0">
                <a:latin typeface="Verdana" pitchFamily="34" charset="0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endParaRPr lang="en-US" sz="2400" kern="0" dirty="0" smtClean="0">
              <a:latin typeface="Verdana" pitchFamily="34" charset="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Một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số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thuật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ngữ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thông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dụng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20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0" y="990600"/>
            <a:ext cx="9144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endParaRPr lang="en-US" sz="2200" kern="0" smtClean="0">
              <a:latin typeface="Verdana" pitchFamily="34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0" y="990600"/>
            <a:ext cx="9144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b="1" kern="0" dirty="0" smtClean="0">
                <a:latin typeface="Verdana" pitchFamily="34" charset="0"/>
              </a:rPr>
              <a:t>ISP (Internet Service Provider): </a:t>
            </a:r>
            <a:r>
              <a:rPr lang="en-US" sz="2000" kern="0" dirty="0" err="1" smtClean="0">
                <a:latin typeface="Verdana" pitchFamily="34" charset="0"/>
              </a:rPr>
              <a:t>Nhà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cung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cấp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dịch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vụ</a:t>
            </a:r>
            <a:r>
              <a:rPr lang="en-US" sz="2000" kern="0" dirty="0" smtClean="0">
                <a:latin typeface="Verdana" pitchFamily="34" charset="0"/>
              </a:rPr>
              <a:t> Internet. </a:t>
            </a:r>
            <a:r>
              <a:rPr lang="en-US" sz="2000" kern="0" dirty="0" err="1" smtClean="0">
                <a:latin typeface="Verdana" pitchFamily="34" charset="0"/>
              </a:rPr>
              <a:t>Một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số</a:t>
            </a:r>
            <a:r>
              <a:rPr lang="en-US" sz="2000" kern="0" dirty="0" smtClean="0">
                <a:latin typeface="Verdana" pitchFamily="34" charset="0"/>
              </a:rPr>
              <a:t> ISP </a:t>
            </a:r>
            <a:r>
              <a:rPr lang="en-US" sz="2000" kern="0" dirty="0" err="1" smtClean="0">
                <a:latin typeface="Verdana" pitchFamily="34" charset="0"/>
              </a:rPr>
              <a:t>hiện</a:t>
            </a:r>
            <a:r>
              <a:rPr lang="en-US" sz="2000" kern="0" dirty="0" smtClean="0">
                <a:latin typeface="Verdana" pitchFamily="34" charset="0"/>
              </a:rPr>
              <a:t> nay ở </a:t>
            </a:r>
            <a:r>
              <a:rPr lang="en-US" sz="2000" kern="0" dirty="0" err="1" smtClean="0">
                <a:latin typeface="Verdana" pitchFamily="34" charset="0"/>
              </a:rPr>
              <a:t>Việt</a:t>
            </a:r>
            <a:r>
              <a:rPr lang="en-US" sz="2000" kern="0" dirty="0" smtClean="0">
                <a:latin typeface="Verdana" pitchFamily="34" charset="0"/>
              </a:rPr>
              <a:t> Nam: VDC, FPT, </a:t>
            </a:r>
            <a:r>
              <a:rPr lang="en-US" sz="2000" kern="0" dirty="0" err="1" smtClean="0">
                <a:latin typeface="Verdana" pitchFamily="34" charset="0"/>
              </a:rPr>
              <a:t>SaigonNet</a:t>
            </a:r>
            <a:r>
              <a:rPr lang="en-US" sz="2000" kern="0" dirty="0" smtClean="0">
                <a:latin typeface="Verdana" pitchFamily="34" charset="0"/>
              </a:rPr>
              <a:t>, VNPT, </a:t>
            </a:r>
            <a:r>
              <a:rPr lang="en-US" sz="2000" kern="0" dirty="0" err="1" smtClean="0">
                <a:latin typeface="Verdana" pitchFamily="34" charset="0"/>
              </a:rPr>
              <a:t>Viettel</a:t>
            </a:r>
            <a:r>
              <a:rPr lang="en-US" sz="2000" kern="0" dirty="0" smtClean="0">
                <a:latin typeface="Verdana" pitchFamily="34" charset="0"/>
              </a:rPr>
              <a:t>…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2400" b="1" kern="0" dirty="0" smtClean="0">
                <a:latin typeface="Verdana" pitchFamily="34" charset="0"/>
              </a:rPr>
              <a:t>Search engines:</a:t>
            </a:r>
            <a:r>
              <a:rPr lang="en-US" sz="24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Máy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tìm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kiếm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công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cụ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tìm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kiếm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hiện</a:t>
            </a:r>
            <a:r>
              <a:rPr lang="en-US" sz="2000" kern="0" dirty="0" smtClean="0">
                <a:latin typeface="Verdana" pitchFamily="34" charset="0"/>
              </a:rPr>
              <a:t> nay, Google, Wiki,….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chemeClr val="tx2"/>
              </a:buClr>
              <a:buFont typeface="Wingdings" pitchFamily="2" charset="2"/>
              <a:buChar char="§"/>
              <a:defRPr/>
            </a:pPr>
            <a:r>
              <a:rPr lang="en-US" sz="2400" b="1" kern="0" dirty="0" smtClean="0">
                <a:latin typeface="Verdana" pitchFamily="34" charset="0"/>
              </a:rPr>
              <a:t>HTTP, FTP, SMTP, POP3: </a:t>
            </a:r>
            <a:r>
              <a:rPr lang="en-US" sz="2000" kern="0" dirty="0" err="1" smtClean="0">
                <a:latin typeface="Verdana" pitchFamily="34" charset="0"/>
              </a:rPr>
              <a:t>Đây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là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giao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thức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được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dùng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cho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các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dịch</a:t>
            </a:r>
            <a:r>
              <a:rPr lang="en-US" sz="2000" kern="0" dirty="0" smtClean="0">
                <a:latin typeface="Verdana" pitchFamily="34" charset="0"/>
              </a:rPr>
              <a:t> </a:t>
            </a:r>
            <a:r>
              <a:rPr lang="en-US" sz="2000" kern="0" dirty="0" err="1" smtClean="0">
                <a:latin typeface="Verdana" pitchFamily="34" charset="0"/>
              </a:rPr>
              <a:t>vụ</a:t>
            </a:r>
            <a:r>
              <a:rPr lang="en-US" sz="2000" kern="0" dirty="0" smtClean="0">
                <a:latin typeface="Verdana" pitchFamily="34" charset="0"/>
              </a:rPr>
              <a:t> web ftp, email </a:t>
            </a:r>
            <a:r>
              <a:rPr lang="en-US" sz="2000" kern="0" dirty="0" err="1" smtClean="0">
                <a:latin typeface="Verdana" pitchFamily="34" charset="0"/>
              </a:rPr>
              <a:t>trên</a:t>
            </a:r>
            <a:r>
              <a:rPr lang="en-US" sz="2000" kern="0" dirty="0" smtClean="0">
                <a:latin typeface="Verdana" pitchFamily="34" charset="0"/>
              </a:rPr>
              <a:t> Internet ..</a:t>
            </a:r>
            <a:r>
              <a:rPr lang="en-US" sz="2400" kern="0" dirty="0" smtClean="0">
                <a:latin typeface="Verdana" pitchFamily="34" charset="0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endParaRPr lang="en-US" sz="2400" kern="0" dirty="0" smtClean="0">
              <a:latin typeface="Verdana" pitchFamily="34" charset="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Một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số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thuật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ngữ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thông</a:t>
            </a:r>
            <a:r>
              <a:rPr lang="en-US" sz="2800" dirty="0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Verdana" pitchFamily="34" charset="0"/>
                <a:ea typeface="+mj-ea"/>
                <a:cs typeface="+mj-cs"/>
              </a:rPr>
              <a:t>dụng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1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21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Các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bước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thiết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lập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website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22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304800"/>
            <a:ext cx="8915400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dirty="0" smtClean="0"/>
          </a:p>
          <a:p>
            <a:pPr marL="457200" indent="-457200"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Xác định yêu cầu Website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Mua tên miền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Thuê chỗ hosting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dirty="0" err="1" smtClean="0">
                <a:latin typeface="Verdana" pitchFamily="34" charset="0"/>
              </a:rPr>
              <a:t>Thiết</a:t>
            </a:r>
            <a:r>
              <a:rPr lang="en-US" sz="3200" dirty="0" smtClean="0">
                <a:latin typeface="Verdana" pitchFamily="34" charset="0"/>
              </a:rPr>
              <a:t> </a:t>
            </a:r>
            <a:r>
              <a:rPr lang="en-US" sz="3200" dirty="0" err="1" smtClean="0">
                <a:latin typeface="Verdana" pitchFamily="34" charset="0"/>
              </a:rPr>
              <a:t>kế</a:t>
            </a:r>
            <a:r>
              <a:rPr lang="en-US" sz="3200" dirty="0" smtClean="0">
                <a:latin typeface="Verdana" pitchFamily="34" charset="0"/>
              </a:rPr>
              <a:t> Website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Đưa vào hoạt động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32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vi-VN" sz="3200" dirty="0" smtClean="0">
                <a:latin typeface="Verdana" pitchFamily="34" charset="0"/>
              </a:rPr>
              <a:t>Duy trì thông tin, bảo dưỡng website</a:t>
            </a:r>
          </a:p>
          <a:p>
            <a:pPr marL="519113" indent="-519113">
              <a:lnSpc>
                <a:spcPct val="150000"/>
              </a:lnSpc>
              <a:spcBef>
                <a:spcPts val="1200"/>
              </a:spcBef>
              <a:buFont typeface="+mj-lt"/>
              <a:buAutoNum type="arabicPeriod"/>
            </a:pPr>
            <a:endParaRPr lang="en-US" sz="3200" dirty="0" smtClean="0"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Bài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thực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en-US" sz="2800" i="0" u="none" strike="noStrike" kern="1200" cap="none" spc="0" normalizeH="0" noProof="0" dirty="0" err="1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hành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 1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fld id="{22288E9E-3654-4A97-8EA6-E567F42FEF58}" type="slidenum"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pPr/>
              <a:t>23</a:t>
            </a:fld>
            <a:endParaRPr lang="de-DE" sz="20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77000"/>
            <a:ext cx="5486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2 –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Các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khái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niệm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de-DE" sz="1800" dirty="0" err="1" smtClean="0">
                <a:solidFill>
                  <a:schemeClr val="bg1"/>
                </a:solidFill>
                <a:latin typeface="Verdana" pitchFamily="34" charset="0"/>
              </a:rPr>
              <a:t>chung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304800"/>
            <a:ext cx="891540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200" dirty="0" smtClean="0"/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Đăng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ký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nhóm</a:t>
            </a:r>
            <a:r>
              <a:rPr lang="en-US" sz="2800" dirty="0" smtClean="0">
                <a:latin typeface="Verdana" pitchFamily="34" charset="0"/>
              </a:rPr>
              <a:t> (File Excel)</a:t>
            </a:r>
            <a:endParaRPr lang="vi-VN" sz="28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28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Tìm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kiếm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thông</a:t>
            </a:r>
            <a:r>
              <a:rPr lang="en-US" sz="2800" dirty="0" smtClean="0">
                <a:latin typeface="Verdana" pitchFamily="34" charset="0"/>
              </a:rPr>
              <a:t> tin </a:t>
            </a:r>
            <a:r>
              <a:rPr lang="en-US" sz="2800" dirty="0" err="1" smtClean="0">
                <a:latin typeface="Verdana" pitchFamily="34" charset="0"/>
              </a:rPr>
              <a:t>về</a:t>
            </a:r>
            <a:r>
              <a:rPr lang="en-US" sz="2800" dirty="0" smtClean="0">
                <a:latin typeface="Verdana" pitchFamily="34" charset="0"/>
              </a:rPr>
              <a:t> Free hosting</a:t>
            </a:r>
            <a:endParaRPr lang="vi-VN" sz="28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28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Đảm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bảo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mỗi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người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có</a:t>
            </a:r>
            <a:r>
              <a:rPr lang="en-US" sz="2800" dirty="0" smtClean="0">
                <a:latin typeface="Verdana" pitchFamily="34" charset="0"/>
              </a:rPr>
              <a:t> Email</a:t>
            </a:r>
            <a:endParaRPr lang="vi-VN" sz="2800" dirty="0" smtClean="0">
              <a:latin typeface="Verdana" pitchFamily="34" charset="0"/>
            </a:endParaRPr>
          </a:p>
          <a:p>
            <a:pPr marL="457200" indent="-457200">
              <a:buFont typeface="Wingdings" pitchFamily="2" charset="2"/>
              <a:buChar char="§"/>
            </a:pPr>
            <a:endParaRPr lang="en-US" sz="2800" dirty="0" smtClean="0">
              <a:latin typeface="Verdana" pitchFamily="34" charset="0"/>
            </a:endParaRPr>
          </a:p>
          <a:p>
            <a:pPr marL="457200" indent="-457200" algn="just">
              <a:buFont typeface="Wingdings" pitchFamily="2" charset="2"/>
              <a:buChar char="§"/>
            </a:pPr>
            <a:r>
              <a:rPr lang="vi-VN" sz="2800" dirty="0" smtClean="0">
                <a:latin typeface="Verdana" pitchFamily="34" charset="0"/>
              </a:rPr>
              <a:t>Khảo sát giao diện, tính năng của các website hiện có trên Internet có liên quan đến chủ đề đã chọn.</a:t>
            </a:r>
          </a:p>
          <a:p>
            <a:pPr marL="457200" indent="-457200">
              <a:buFont typeface="Wingdings" pitchFamily="2" charset="2"/>
              <a:buChar char="§"/>
            </a:pPr>
            <a:endParaRPr lang="en-US" sz="2800" dirty="0" smtClean="0">
              <a:latin typeface="Verdana" pitchFamily="34" charset="0"/>
            </a:endParaRP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2800" dirty="0" err="1" smtClean="0">
                <a:latin typeface="Verdana" pitchFamily="34" charset="0"/>
              </a:rPr>
              <a:t>Làm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quen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với</a:t>
            </a:r>
            <a:r>
              <a:rPr lang="en-US" sz="2800" smtClean="0">
                <a:latin typeface="Verdana" pitchFamily="34" charset="0"/>
              </a:rPr>
              <a:t>: </a:t>
            </a:r>
            <a:r>
              <a:rPr lang="en-US" sz="2800">
                <a:latin typeface="Verdana" pitchFamily="34" charset="0"/>
              </a:rPr>
              <a:t>B</a:t>
            </a:r>
            <a:r>
              <a:rPr lang="en-US" sz="2800" smtClean="0">
                <a:latin typeface="Verdana" pitchFamily="34" charset="0"/>
              </a:rPr>
              <a:t>rackets (1.4</a:t>
            </a:r>
            <a:r>
              <a:rPr lang="en-US" sz="2800" dirty="0" smtClean="0">
                <a:latin typeface="Verdana" pitchFamily="34" charset="0"/>
              </a:rPr>
              <a:t>), Photoshop (v.7, CS3)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00" cy="1143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895600" y="4343400"/>
            <a:ext cx="7010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6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Thank you !</a:t>
            </a:r>
            <a:endParaRPr kumimoji="0" lang="de-DE" sz="6600" b="1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005&quot;&gt;&lt;property id=&quot;20148&quot; value=&quot;5&quot;/&gt;&lt;property id=&quot;20300&quot; value=&quot;Slide 2&quot;/&gt;&lt;property id=&quot;20307&quot; value=&quot;257&quot;/&gt;&lt;/object&gt;&lt;object type=&quot;3&quot; unique_id=&quot;10006&quot;&gt;&lt;property id=&quot;20148&quot; value=&quot;5&quot;/&gt;&lt;property id=&quot;20300&quot; value=&quot;Slide 3 - &amp;quot;Web là gì ?&amp;quot;&quot;/&gt;&lt;property id=&quot;20307&quot; value=&quot;259&quot;/&gt;&lt;/object&gt;&lt;object type=&quot;3&quot; unique_id=&quot;10007&quot;&gt;&lt;property id=&quot;20148&quot; value=&quot;5&quot;/&gt;&lt;property id=&quot;20300&quot; value=&quot;Slide 4&quot;/&gt;&lt;property id=&quot;20307&quot; value=&quot;261&quot;/&gt;&lt;/object&gt;&lt;object type=&quot;3&quot; unique_id=&quot;10008&quot;&gt;&lt;property id=&quot;20148&quot; value=&quot;5&quot;/&gt;&lt;property id=&quot;20300&quot; value=&quot;Slide 5&quot;/&gt;&lt;property id=&quot;20307&quot; value=&quot;263&quot;/&gt;&lt;/object&gt;&lt;object type=&quot;3&quot; unique_id=&quot;10009&quot;&gt;&lt;property id=&quot;20148&quot; value=&quot;5&quot;/&gt;&lt;property id=&quot;20300&quot; value=&quot;Slide 6 - &amp;quot;Web – Cái khái niệm chính ?&amp;quot;&quot;/&gt;&lt;property id=&quot;20307&quot; value=&quot;260&quot;/&gt;&lt;/object&gt;&lt;object type=&quot;3&quot; unique_id=&quot;10010&quot;&gt;&lt;property id=&quot;20148&quot; value=&quot;5&quot;/&gt;&lt;property id=&quot;20300&quot; value=&quot;Slide 7 - &amp;quot;Web – Cái khái niệm chính ?&amp;quot;&quot;/&gt;&lt;property id=&quot;20307&quot; value=&quot;262&quot;/&gt;&lt;/object&gt;&lt;object type=&quot;3&quot; unique_id=&quot;10011&quot;&gt;&lt;property id=&quot;20148&quot; value=&quot;5&quot;/&gt;&lt;property id=&quot;20300&quot; value=&quot;Slide 8&quot;/&gt;&lt;property id=&quot;20307&quot; value=&quot;265&quot;/&gt;&lt;/object&gt;&lt;object type=&quot;3&quot; unique_id=&quot;10012&quot;&gt;&lt;property id=&quot;20148&quot; value=&quot;5&quot;/&gt;&lt;property id=&quot;20300&quot; value=&quot;Slide 9&quot;/&gt;&lt;property id=&quot;20307&quot; value=&quot;264&quot;/&gt;&lt;/object&gt;&lt;object type=&quot;3&quot; unique_id=&quot;10013&quot;&gt;&lt;property id=&quot;20148&quot; value=&quot;5&quot;/&gt;&lt;property id=&quot;20300&quot; value=&quot;Slide 10&quot;/&gt;&lt;property id=&quot;20307&quot; value=&quot;266&quot;/&gt;&lt;/object&gt;&lt;object type=&quot;3&quot; unique_id=&quot;10014&quot;&gt;&lt;property id=&quot;20148&quot; value=&quot;5&quot;/&gt;&lt;property id=&quot;20300&quot; value=&quot;Slide 11&quot;/&gt;&lt;property id=&quot;20307&quot; value=&quot;267&quot;/&gt;&lt;/object&gt;&lt;object type=&quot;3&quot; unique_id=&quot;10015&quot;&gt;&lt;property id=&quot;20148&quot; value=&quot;5&quot;/&gt;&lt;property id=&quot;20300&quot; value=&quot;Slide 12&quot;/&gt;&lt;property id=&quot;20307&quot; value=&quot;268&quot;/&gt;&lt;/object&gt;&lt;object type=&quot;3&quot; unique_id=&quot;10016&quot;&gt;&lt;property id=&quot;20148&quot; value=&quot;5&quot;/&gt;&lt;property id=&quot;20300&quot; value=&quot;Slide 13&quot;/&gt;&lt;property id=&quot;20307&quot; value=&quot;269&quot;/&gt;&lt;/object&gt;&lt;object type=&quot;3&quot; unique_id=&quot;10017&quot;&gt;&lt;property id=&quot;20148&quot; value=&quot;5&quot;/&gt;&lt;property id=&quot;20300&quot; value=&quot;Slide 14 - &amp;quot;Google&amp;quot;&quot;/&gt;&lt;property id=&quot;20307&quot; value=&quot;270&quot;/&gt;&lt;/object&gt;&lt;object type=&quot;3&quot; unique_id=&quot;10018&quot;&gt;&lt;property id=&quot;20148&quot; value=&quot;5&quot;/&gt;&lt;property id=&quot;20300&quot; value=&quot;Slide 15&quot;/&gt;&lt;property id=&quot;20307&quot; value=&quot;271&quot;/&gt;&lt;/object&gt;&lt;object type=&quot;3&quot; unique_id=&quot;10019&quot;&gt;&lt;property id=&quot;20148&quot; value=&quot;5&quot;/&gt;&lt;property id=&quot;20300&quot; value=&quot;Slide 16&quot;/&gt;&lt;property id=&quot;20307&quot; value=&quot;272&quot;/&gt;&lt;/object&gt;&lt;object type=&quot;3&quot; unique_id=&quot;10020&quot;&gt;&lt;property id=&quot;20148&quot; value=&quot;5&quot;/&gt;&lt;property id=&quot;20300&quot; value=&quot;Slide 17&quot;/&gt;&lt;property id=&quot;20307&quot; value=&quot;273&quot;/&gt;&lt;/object&gt;&lt;object type=&quot;3&quot; unique_id=&quot;10021&quot;&gt;&lt;property id=&quot;20148&quot; value=&quot;5&quot;/&gt;&lt;property id=&quot;20300&quot; value=&quot;Slide 18&quot;/&gt;&lt;property id=&quot;20307&quot; value=&quot;274&quot;/&gt;&lt;/object&gt;&lt;object type=&quot;3&quot; unique_id=&quot;10022&quot;&gt;&lt;property id=&quot;20148&quot; value=&quot;5&quot;/&gt;&lt;property id=&quot;20300&quot; value=&quot;Slide 19&quot;/&gt;&lt;property id=&quot;20307&quot; value=&quot;275&quot;/&gt;&lt;/object&gt;&lt;object type=&quot;3&quot; unique_id=&quot;10023&quot;&gt;&lt;property id=&quot;20148&quot; value=&quot;5&quot;/&gt;&lt;property id=&quot;20300&quot; value=&quot;Slide 20&quot;/&gt;&lt;property id=&quot;20307&quot; value=&quot;276&quot;/&gt;&lt;/object&gt;&lt;object type=&quot;3&quot; unique_id=&quot;10024&quot;&gt;&lt;property id=&quot;20148&quot; value=&quot;5&quot;/&gt;&lt;property id=&quot;20300&quot; value=&quot;Slide 21&quot;/&gt;&lt;property id=&quot;20307&quot; value=&quot;277&quot;/&gt;&lt;/object&gt;&lt;object type=&quot;3&quot; unique_id=&quot;10025&quot;&gt;&lt;property id=&quot;20148&quot; value=&quot;5&quot;/&gt;&lt;property id=&quot;20300&quot; value=&quot;Slide 22&quot;/&gt;&lt;property id=&quot;20307&quot; value=&quot;278&quot;/&gt;&lt;/object&gt;&lt;object type=&quot;3&quot; unique_id=&quot;10026&quot;&gt;&lt;property id=&quot;20148&quot; value=&quot;5&quot;/&gt;&lt;property id=&quot;20300&quot; value=&quot;Slide 23&quot;/&gt;&lt;property id=&quot;20307&quot; value=&quot;279&quot;/&gt;&lt;/object&gt;&lt;object type=&quot;3&quot; unique_id=&quot;10027&quot;&gt;&lt;property id=&quot;20148&quot; value=&quot;5&quot;/&gt;&lt;property id=&quot;20300&quot; value=&quot;Slide 24&quot;/&gt;&lt;property id=&quot;20307&quot; value=&quot;258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4226</TotalTime>
  <Words>1257</Words>
  <Application>Microsoft Office PowerPoint</Application>
  <PresentationFormat>On-screen Show (4:3)</PresentationFormat>
  <Paragraphs>204</Paragraphs>
  <Slides>24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Verdana</vt:lpstr>
      <vt:lpstr>Wingdings</vt:lpstr>
      <vt:lpstr>Office Theme</vt:lpstr>
      <vt:lpstr>PowerPoint Presentation</vt:lpstr>
      <vt:lpstr>PowerPoint Presentation</vt:lpstr>
      <vt:lpstr>Web là gì ?</vt:lpstr>
      <vt:lpstr>PowerPoint Presentation</vt:lpstr>
      <vt:lpstr>PowerPoint Presentation</vt:lpstr>
      <vt:lpstr>PowerPoint Presentation</vt:lpstr>
      <vt:lpstr>PowerPoint Presentation</vt:lpstr>
      <vt:lpstr>Web – Cái khái niệm chính ?</vt:lpstr>
      <vt:lpstr>Web – Cái khái niệm chính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Google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Sai Gon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LoanPhan</dc:creator>
  <cp:lastModifiedBy>Microsoft account</cp:lastModifiedBy>
  <cp:revision>111</cp:revision>
  <dcterms:created xsi:type="dcterms:W3CDTF">2009-01-24T03:00:41Z</dcterms:created>
  <dcterms:modified xsi:type="dcterms:W3CDTF">2022-09-05T14:12:27Z</dcterms:modified>
</cp:coreProperties>
</file>