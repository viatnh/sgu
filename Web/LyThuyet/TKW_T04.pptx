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2" r:id="rId2"/>
  </p:sldMasterIdLst>
  <p:notesMasterIdLst>
    <p:notesMasterId r:id="rId58"/>
  </p:notesMasterIdLst>
  <p:handoutMasterIdLst>
    <p:handoutMasterId r:id="rId59"/>
  </p:handoutMasterIdLst>
  <p:sldIdLst>
    <p:sldId id="256" r:id="rId3"/>
    <p:sldId id="261" r:id="rId4"/>
    <p:sldId id="258" r:id="rId5"/>
    <p:sldId id="264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8" r:id="rId22"/>
    <p:sldId id="278" r:id="rId23"/>
    <p:sldId id="279" r:id="rId24"/>
    <p:sldId id="280" r:id="rId25"/>
    <p:sldId id="284" r:id="rId26"/>
    <p:sldId id="285" r:id="rId27"/>
    <p:sldId id="286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303" r:id="rId38"/>
    <p:sldId id="304" r:id="rId39"/>
    <p:sldId id="305" r:id="rId40"/>
    <p:sldId id="306" r:id="rId41"/>
    <p:sldId id="307" r:id="rId42"/>
    <p:sldId id="302" r:id="rId43"/>
    <p:sldId id="308" r:id="rId44"/>
    <p:sldId id="310" r:id="rId45"/>
    <p:sldId id="309" r:id="rId46"/>
    <p:sldId id="311" r:id="rId47"/>
    <p:sldId id="312" r:id="rId48"/>
    <p:sldId id="313" r:id="rId49"/>
    <p:sldId id="314" r:id="rId50"/>
    <p:sldId id="287" r:id="rId51"/>
    <p:sldId id="260" r:id="rId52"/>
    <p:sldId id="259" r:id="rId53"/>
    <p:sldId id="281" r:id="rId54"/>
    <p:sldId id="282" r:id="rId55"/>
    <p:sldId id="283" r:id="rId56"/>
    <p:sldId id="25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7" autoAdjust="0"/>
    <p:restoredTop sz="94680" autoAdjust="0"/>
  </p:normalViewPr>
  <p:slideViewPr>
    <p:cSldViewPr>
      <p:cViewPr>
        <p:scale>
          <a:sx n="75" d="100"/>
          <a:sy n="75" d="100"/>
        </p:scale>
        <p:origin x="-132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488"/>
    </p:cViewPr>
  </p:sorterViewPr>
  <p:notesViewPr>
    <p:cSldViewPr>
      <p:cViewPr varScale="1">
        <p:scale>
          <a:sx n="80" d="100"/>
          <a:sy n="80" d="100"/>
        </p:scale>
        <p:origin x="-238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5C2F9-B74E-4D1B-AFEF-D426918F8F5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C6EA2-C8DC-4A42-8C4D-4A10FBE231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734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9546-7CE1-4A60-9279-BCADC0161DB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495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 userDrawn="1"/>
        </p:nvSpPr>
        <p:spPr>
          <a:xfrm>
            <a:off x="0" y="4191000"/>
            <a:ext cx="6553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Ngôn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ngữ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HTML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6096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 triển ứng dụng web 1</a:t>
            </a: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828800" y="2362200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gocbao.com/wp-content/uploads/2018/01/Chon-loc-101-hinh-nen-powerpoint-dep-cung-background-full-hd-17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 userDrawn="1"/>
        </p:nvSpPr>
        <p:spPr>
          <a:xfrm>
            <a:off x="1303337" y="5029200"/>
            <a:ext cx="6553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Ngôn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ngữ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HTML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419100" y="93662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b="1" dirty="0" smtClean="0">
                <a:solidFill>
                  <a:srgbClr val="FF0000"/>
                </a:solidFill>
                <a:latin typeface="Verdana" pitchFamily="34" charset="0"/>
                <a:ea typeface="+mj-ea"/>
                <a:cs typeface="+mj-cs"/>
              </a:rPr>
              <a:t>Bài</a:t>
            </a:r>
            <a:r>
              <a:rPr lang="de-DE" sz="4400" b="1" baseline="0" dirty="0" smtClean="0">
                <a:solidFill>
                  <a:srgbClr val="FF0000"/>
                </a:solidFill>
                <a:latin typeface="Verdana" pitchFamily="34" charset="0"/>
                <a:ea typeface="+mj-ea"/>
                <a:cs typeface="+mj-cs"/>
              </a:rPr>
              <a:t> thực hành</a:t>
            </a:r>
            <a:endParaRPr kumimoji="0" lang="de-DE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828800" y="609600"/>
            <a:ext cx="6027737" cy="53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 userDrawn="1"/>
        </p:nvSpPr>
        <p:spPr bwMode="auto">
          <a:xfrm>
            <a:off x="0" y="2981325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Outside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 descr="Inside.jpg"/>
          <p:cNvPicPr>
            <a:picLocks noChangeAspect="1"/>
          </p:cNvPicPr>
          <p:nvPr userDrawn="1"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4 – Ngôn ngữ HTML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Footer Placeholder 3"/>
          <p:cNvSpPr txBox="1">
            <a:spLocks/>
          </p:cNvSpPr>
          <p:nvPr userDrawn="1"/>
        </p:nvSpPr>
        <p:spPr>
          <a:xfrm>
            <a:off x="8534400" y="6400800"/>
            <a:ext cx="762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88E9E-3654-4A97-8EA6-E567F42FEF58}" type="slidenum">
              <a:rPr kumimoji="0" lang="de-DE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4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games.yahoo.com/index.php" TargetMode="External"/><Relationship Id="rId2" Type="http://schemas.openxmlformats.org/officeDocument/2006/relationships/hyperlink" Target="http://www.yaho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ames.yahoo.com/download/Dominoes.exe" TargetMode="External"/><Relationship Id="rId4" Type="http://schemas.openxmlformats.org/officeDocument/2006/relationships/hyperlink" Target="http://games.yahoo.com/games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server/directory/file" TargetMode="External"/><Relationship Id="rId2" Type="http://schemas.openxmlformats.org/officeDocument/2006/relationships/hyperlink" Target="http://games.yahoo.com/index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icrosoft.com:8080/products/greetings.html" TargetMode="External"/><Relationship Id="rId5" Type="http://schemas.openxmlformats.org/officeDocument/2006/relationships/hyperlink" Target="http://server/directory/file?parameters" TargetMode="External"/><Relationship Id="rId4" Type="http://schemas.openxmlformats.org/officeDocument/2006/relationships/hyperlink" Target="http://www.google.com.vn/search?hl=vi&amp;q=Teach&amp;meta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172.0.0.1/demo/Thumuc1/fileB.html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mo/Thumuc1/fileB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172.0.0.1/demo/Thumuc1/Thumuc1_1/fileC.html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mo/Thumuc1/fileB.htm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172.0.0.1/demo/Thumuc1/Thumuc1_2/fileD.html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mo/Thumuc1/fileB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172.0.0.1/demo/Thumuc2/fileF.html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mo/Thumuc1/fileB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demo/Thumuc1/fileB.html" TargetMode="External"/><Relationship Id="rId2" Type="http://schemas.openxmlformats.org/officeDocument/2006/relationships/hyperlink" Target="http://172.0.0.1/demo/Thumuc1/Thumuc1_2/Thumuc1_2_1/file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hyperlink" Target="http://172.0.0.1/demo/Thumuc1/Thumuc1_2/Thumuc1_2_1/fileF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../fileA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zag.com/htmlT/" TargetMode="External"/><Relationship Id="rId2" Type="http://schemas.openxmlformats.org/officeDocument/2006/relationships/hyperlink" Target="http://www.w3schools.com/htm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ccess.k12.wv.us/webpages/tab3.htm" TargetMode="External"/><Relationship Id="rId5" Type="http://schemas.openxmlformats.org/officeDocument/2006/relationships/hyperlink" Target="http://delta.ncsu.edu/" TargetMode="External"/><Relationship Id="rId4" Type="http://schemas.openxmlformats.org/officeDocument/2006/relationships/hyperlink" Target="http://www.webdesign.org/web/html-and-css/tutorials/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nhkhai.com.vn/" TargetMode="External"/><Relationship Id="rId7" Type="http://schemas.openxmlformats.org/officeDocument/2006/relationships/hyperlink" Target="http://movie.zing.vn/" TargetMode="External"/><Relationship Id="rId2" Type="http://schemas.openxmlformats.org/officeDocument/2006/relationships/hyperlink" Target="http://www.vinaboo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huedvd.com/" TargetMode="External"/><Relationship Id="rId5" Type="http://schemas.openxmlformats.org/officeDocument/2006/relationships/hyperlink" Target="http://thuedia.com/" TargetMode="External"/><Relationship Id="rId4" Type="http://schemas.openxmlformats.org/officeDocument/2006/relationships/hyperlink" Target="http://www.xbook.com.vn/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aigonlaptops.com/" TargetMode="External"/><Relationship Id="rId3" Type="http://schemas.openxmlformats.org/officeDocument/2006/relationships/hyperlink" Target="http://www.hotgameshop.net/" TargetMode="External"/><Relationship Id="rId7" Type="http://schemas.openxmlformats.org/officeDocument/2006/relationships/hyperlink" Target="http://www.muabanlaptop.com.vn/" TargetMode="External"/><Relationship Id="rId2" Type="http://schemas.openxmlformats.org/officeDocument/2006/relationships/hyperlink" Target="http://www.haloshop.v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vitinhphongvu.com/" TargetMode="External"/><Relationship Id="rId5" Type="http://schemas.openxmlformats.org/officeDocument/2006/relationships/hyperlink" Target="http://www.gamespot.com/" TargetMode="External"/><Relationship Id="rId4" Type="http://schemas.openxmlformats.org/officeDocument/2006/relationships/hyperlink" Target="http://trochoidientu.com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gioididong.com/" TargetMode="External"/><Relationship Id="rId2" Type="http://schemas.openxmlformats.org/officeDocument/2006/relationships/hyperlink" Target="http://www.muabandtdd.com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067" y="1947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63733" y="1828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 buổi học trước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09600"/>
            <a:ext cx="838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Các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bước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lập</a:t>
            </a:r>
            <a:r>
              <a:rPr lang="en-US" sz="4000" dirty="0" smtClean="0">
                <a:latin typeface="Verdana" pitchFamily="34" charset="0"/>
              </a:rPr>
              <a:t> website 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lập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trình</a:t>
            </a:r>
            <a:r>
              <a:rPr lang="en-US" sz="4000" dirty="0" smtClean="0">
                <a:latin typeface="Verdana" pitchFamily="34" charset="0"/>
              </a:rPr>
              <a:t> website</a:t>
            </a:r>
          </a:p>
          <a:p>
            <a:pPr marL="1085850" lvl="1" indent="-4000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giao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diện</a:t>
            </a:r>
            <a:endParaRPr lang="en-US" sz="4000" dirty="0" smtClean="0">
              <a:latin typeface="Verdana" pitchFamily="34" charset="0"/>
            </a:endParaRP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Xây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dựng</a:t>
            </a:r>
            <a:r>
              <a:rPr lang="en-US" sz="4000" dirty="0" smtClean="0">
                <a:latin typeface="Verdana" pitchFamily="34" charset="0"/>
              </a:rPr>
              <a:t> website </a:t>
            </a:r>
            <a:r>
              <a:rPr lang="en-US" sz="4000" dirty="0" err="1" smtClean="0">
                <a:latin typeface="Verdana" pitchFamily="34" charset="0"/>
              </a:rPr>
              <a:t>dưới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góc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nhìn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ngộ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nghĩnh</a:t>
            </a:r>
            <a:endParaRPr lang="en-US" sz="40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4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09600"/>
            <a:ext cx="838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Giới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thiệu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về</a:t>
            </a:r>
            <a:r>
              <a:rPr lang="en-US" sz="4000" dirty="0" smtClean="0">
                <a:latin typeface="Verdana" pitchFamily="34" charset="0"/>
              </a:rPr>
              <a:t> HTML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Cấu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trúc</a:t>
            </a:r>
            <a:r>
              <a:rPr lang="en-US" sz="4000" dirty="0" smtClean="0">
                <a:latin typeface="Verdana" pitchFamily="34" charset="0"/>
              </a:rPr>
              <a:t> 1 </a:t>
            </a:r>
            <a:r>
              <a:rPr lang="en-US" sz="4000" dirty="0" err="1" smtClean="0">
                <a:latin typeface="Verdana" pitchFamily="34" charset="0"/>
              </a:rPr>
              <a:t>tài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liệu</a:t>
            </a:r>
            <a:r>
              <a:rPr lang="en-US" sz="4000" dirty="0" smtClean="0">
                <a:latin typeface="Verdana" pitchFamily="34" charset="0"/>
              </a:rPr>
              <a:t> HTML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Các</a:t>
            </a:r>
            <a:r>
              <a:rPr lang="en-US" sz="4000" dirty="0" smtClean="0">
                <a:latin typeface="Verdana" pitchFamily="34" charset="0"/>
              </a:rPr>
              <a:t> tag (</a:t>
            </a:r>
            <a:r>
              <a:rPr lang="en-US" sz="4000" dirty="0" err="1" smtClean="0">
                <a:latin typeface="Verdana" pitchFamily="34" charset="0"/>
              </a:rPr>
              <a:t>thẻ</a:t>
            </a:r>
            <a:r>
              <a:rPr lang="en-US" sz="4000" dirty="0" smtClean="0">
                <a:latin typeface="Verdana" pitchFamily="34" charset="0"/>
              </a:rPr>
              <a:t>) HTML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Hướng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dẫn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thực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hành</a:t>
            </a:r>
            <a:r>
              <a:rPr lang="en-US" sz="4000" dirty="0" smtClean="0">
                <a:latin typeface="Verdana" pitchFamily="34" charset="0"/>
              </a:rPr>
              <a:t> HTML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Gợi</a:t>
            </a:r>
            <a:r>
              <a:rPr lang="en-US" sz="4000" dirty="0" smtClean="0">
                <a:latin typeface="Verdana" pitchFamily="34" charset="0"/>
              </a:rPr>
              <a:t> ý </a:t>
            </a:r>
            <a:r>
              <a:rPr lang="en-US" sz="4000" dirty="0" err="1" smtClean="0">
                <a:latin typeface="Verdana" pitchFamily="34" charset="0"/>
              </a:rPr>
              <a:t>chọn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đề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tài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cho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đồ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án</a:t>
            </a:r>
            <a:endParaRPr lang="en-US" sz="40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4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Giới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thiệu về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HTML (Hyper Text Markup Language):  </a:t>
            </a:r>
            <a:r>
              <a:rPr lang="en-US" sz="2400" dirty="0" err="1" smtClean="0">
                <a:latin typeface="Verdana" pitchFamily="34" charset="0"/>
              </a:rPr>
              <a:t>ngôn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ngữ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đánh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dấu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siêu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bản</a:t>
            </a:r>
            <a:r>
              <a:rPr lang="en-US" sz="2400" dirty="0" smtClean="0">
                <a:latin typeface="Verdana" pitchFamily="34" charset="0"/>
              </a:rPr>
              <a:t>, </a:t>
            </a:r>
            <a:r>
              <a:rPr lang="en-US" sz="2400" dirty="0" err="1" smtClean="0">
                <a:latin typeface="Verdana" pitchFamily="34" charset="0"/>
              </a:rPr>
              <a:t>dùng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để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xây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dựng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một</a:t>
            </a:r>
            <a:r>
              <a:rPr lang="en-US" sz="2400" dirty="0" smtClean="0">
                <a:latin typeface="Verdana" pitchFamily="34" charset="0"/>
              </a:rPr>
              <a:t> webpage.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2400" dirty="0" smtClean="0">
                <a:latin typeface="Verdana" pitchFamily="34" charset="0"/>
              </a:rPr>
              <a:t>HTML: </a:t>
            </a:r>
            <a:r>
              <a:rPr lang="en-US" sz="2400" dirty="0" err="1" smtClean="0">
                <a:latin typeface="Verdana" pitchFamily="34" charset="0"/>
              </a:rPr>
              <a:t>chứa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thành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phần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định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để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báo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cho</a:t>
            </a:r>
            <a:r>
              <a:rPr lang="en-US" sz="2400" dirty="0" smtClean="0">
                <a:latin typeface="Verdana" pitchFamily="34" charset="0"/>
              </a:rPr>
              <a:t> browser </a:t>
            </a:r>
            <a:r>
              <a:rPr lang="en-US" sz="2400" dirty="0" err="1" smtClean="0">
                <a:latin typeface="Verdana" pitchFamily="34" charset="0"/>
              </a:rPr>
              <a:t>biết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một</a:t>
            </a:r>
            <a:r>
              <a:rPr lang="en-US" sz="2400" dirty="0" smtClean="0">
                <a:latin typeface="Verdana" pitchFamily="34" charset="0"/>
              </a:rPr>
              <a:t> webpage.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Một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thông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thường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gồm</a:t>
            </a:r>
            <a:r>
              <a:rPr lang="en-US" sz="2400" dirty="0" smtClean="0">
                <a:latin typeface="Verdana" pitchFamily="34" charset="0"/>
              </a:rPr>
              <a:t>: </a:t>
            </a:r>
          </a:p>
          <a:p>
            <a:pPr marL="962025" indent="-215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err="1" smtClean="0">
                <a:latin typeface="Verdana" pitchFamily="34" charset="0"/>
              </a:rPr>
              <a:t>Dữ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liệu</a:t>
            </a:r>
            <a:r>
              <a:rPr lang="en-US" sz="2000" dirty="0" smtClean="0">
                <a:latin typeface="Verdana" pitchFamily="34" charset="0"/>
              </a:rPr>
              <a:t> (</a:t>
            </a:r>
            <a:r>
              <a:rPr lang="en-US" sz="2000" dirty="0" err="1" smtClean="0">
                <a:latin typeface="Verdana" pitchFamily="34" charset="0"/>
              </a:rPr>
              <a:t>văn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bản</a:t>
            </a:r>
            <a:r>
              <a:rPr lang="en-US" sz="2000" dirty="0" smtClean="0">
                <a:latin typeface="Verdana" pitchFamily="34" charset="0"/>
              </a:rPr>
              <a:t>, </a:t>
            </a:r>
            <a:r>
              <a:rPr lang="en-US" sz="2000" dirty="0" err="1" smtClean="0">
                <a:latin typeface="Verdana" pitchFamily="34" charset="0"/>
              </a:rPr>
              <a:t>âm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thanh</a:t>
            </a:r>
            <a:r>
              <a:rPr lang="en-US" sz="2000" dirty="0" smtClean="0">
                <a:latin typeface="Verdana" pitchFamily="34" charset="0"/>
              </a:rPr>
              <a:t>, </a:t>
            </a:r>
            <a:r>
              <a:rPr lang="en-US" sz="2000" dirty="0" err="1" smtClean="0">
                <a:latin typeface="Verdana" pitchFamily="34" charset="0"/>
              </a:rPr>
              <a:t>hình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ảnh</a:t>
            </a:r>
            <a:r>
              <a:rPr lang="en-US" sz="2000" dirty="0" smtClean="0">
                <a:latin typeface="Verdana" pitchFamily="34" charset="0"/>
              </a:rPr>
              <a:t>, …)</a:t>
            </a:r>
          </a:p>
          <a:p>
            <a:pPr marL="962025" indent="-215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err="1" smtClean="0">
                <a:latin typeface="Verdana" pitchFamily="34" charset="0"/>
              </a:rPr>
              <a:t>Các</a:t>
            </a:r>
            <a:r>
              <a:rPr lang="en-US" sz="2000" dirty="0" smtClean="0">
                <a:latin typeface="Verdana" pitchFamily="34" charset="0"/>
              </a:rPr>
              <a:t> tag (</a:t>
            </a:r>
            <a:r>
              <a:rPr lang="en-US" sz="2000" dirty="0" err="1" smtClean="0">
                <a:latin typeface="Verdana" pitchFamily="34" charset="0"/>
              </a:rPr>
              <a:t>thẻ</a:t>
            </a:r>
            <a:r>
              <a:rPr lang="en-US" sz="2000" dirty="0" smtClean="0">
                <a:latin typeface="Verdana" pitchFamily="34" charset="0"/>
              </a:rPr>
              <a:t>) HTML </a:t>
            </a:r>
            <a:r>
              <a:rPr lang="en-US" sz="2000" dirty="0" err="1" smtClean="0">
                <a:latin typeface="Verdana" pitchFamily="34" charset="0"/>
              </a:rPr>
              <a:t>để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định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dạng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mô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tả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cách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thức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các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dữ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liệu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hiển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thị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trên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trình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duyệt</a:t>
            </a:r>
            <a:endParaRPr lang="vi-VN" sz="20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Web </a:t>
            </a:r>
            <a:r>
              <a:rPr lang="en-US" sz="2400" dirty="0" err="1" smtClean="0">
                <a:latin typeface="Verdana" pitchFamily="34" charset="0"/>
              </a:rPr>
              <a:t>browser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phân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tích</a:t>
            </a:r>
            <a:r>
              <a:rPr lang="en-US" sz="2400" dirty="0" smtClean="0">
                <a:latin typeface="Verdana" pitchFamily="34" charset="0"/>
              </a:rPr>
              <a:t> &amp; “</a:t>
            </a:r>
            <a:r>
              <a:rPr lang="en-US" sz="2400" dirty="0" err="1" smtClean="0">
                <a:latin typeface="Verdana" pitchFamily="34" charset="0"/>
              </a:rPr>
              <a:t>hiểu</a:t>
            </a:r>
            <a:r>
              <a:rPr lang="en-US" sz="2400" dirty="0" smtClean="0">
                <a:latin typeface="Verdana" pitchFamily="34" charset="0"/>
              </a:rPr>
              <a:t>”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tags HTML, </a:t>
            </a:r>
            <a:r>
              <a:rPr lang="en-US" sz="2400" dirty="0" err="1" smtClean="0">
                <a:latin typeface="Verdana" pitchFamily="34" charset="0"/>
              </a:rPr>
              <a:t>hiện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nội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dung web cho người dùng</a:t>
            </a:r>
            <a:endParaRPr lang="en-US" sz="24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Webpage HTML: 1 file *.htm || *.html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endParaRPr lang="vi-VN" sz="24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Trình duyệt – Trình soạn thảo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1143000"/>
            <a:ext cx="8839200" cy="5486400"/>
            <a:chOff x="304800" y="1143000"/>
            <a:chExt cx="8839200" cy="5486400"/>
          </a:xfrm>
        </p:grpSpPr>
        <p:pic>
          <p:nvPicPr>
            <p:cNvPr id="4" name="Picture 3" descr="Browse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1143000"/>
              <a:ext cx="6705600" cy="502920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2514600" y="2895600"/>
              <a:ext cx="5105399" cy="3733800"/>
              <a:chOff x="2514600" y="2895600"/>
              <a:chExt cx="5105399" cy="3733800"/>
            </a:xfrm>
          </p:grpSpPr>
          <p:pic>
            <p:nvPicPr>
              <p:cNvPr id="6" name="Picture 5" descr="Dreamweaver1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514600" y="2895600"/>
                <a:ext cx="5105399" cy="3643203"/>
              </a:xfrm>
              <a:prstGeom prst="rect">
                <a:avLst/>
              </a:prstGeom>
            </p:spPr>
          </p:pic>
          <p:pic>
            <p:nvPicPr>
              <p:cNvPr id="5" name="Picture 4" descr="Dreamweaver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38600" y="4343400"/>
                <a:ext cx="2971800" cy="2286000"/>
              </a:xfrm>
              <a:prstGeom prst="rect">
                <a:avLst/>
              </a:prstGeom>
            </p:spPr>
          </p:pic>
        </p:grpSp>
        <p:pic>
          <p:nvPicPr>
            <p:cNvPr id="3" name="Picture 2" descr="Notepad.jpg"/>
            <p:cNvPicPr>
              <a:picLocks noChangeAspect="1"/>
            </p:cNvPicPr>
            <p:nvPr/>
          </p:nvPicPr>
          <p:blipFill>
            <a:blip r:embed="rId5" cstate="print"/>
            <a:srcRect b="25212"/>
            <a:stretch>
              <a:fillRect/>
            </a:stretch>
          </p:blipFill>
          <p:spPr>
            <a:xfrm>
              <a:off x="5181600" y="1524000"/>
              <a:ext cx="3962400" cy="2514600"/>
            </a:xfrm>
            <a:prstGeom prst="rect">
              <a:avLst/>
            </a:prstGeom>
          </p:spPr>
        </p:pic>
      </p:grpSp>
      <p:sp>
        <p:nvSpPr>
          <p:cNvPr id="11" name="Rectangle 10"/>
          <p:cNvSpPr/>
          <p:nvPr/>
        </p:nvSpPr>
        <p:spPr>
          <a:xfrm>
            <a:off x="228600" y="685800"/>
            <a:ext cx="3796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Verdana" pitchFamily="34" charset="0"/>
              </a:rPr>
              <a:t>Web </a:t>
            </a:r>
            <a:r>
              <a:rPr lang="en-US" dirty="0" err="1" smtClean="0">
                <a:latin typeface="Verdana" pitchFamily="34" charset="0"/>
              </a:rPr>
              <a:t>browser</a:t>
            </a:r>
            <a:r>
              <a:rPr lang="en-US" dirty="0" smtClean="0">
                <a:latin typeface="Verdana" pitchFamily="34" charset="0"/>
              </a:rPr>
              <a:t> – </a:t>
            </a:r>
            <a:r>
              <a:rPr lang="en-US" dirty="0" err="1" smtClean="0">
                <a:latin typeface="Verdana" pitchFamily="34" charset="0"/>
              </a:rPr>
              <a:t>trình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duyệt</a:t>
            </a:r>
            <a:r>
              <a:rPr lang="en-US" dirty="0" smtClean="0">
                <a:latin typeface="Verdana" pitchFamily="34" charset="0"/>
              </a:rPr>
              <a:t> web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239000" y="1143000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Verdana" pitchFamily="34" charset="0"/>
              </a:rPr>
              <a:t>Notepad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934200" y="5334000"/>
            <a:ext cx="205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Verdana" pitchFamily="34" charset="0"/>
              </a:rPr>
              <a:t>Dreamweaver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HTML căn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bản - </a:t>
            </a: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</a:t>
            </a:r>
            <a:r>
              <a:rPr lang="de-DE" sz="2800" baseline="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g</a:t>
            </a: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(thẻ)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457200"/>
            <a:ext cx="8915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&lt;html&gt;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&lt;head&gt;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&lt;title&gt;</a:t>
            </a:r>
            <a:r>
              <a:rPr lang="en-US" sz="2800" dirty="0" smtClean="0">
                <a:latin typeface="Verdana" pitchFamily="34" charset="0"/>
              </a:rPr>
              <a:t>First page title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&lt;/title&gt;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&lt;/head&gt;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&lt;body&gt;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Hello world!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br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It's my first html.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&lt;/html&gt;</a:t>
            </a:r>
            <a:endParaRPr lang="en-US" sz="2800" dirty="0">
              <a:solidFill>
                <a:srgbClr val="0070C0"/>
              </a:solidFill>
              <a:latin typeface="Verdana" pitchFamily="34" charset="0"/>
            </a:endParaRPr>
          </a:p>
        </p:txBody>
      </p:sp>
      <p:pic>
        <p:nvPicPr>
          <p:cNvPr id="5" name="Picture 4" descr="HelloW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8175" y="3352800"/>
            <a:ext cx="4391025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Cú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pháp, đặc tính của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85800"/>
            <a:ext cx="899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&lt;TAG </a:t>
            </a:r>
            <a:r>
              <a:rPr lang="en-US" sz="2400" dirty="0" err="1" smtClean="0">
                <a:latin typeface="Verdana" pitchFamily="34" charset="0"/>
              </a:rPr>
              <a:t>ten_thuoc_tinh</a:t>
            </a:r>
            <a:r>
              <a:rPr lang="en-US" sz="2400" dirty="0" smtClean="0">
                <a:latin typeface="Verdana" pitchFamily="34" charset="0"/>
              </a:rPr>
              <a:t>=“</a:t>
            </a:r>
            <a:r>
              <a:rPr lang="en-US" sz="2400" dirty="0" err="1" smtClean="0">
                <a:latin typeface="Verdana" pitchFamily="34" charset="0"/>
              </a:rPr>
              <a:t>gia</a:t>
            </a:r>
            <a:r>
              <a:rPr lang="en-US" sz="2400" dirty="0" smtClean="0">
                <a:latin typeface="Verdana" pitchFamily="34" charset="0"/>
              </a:rPr>
              <a:t> tri” ……..&gt; </a:t>
            </a:r>
            <a:r>
              <a:rPr lang="en-US" sz="2400" dirty="0" err="1" smtClean="0">
                <a:latin typeface="Verdana" pitchFamily="34" charset="0"/>
              </a:rPr>
              <a:t>Dữ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liệu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&lt;/TAG&gt;</a:t>
            </a:r>
            <a:endParaRPr lang="en-US" sz="2400" dirty="0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29540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HTML tag:</a:t>
            </a: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Tên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gợi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nhớ</a:t>
            </a:r>
            <a:endParaRPr lang="en-US" sz="2000" dirty="0" smtClean="0">
              <a:latin typeface="Verdana" pitchFamily="34" charset="0"/>
            </a:endParaRP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2000" dirty="0" smtClean="0">
                <a:latin typeface="Verdana" pitchFamily="34" charset="0"/>
              </a:rPr>
              <a:t>Tag được quy định trong cặp dấu ngoặc </a:t>
            </a:r>
            <a:r>
              <a:rPr lang="vi-VN" sz="2000" dirty="0" smtClean="0">
                <a:solidFill>
                  <a:srgbClr val="0070C0"/>
                </a:solidFill>
                <a:latin typeface="Verdana" pitchFamily="34" charset="0"/>
              </a:rPr>
              <a:t>&lt;&gt;</a:t>
            </a: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2000" dirty="0" smtClean="0">
                <a:latin typeface="Verdana" pitchFamily="34" charset="0"/>
              </a:rPr>
              <a:t>Phần lớn tag gồm 2 phần mở </a:t>
            </a:r>
            <a:r>
              <a:rPr lang="en-US" sz="2000" dirty="0" smtClean="0">
                <a:solidFill>
                  <a:srgbClr val="0070C0"/>
                </a:solidFill>
                <a:latin typeface="Verdana" pitchFamily="34" charset="0"/>
              </a:rPr>
              <a:t>&lt;tag&gt; </a:t>
            </a:r>
            <a:r>
              <a:rPr lang="vi-VN" sz="2000" dirty="0" smtClean="0">
                <a:latin typeface="Verdana" pitchFamily="34" charset="0"/>
              </a:rPr>
              <a:t>và đóng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smtClean="0">
                <a:solidFill>
                  <a:srgbClr val="0070C0"/>
                </a:solidFill>
                <a:latin typeface="Verdana" pitchFamily="34" charset="0"/>
              </a:rPr>
              <a:t>&lt;/tag&gt;</a:t>
            </a:r>
            <a:endParaRPr lang="vi-VN" sz="2000" dirty="0" smtClean="0">
              <a:solidFill>
                <a:srgbClr val="0070C0"/>
              </a:solidFill>
              <a:latin typeface="Verdana" pitchFamily="34" charset="0"/>
            </a:endParaRP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Một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số</a:t>
            </a:r>
            <a:r>
              <a:rPr lang="en-US" sz="2000" dirty="0" smtClean="0">
                <a:latin typeface="Verdana" pitchFamily="34" charset="0"/>
              </a:rPr>
              <a:t> tag </a:t>
            </a:r>
            <a:r>
              <a:rPr lang="en-US" sz="2000" dirty="0" err="1" smtClean="0">
                <a:latin typeface="Verdana" pitchFamily="34" charset="0"/>
              </a:rPr>
              <a:t>chỉ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có</a:t>
            </a:r>
            <a:r>
              <a:rPr lang="en-US" sz="2000" dirty="0" smtClean="0">
                <a:latin typeface="Verdana" pitchFamily="34" charset="0"/>
              </a:rPr>
              <a:t> 1 </a:t>
            </a:r>
            <a:r>
              <a:rPr lang="en-US" sz="2000" dirty="0" err="1" smtClean="0">
                <a:latin typeface="Verdana" pitchFamily="34" charset="0"/>
              </a:rPr>
              <a:t>phần</a:t>
            </a:r>
            <a:r>
              <a:rPr lang="en-US" sz="2000" dirty="0" smtClean="0">
                <a:latin typeface="Verdana" pitchFamily="34" charset="0"/>
              </a:rPr>
              <a:t> &amp; </a:t>
            </a:r>
            <a:r>
              <a:rPr lang="en-US" sz="2000" dirty="0" err="1" smtClean="0">
                <a:latin typeface="Verdana" pitchFamily="34" charset="0"/>
              </a:rPr>
              <a:t>không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có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dữ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liệu</a:t>
            </a:r>
            <a:r>
              <a:rPr lang="en-US" sz="2000" dirty="0" smtClean="0">
                <a:latin typeface="Verdana" pitchFamily="34" charset="0"/>
              </a:rPr>
              <a:t>: </a:t>
            </a:r>
            <a:r>
              <a:rPr lang="en-US" sz="20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000" dirty="0" err="1" smtClean="0">
                <a:solidFill>
                  <a:srgbClr val="0070C0"/>
                </a:solidFill>
                <a:latin typeface="Verdana" pitchFamily="34" charset="0"/>
              </a:rPr>
              <a:t>br</a:t>
            </a:r>
            <a:r>
              <a:rPr lang="en-US" sz="2000" dirty="0" smtClean="0">
                <a:solidFill>
                  <a:srgbClr val="0070C0"/>
                </a:solidFill>
                <a:latin typeface="Verdana" pitchFamily="34" charset="0"/>
              </a:rPr>
              <a:t>&gt;, &lt;hr&gt;</a:t>
            </a: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Cấu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trúc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lồng</a:t>
            </a:r>
            <a:endParaRPr lang="en-US" sz="2000" dirty="0" smtClean="0">
              <a:latin typeface="Verdana" pitchFamily="34" charset="0"/>
            </a:endParaRP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Thuộc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tính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của</a:t>
            </a:r>
            <a:r>
              <a:rPr lang="en-US" sz="2000" dirty="0" smtClean="0">
                <a:latin typeface="Verdana" pitchFamily="34" charset="0"/>
              </a:rPr>
              <a:t> tag </a:t>
            </a:r>
            <a:r>
              <a:rPr lang="en-US" sz="2000" dirty="0" err="1" smtClean="0">
                <a:latin typeface="Verdana" pitchFamily="34" charset="0"/>
              </a:rPr>
              <a:t>cung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cấp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thông</a:t>
            </a:r>
            <a:r>
              <a:rPr lang="en-US" sz="2000" dirty="0" smtClean="0">
                <a:latin typeface="Verdana" pitchFamily="34" charset="0"/>
              </a:rPr>
              <a:t> tin </a:t>
            </a:r>
            <a:r>
              <a:rPr lang="en-US" sz="2000" dirty="0" err="1" smtClean="0">
                <a:latin typeface="Verdana" pitchFamily="34" charset="0"/>
              </a:rPr>
              <a:t>bắt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buộc</a:t>
            </a:r>
            <a:r>
              <a:rPr lang="en-US" sz="2000" dirty="0" smtClean="0">
                <a:latin typeface="Verdana" pitchFamily="34" charset="0"/>
              </a:rPr>
              <a:t>/</a:t>
            </a:r>
            <a:r>
              <a:rPr lang="en-US" sz="2000" dirty="0" err="1" smtClean="0">
                <a:latin typeface="Verdana" pitchFamily="34" charset="0"/>
              </a:rPr>
              <a:t>tùy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chọn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cho</a:t>
            </a:r>
            <a:r>
              <a:rPr lang="en-US" sz="2000" dirty="0" smtClean="0">
                <a:latin typeface="Verdana" pitchFamily="34" charset="0"/>
              </a:rPr>
              <a:t> tag</a:t>
            </a: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Một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số</a:t>
            </a:r>
            <a:r>
              <a:rPr lang="en-US" sz="2000" dirty="0" smtClean="0">
                <a:latin typeface="Verdana" pitchFamily="34" charset="0"/>
              </a:rPr>
              <a:t> web browser </a:t>
            </a:r>
            <a:r>
              <a:rPr lang="en-US" sz="2000" dirty="0" err="1" smtClean="0">
                <a:latin typeface="Verdana" pitchFamily="34" charset="0"/>
              </a:rPr>
              <a:t>không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hiểu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một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số</a:t>
            </a:r>
            <a:r>
              <a:rPr lang="en-US" sz="2000" dirty="0" smtClean="0">
                <a:latin typeface="Verdana" pitchFamily="34" charset="0"/>
              </a:rPr>
              <a:t> tag </a:t>
            </a:r>
            <a:r>
              <a:rPr lang="en-US" sz="2000" dirty="0" err="1" smtClean="0">
                <a:latin typeface="Verdana" pitchFamily="34" charset="0"/>
              </a:rPr>
              <a:t>hoặc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thuộc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tính</a:t>
            </a:r>
            <a:endParaRPr lang="en-US" sz="2000" dirty="0" smtClean="0">
              <a:latin typeface="Verdana" pitchFamily="34" charset="0"/>
            </a:endParaRP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2000" dirty="0" smtClean="0">
                <a:latin typeface="Verdana" pitchFamily="34" charset="0"/>
              </a:rPr>
              <a:t>Không phân biệt chữ hoa, thường</a:t>
            </a:r>
          </a:p>
          <a:p>
            <a:pPr marL="5715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Bỏ</a:t>
            </a:r>
            <a:r>
              <a:rPr lang="en-US" sz="2000" dirty="0" smtClean="0">
                <a:latin typeface="Verdana" pitchFamily="34" charset="0"/>
              </a:rPr>
              <a:t> qua </a:t>
            </a:r>
            <a:r>
              <a:rPr lang="en-US" sz="2000" dirty="0" err="1" smtClean="0">
                <a:latin typeface="Verdana" pitchFamily="34" charset="0"/>
              </a:rPr>
              <a:t>các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khoảng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trắng</a:t>
            </a:r>
            <a:endParaRPr lang="en-US" sz="2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Cấu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trúc một webpage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609600"/>
            <a:ext cx="6324600" cy="555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&lt;html&gt;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&lt;head&gt;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&lt;title&gt;</a:t>
            </a:r>
            <a:r>
              <a:rPr lang="en-US" sz="2400" dirty="0" smtClean="0">
                <a:latin typeface="Verdana" pitchFamily="34" charset="0"/>
              </a:rPr>
              <a:t>First page title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&lt;/title&gt;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&lt;/head&gt;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&lt;body&gt;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Hello world!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br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It's my first html.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&lt;/html&gt;</a:t>
            </a:r>
            <a:endParaRPr lang="en-US" sz="2400" dirty="0">
              <a:solidFill>
                <a:srgbClr val="0070C0"/>
              </a:solidFill>
              <a:latin typeface="Verdana" pitchFamily="34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1066800" y="990600"/>
            <a:ext cx="2971800" cy="4876801"/>
            <a:chOff x="1066800" y="990600"/>
            <a:chExt cx="2971800" cy="4876801"/>
          </a:xfrm>
        </p:grpSpPr>
        <p:grpSp>
          <p:nvGrpSpPr>
            <p:cNvPr id="34" name="Group 33"/>
            <p:cNvGrpSpPr/>
            <p:nvPr/>
          </p:nvGrpSpPr>
          <p:grpSpPr>
            <a:xfrm>
              <a:off x="2590800" y="2057400"/>
              <a:ext cx="1296988" cy="611188"/>
              <a:chOff x="2741612" y="2057400"/>
              <a:chExt cx="1296988" cy="611188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5400000">
                <a:off x="2437606" y="2361406"/>
                <a:ext cx="609600" cy="1588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2743200" y="2057400"/>
                <a:ext cx="12954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2743200" y="2667000"/>
                <a:ext cx="12954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>
              <a:off x="1066800" y="990600"/>
              <a:ext cx="2971800" cy="4876801"/>
              <a:chOff x="1066800" y="990600"/>
              <a:chExt cx="2971800" cy="4876801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1773446" y="4495800"/>
                <a:ext cx="1676400" cy="1588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2587583" y="3657600"/>
                <a:ext cx="12954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2587583" y="5332412"/>
                <a:ext cx="12954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5400000">
                <a:off x="1090863" y="2362200"/>
                <a:ext cx="1676400" cy="1588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1905000" y="1523066"/>
                <a:ext cx="2057400" cy="2522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1905000" y="3200400"/>
                <a:ext cx="20574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>
                <a:off x="-1359171" y="3416572"/>
                <a:ext cx="4876800" cy="24857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1066800" y="990600"/>
                <a:ext cx="29718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1066800" y="5865812"/>
                <a:ext cx="2895600" cy="1588"/>
              </a:xfrm>
              <a:prstGeom prst="straightConnector1">
                <a:avLst/>
              </a:prstGeom>
              <a:ln w="1905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Rectangle 52"/>
          <p:cNvSpPr/>
          <p:nvPr/>
        </p:nvSpPr>
        <p:spPr>
          <a:xfrm rot="16200000">
            <a:off x="641866" y="1987034"/>
            <a:ext cx="2209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  <a:latin typeface="Verdana" pitchFamily="34" charset="0"/>
              </a:rPr>
              <a:t>Phần</a:t>
            </a:r>
            <a:r>
              <a:rPr lang="en-US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Verdana" pitchFamily="34" charset="0"/>
              </a:rPr>
              <a:t>đầu</a:t>
            </a:r>
            <a:r>
              <a:rPr lang="en-US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Verdana" pitchFamily="34" charset="0"/>
              </a:rPr>
              <a:t>trang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rot="16200000">
            <a:off x="1213365" y="4349234"/>
            <a:ext cx="2209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 smtClean="0">
                <a:solidFill>
                  <a:srgbClr val="002060"/>
                </a:solidFill>
                <a:latin typeface="Verdana" pitchFamily="34" charset="0"/>
              </a:rPr>
              <a:t>Phần</a:t>
            </a:r>
            <a:r>
              <a:rPr lang="en-US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Verdana" pitchFamily="34" charset="0"/>
              </a:rPr>
              <a:t>nội</a:t>
            </a:r>
            <a:r>
              <a:rPr lang="en-US" dirty="0" smtClean="0">
                <a:solidFill>
                  <a:srgbClr val="002060"/>
                </a:solidFill>
                <a:latin typeface="Verdana" pitchFamily="34" charset="0"/>
              </a:rPr>
              <a:t> dung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 rot="16200000">
            <a:off x="-691634" y="3053833"/>
            <a:ext cx="2819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Bắt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đầu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và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kết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thúc</a:t>
            </a:r>
            <a:r>
              <a:rPr lang="en-US" dirty="0" smtClean="0">
                <a:solidFill>
                  <a:srgbClr val="002060"/>
                </a:solidFill>
              </a:rPr>
              <a:t> 1 </a:t>
            </a:r>
            <a:r>
              <a:rPr lang="en-US" dirty="0" err="1" smtClean="0">
                <a:solidFill>
                  <a:srgbClr val="002060"/>
                </a:solidFill>
              </a:rPr>
              <a:t>trang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Cấu trúc 1 tài liệu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751850"/>
            <a:ext cx="9144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&lt;html&gt;&lt;/html&gt; </a:t>
            </a:r>
            <a:r>
              <a:rPr lang="vi-VN" sz="2400" dirty="0" smtClean="0">
                <a:latin typeface="Verdana" pitchFamily="34" charset="0"/>
              </a:rPr>
              <a:t>: Định nghĩa phạm vi của văn bản HTML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&lt;head&gt;&lt;/head&gt; </a:t>
            </a:r>
            <a:r>
              <a:rPr lang="vi-VN" sz="2400" dirty="0" smtClean="0">
                <a:latin typeface="Verdana" pitchFamily="34" charset="0"/>
              </a:rPr>
              <a:t>: </a:t>
            </a:r>
            <a:endParaRPr lang="en-US" sz="2400" dirty="0" smtClean="0">
              <a:latin typeface="Verdana" pitchFamily="34" charset="0"/>
            </a:endParaRPr>
          </a:p>
          <a:p>
            <a:pPr marL="336550">
              <a:lnSpc>
                <a:spcPct val="150000"/>
              </a:lnSpc>
              <a:spcBef>
                <a:spcPts val="1200"/>
              </a:spcBef>
            </a:pPr>
            <a:r>
              <a:rPr lang="vi-VN" sz="2400" dirty="0" smtClean="0">
                <a:latin typeface="Verdana" pitchFamily="34" charset="0"/>
              </a:rPr>
              <a:t>Định nghĩa các mô tả về trang HTML. Thông tin trong tag này không được hiển thị trên trang web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&lt;title&gt;&lt;/title&gt; </a:t>
            </a:r>
            <a:r>
              <a:rPr lang="vi-VN" sz="2400" dirty="0" smtClean="0">
                <a:latin typeface="Verdana" pitchFamily="34" charset="0"/>
              </a:rPr>
              <a:t>: Mô tả tiêu đề trang web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&lt;body&gt;&lt;/body&gt; </a:t>
            </a:r>
            <a:r>
              <a:rPr lang="vi-VN" sz="2400" dirty="0" smtClean="0">
                <a:latin typeface="Verdana" pitchFamily="34" charset="0"/>
              </a:rPr>
              <a:t>: </a:t>
            </a:r>
            <a:endParaRPr lang="en-US" sz="2400" dirty="0" smtClean="0">
              <a:latin typeface="Verdana" pitchFamily="34" charset="0"/>
            </a:endParaRPr>
          </a:p>
          <a:p>
            <a:pPr marL="288925">
              <a:lnSpc>
                <a:spcPct val="150000"/>
              </a:lnSpc>
              <a:spcBef>
                <a:spcPts val="1200"/>
              </a:spcBef>
            </a:pPr>
            <a:r>
              <a:rPr lang="vi-VN" sz="2400" dirty="0" smtClean="0">
                <a:latin typeface="Verdana" pitchFamily="34" charset="0"/>
              </a:rPr>
              <a:t>Xác định vùng thân của trang web, nơi chứa các thông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tag HTML cơ 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" y="751850"/>
            <a:ext cx="8763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Tag </a:t>
            </a:r>
            <a:r>
              <a:rPr lang="en-US" sz="2400" dirty="0" err="1" smtClean="0">
                <a:latin typeface="Verdana" pitchFamily="34" charset="0"/>
              </a:rPr>
              <a:t>xử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lý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định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bản</a:t>
            </a:r>
            <a:endParaRPr lang="en-US" sz="24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danh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sách</a:t>
            </a:r>
            <a:endParaRPr lang="en-US" sz="24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tạo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bảng</a:t>
            </a:r>
            <a:r>
              <a:rPr lang="en-US" sz="2400" dirty="0" smtClean="0">
                <a:latin typeface="Verdana" pitchFamily="34" charset="0"/>
              </a:rPr>
              <a:t> &lt;table&gt;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&lt;a&gt;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hình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ảnh</a:t>
            </a:r>
            <a:r>
              <a:rPr lang="en-US" sz="2400" dirty="0" smtClean="0">
                <a:latin typeface="Verdana" pitchFamily="34" charset="0"/>
              </a:rPr>
              <a:t> &lt;</a:t>
            </a:r>
            <a:r>
              <a:rPr lang="en-US" sz="2400" dirty="0" err="1" smtClean="0">
                <a:latin typeface="Verdana" pitchFamily="34" charset="0"/>
              </a:rPr>
              <a:t>img</a:t>
            </a:r>
            <a:r>
              <a:rPr lang="en-US" sz="2400" dirty="0" smtClean="0">
                <a:latin typeface="Verdana" pitchFamily="34" charset="0"/>
              </a:rPr>
              <a:t>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âm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thanh</a:t>
            </a:r>
            <a:r>
              <a:rPr lang="en-US" sz="2400" dirty="0" smtClean="0">
                <a:latin typeface="Verdana" pitchFamily="34" charset="0"/>
              </a:rPr>
              <a:t> </a:t>
            </a:r>
            <a:endParaRPr lang="vi-VN" sz="24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xử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lý định dạng văn 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200" y="457200"/>
            <a:ext cx="8763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Tiêu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đề</a:t>
            </a:r>
            <a:r>
              <a:rPr lang="en-US" sz="2400" dirty="0" smtClean="0">
                <a:latin typeface="Verdana" pitchFamily="34" charset="0"/>
              </a:rPr>
              <a:t> - heading tags: &lt;h1&gt;, &lt;h2&gt;, …, &lt;h6&gt;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Đoạn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bản</a:t>
            </a:r>
            <a:r>
              <a:rPr lang="en-US" sz="2400" dirty="0" smtClean="0">
                <a:latin typeface="Verdana" pitchFamily="34" charset="0"/>
              </a:rPr>
              <a:t>: &lt;p&gt;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Định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chuỗi</a:t>
            </a:r>
            <a:r>
              <a:rPr lang="en-US" sz="2400" dirty="0" smtClean="0">
                <a:latin typeface="Verdana" pitchFamily="34" charset="0"/>
              </a:rPr>
              <a:t>: &lt;</a:t>
            </a:r>
            <a:r>
              <a:rPr lang="en-US" sz="2400" dirty="0" err="1" smtClean="0">
                <a:latin typeface="Verdana" pitchFamily="34" charset="0"/>
              </a:rPr>
              <a:t>em</a:t>
            </a:r>
            <a:r>
              <a:rPr lang="en-US" sz="2400" dirty="0" smtClean="0">
                <a:latin typeface="Verdana" pitchFamily="34" charset="0"/>
              </a:rPr>
              <a:t>&gt;, &lt;</a:t>
            </a:r>
            <a:r>
              <a:rPr lang="en-US" sz="2400" dirty="0" err="1" smtClean="0">
                <a:latin typeface="Verdana" pitchFamily="34" charset="0"/>
              </a:rPr>
              <a:t>i</a:t>
            </a:r>
            <a:r>
              <a:rPr lang="en-US" sz="2400" dirty="0" smtClean="0">
                <a:latin typeface="Verdana" pitchFamily="34" charset="0"/>
              </a:rPr>
              <a:t>&gt;, &lt;b&gt;, </a:t>
            </a:r>
            <a:r>
              <a:rPr lang="en-US" sz="2400" dirty="0" err="1" smtClean="0">
                <a:latin typeface="Verdana" pitchFamily="34" charset="0"/>
              </a:rPr>
              <a:t>và</a:t>
            </a:r>
            <a:r>
              <a:rPr lang="en-US" sz="2400" dirty="0" smtClean="0">
                <a:latin typeface="Verdana" pitchFamily="34" charset="0"/>
              </a:rPr>
              <a:t> &lt;font&gt;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Đường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kẻ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ngang</a:t>
            </a:r>
            <a:r>
              <a:rPr lang="en-US" sz="2400" dirty="0" smtClean="0">
                <a:latin typeface="Verdana" pitchFamily="34" charset="0"/>
              </a:rPr>
              <a:t>: &lt;hr&gt;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Xuống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dòng</a:t>
            </a:r>
            <a:r>
              <a:rPr lang="en-US" sz="2400" dirty="0" smtClean="0">
                <a:latin typeface="Verdana" pitchFamily="34" charset="0"/>
              </a:rPr>
              <a:t> &lt;</a:t>
            </a:r>
            <a:r>
              <a:rPr lang="en-US" sz="2400" dirty="0" err="1" smtClean="0">
                <a:latin typeface="Verdana" pitchFamily="34" charset="0"/>
              </a:rPr>
              <a:t>br</a:t>
            </a:r>
            <a:r>
              <a:rPr lang="en-US" sz="2400" dirty="0" smtClean="0">
                <a:latin typeface="Verdana" pitchFamily="34" charset="0"/>
              </a:rPr>
              <a:t>&gt;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ký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tự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đặc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biệt</a:t>
            </a:r>
            <a:endParaRPr lang="vi-VN" sz="24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Ví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dụ: Tag Heading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8" name="Picture 7" descr="DrIntroH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609600"/>
            <a:ext cx="4752975" cy="37814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IntroHeadTa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2124075"/>
            <a:ext cx="4667250" cy="41243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rot="5400000" flipH="1" flipV="1">
            <a:off x="1562100" y="4305300"/>
            <a:ext cx="838200" cy="3048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5905500" y="2247900"/>
            <a:ext cx="1981200" cy="6858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4953000"/>
            <a:ext cx="26804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latin typeface="Verdana" pitchFamily="34" charset="0"/>
              </a:rPr>
              <a:t>Ngôn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ngữ</a:t>
            </a:r>
            <a:r>
              <a:rPr lang="en-US" dirty="0" smtClean="0">
                <a:latin typeface="Verdana" pitchFamily="34" charset="0"/>
              </a:rPr>
              <a:t> HTML</a:t>
            </a:r>
          </a:p>
          <a:p>
            <a:pPr algn="ctr"/>
            <a:r>
              <a:rPr lang="en-US" dirty="0" err="1" smtClean="0">
                <a:latin typeface="Verdana" pitchFamily="34" charset="0"/>
              </a:rPr>
              <a:t>Trong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trình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soạn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thảo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791200" y="990600"/>
            <a:ext cx="21820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latin typeface="Verdana" pitchFamily="34" charset="0"/>
              </a:rPr>
              <a:t>Nội</a:t>
            </a:r>
            <a:r>
              <a:rPr lang="en-US" dirty="0" smtClean="0">
                <a:latin typeface="Verdana" pitchFamily="34" charset="0"/>
              </a:rPr>
              <a:t> dung </a:t>
            </a:r>
            <a:r>
              <a:rPr lang="en-US" dirty="0" err="1" smtClean="0">
                <a:latin typeface="Verdana" pitchFamily="34" charset="0"/>
              </a:rPr>
              <a:t>hiện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thị</a:t>
            </a:r>
            <a:endParaRPr lang="en-US" dirty="0" smtClean="0">
              <a:latin typeface="Verdana" pitchFamily="34" charset="0"/>
            </a:endParaRPr>
          </a:p>
          <a:p>
            <a:pPr algn="ctr"/>
            <a:r>
              <a:rPr lang="en-US" dirty="0" err="1" smtClean="0">
                <a:latin typeface="Verdana" pitchFamily="34" charset="0"/>
              </a:rPr>
              <a:t>Trong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trình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duyệt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Ví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dụ: Tag Paragraph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4" name="Picture 13" descr="Paragrap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533400"/>
            <a:ext cx="4705350" cy="38195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 descr="Paragraph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4038600"/>
            <a:ext cx="8915400" cy="217496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6" name="Straight Arrow Connector 15"/>
          <p:cNvCxnSpPr/>
          <p:nvPr/>
        </p:nvCxnSpPr>
        <p:spPr>
          <a:xfrm rot="10800000" flipV="1">
            <a:off x="2667000" y="2057400"/>
            <a:ext cx="3733800" cy="6858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10200" y="990600"/>
            <a:ext cx="34290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 smtClean="0">
                <a:latin typeface="Verdana" pitchFamily="34" charset="0"/>
              </a:rPr>
              <a:t>Thuộc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tính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của</a:t>
            </a:r>
            <a:r>
              <a:rPr lang="en-US" dirty="0" smtClean="0">
                <a:latin typeface="Verdana" pitchFamily="34" charset="0"/>
              </a:rPr>
              <a:t> tag &lt;body&gt;</a:t>
            </a:r>
            <a:endParaRPr lang="en-US" dirty="0" smtClean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400" dirty="0" smtClean="0"/>
              <a:t>&lt;body </a:t>
            </a:r>
            <a:r>
              <a:rPr lang="en-US" sz="2400" dirty="0" err="1" smtClean="0"/>
              <a:t>bgcolor</a:t>
            </a:r>
            <a:r>
              <a:rPr lang="en-US" sz="2400" dirty="0" smtClean="0"/>
              <a:t>=‘pink’&gt;</a:t>
            </a:r>
            <a:endParaRPr lang="en-US" sz="2400" dirty="0" smtClean="0">
              <a:latin typeface="Verdana" pitchFamily="34" charset="0"/>
            </a:endParaRPr>
          </a:p>
          <a:p>
            <a:pPr algn="ctr"/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5372100" y="3238500"/>
            <a:ext cx="3200400" cy="8382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Horizontal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rules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81000"/>
            <a:ext cx="8915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latin typeface="Verdana" pitchFamily="34" charset="0"/>
              </a:rPr>
              <a:t>&lt;HR …&gt;</a:t>
            </a:r>
          </a:p>
          <a:p>
            <a:endParaRPr lang="en-US" sz="2400" dirty="0" smtClean="0">
              <a:latin typeface="Verdana" pitchFamily="34" charset="0"/>
            </a:endParaRPr>
          </a:p>
          <a:p>
            <a:r>
              <a:rPr lang="vi-VN" sz="2400" dirty="0" smtClean="0">
                <a:latin typeface="Verdana" pitchFamily="34" charset="0"/>
              </a:rPr>
              <a:t>–Thuộc tính :</a:t>
            </a:r>
          </a:p>
          <a:p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vi-VN" sz="2400" dirty="0" smtClean="0">
                <a:latin typeface="Verdana" pitchFamily="34" charset="0"/>
              </a:rPr>
              <a:t>•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align : Canh hàng đường kẻ ngang so với trang web</a:t>
            </a:r>
          </a:p>
          <a:p>
            <a:pPr lvl="1"/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vi-VN" sz="2400" dirty="0" smtClean="0">
                <a:latin typeface="Verdana" pitchFamily="34" charset="0"/>
              </a:rPr>
              <a:t>•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width : Chiều dài đường kẻ ngang</a:t>
            </a:r>
          </a:p>
          <a:p>
            <a:pPr lvl="1"/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vi-VN" sz="2400" dirty="0" smtClean="0">
                <a:latin typeface="Verdana" pitchFamily="34" charset="0"/>
              </a:rPr>
              <a:t>•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size : Bề rộng của đường kẻ ngang</a:t>
            </a:r>
          </a:p>
          <a:p>
            <a:pPr lvl="1"/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en-US" sz="2400" dirty="0" smtClean="0">
                <a:latin typeface="Verdana" pitchFamily="34" charset="0"/>
              </a:rPr>
              <a:t>• </a:t>
            </a:r>
            <a:r>
              <a:rPr lang="en-US" sz="2400" dirty="0" err="1" smtClean="0">
                <a:latin typeface="Verdana" pitchFamily="34" charset="0"/>
              </a:rPr>
              <a:t>noshade</a:t>
            </a:r>
            <a:r>
              <a:rPr lang="en-US" sz="2400" dirty="0" smtClean="0">
                <a:latin typeface="Verdana" pitchFamily="34" charset="0"/>
              </a:rPr>
              <a:t> : </a:t>
            </a:r>
            <a:r>
              <a:rPr lang="en-US" sz="2400" dirty="0" err="1" smtClean="0">
                <a:latin typeface="Verdana" pitchFamily="34" charset="0"/>
              </a:rPr>
              <a:t>Không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bóng</a:t>
            </a:r>
            <a:endParaRPr lang="en-US" sz="2400" dirty="0" smtClean="0">
              <a:latin typeface="Verdana" pitchFamily="34" charset="0"/>
            </a:endParaRPr>
          </a:p>
          <a:p>
            <a:endParaRPr lang="en-US" sz="2400" dirty="0" smtClean="0">
              <a:latin typeface="Verdana" pitchFamily="34" charset="0"/>
            </a:endParaRPr>
          </a:p>
          <a:p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&lt;HR </a:t>
            </a:r>
            <a:r>
              <a:rPr lang="en-US" sz="2200" dirty="0" err="1" smtClean="0">
                <a:latin typeface="Verdana" pitchFamily="34" charset="0"/>
              </a:rPr>
              <a:t>noshade</a:t>
            </a:r>
            <a:r>
              <a:rPr lang="en-US" sz="2200" dirty="0" smtClean="0">
                <a:latin typeface="Verdana" pitchFamily="34" charset="0"/>
              </a:rPr>
              <a:t> size=‘5’ align=‘center’  width=‘40%’</a:t>
            </a: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&gt;&lt;/HR&gt;</a:t>
            </a:r>
          </a:p>
          <a:p>
            <a:endParaRPr lang="en-US" sz="2200" dirty="0" smtClean="0">
              <a:latin typeface="Verdana" pitchFamily="34" charset="0"/>
            </a:endParaRPr>
          </a:p>
          <a:p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&lt;HR </a:t>
            </a:r>
            <a:r>
              <a:rPr lang="en-US" sz="2200" dirty="0" smtClean="0">
                <a:latin typeface="Verdana" pitchFamily="34" charset="0"/>
              </a:rPr>
              <a:t>size=‘15’align=‘right’ width=‘80%’</a:t>
            </a: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&gt;&lt;/HR&gt;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Định dạng chữ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81000"/>
            <a:ext cx="9144000" cy="6203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latin typeface="Verdana" pitchFamily="34" charset="0"/>
              </a:rPr>
              <a:t>Định</a:t>
            </a:r>
            <a:r>
              <a:rPr lang="en-US" sz="2400" b="1" dirty="0" smtClean="0">
                <a:latin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</a:rPr>
              <a:t>dạng</a:t>
            </a:r>
            <a:r>
              <a:rPr lang="en-US" sz="2400" b="1" dirty="0" smtClean="0">
                <a:latin typeface="Verdana" pitchFamily="34" charset="0"/>
              </a:rPr>
              <a:t>:</a:t>
            </a:r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&lt;font&gt;</a:t>
            </a:r>
            <a:r>
              <a:rPr lang="en-US" sz="2400" dirty="0" smtClean="0">
                <a:latin typeface="Verdana" pitchFamily="34" charset="0"/>
              </a:rPr>
              <a:t>Hello world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&lt;/font&gt;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&lt;font style="font-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family: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Verdana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, Geneva, sans-serif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" </a:t>
            </a:r>
            <a:br>
              <a:rPr lang="en-US" dirty="0" smtClean="0">
                <a:solidFill>
                  <a:srgbClr val="0070C0"/>
                </a:solidFill>
                <a:latin typeface="Verdana" pitchFamily="34" charset="0"/>
              </a:rPr>
            </a:b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		  color="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#000099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" size="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3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"&gt; </a:t>
            </a:r>
            <a:r>
              <a:rPr lang="en-US" dirty="0" smtClean="0">
                <a:latin typeface="Verdana" pitchFamily="34" charset="0"/>
              </a:rPr>
              <a:t>Hello world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&lt;/font&gt;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&lt;b&gt;</a:t>
            </a:r>
            <a:r>
              <a:rPr lang="en-US" sz="2400" dirty="0" smtClean="0">
                <a:latin typeface="Verdana" pitchFamily="34" charset="0"/>
              </a:rPr>
              <a:t>This text is bold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&lt;/b&gt;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&lt;strong&gt;</a:t>
            </a:r>
            <a:r>
              <a:rPr lang="en-US" sz="2400" dirty="0" smtClean="0">
                <a:latin typeface="Verdana" pitchFamily="34" charset="0"/>
              </a:rPr>
              <a:t>This text is strong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&lt;/strong&gt;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&lt;big&gt;</a:t>
            </a:r>
            <a:r>
              <a:rPr lang="en-US" sz="2400" dirty="0" smtClean="0">
                <a:latin typeface="Verdana" pitchFamily="34" charset="0"/>
              </a:rPr>
              <a:t>This text is big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&lt;/big&gt;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em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This text is emphasized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em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i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This text is italic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i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&lt;small&gt;</a:t>
            </a:r>
            <a:r>
              <a:rPr lang="en-US" sz="2400" dirty="0" smtClean="0">
                <a:latin typeface="Verdana" pitchFamily="34" charset="0"/>
              </a:rPr>
              <a:t>This text is small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&lt;/small&gt;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latin typeface="Verdana" pitchFamily="34" charset="0"/>
              </a:rPr>
              <a:t>This text contains a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&lt;sub&gt;</a:t>
            </a:r>
            <a:r>
              <a:rPr lang="en-US" sz="2400" dirty="0" smtClean="0">
                <a:latin typeface="Verdana" pitchFamily="34" charset="0"/>
              </a:rPr>
              <a:t>2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&lt;/sub&gt;</a:t>
            </a:r>
          </a:p>
          <a:p>
            <a:pPr lvl="1">
              <a:lnSpc>
                <a:spcPct val="140000"/>
              </a:lnSpc>
            </a:pPr>
            <a:r>
              <a:rPr lang="en-US" sz="2400" dirty="0" smtClean="0">
                <a:latin typeface="Verdana" pitchFamily="34" charset="0"/>
              </a:rPr>
              <a:t>This text contains x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&lt;sup&gt;</a:t>
            </a:r>
            <a:r>
              <a:rPr lang="en-US" sz="2400" dirty="0" smtClean="0">
                <a:latin typeface="Verdana" pitchFamily="34" charset="0"/>
              </a:rPr>
              <a:t>2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&lt;/sup&gt;</a:t>
            </a:r>
            <a:r>
              <a:rPr lang="en-US" sz="2400" dirty="0" smtClean="0">
                <a:latin typeface="Verdana" pitchFamily="34" charset="0"/>
              </a:rPr>
              <a:t>= a x a</a:t>
            </a:r>
            <a:endParaRPr lang="en-US" sz="22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Định dạng chữ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21456"/>
            <a:ext cx="9144000" cy="5926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&lt;EM&gt;</a:t>
            </a:r>
            <a:r>
              <a:rPr lang="en-US" sz="2400" dirty="0" smtClean="0">
                <a:latin typeface="Verdana" pitchFamily="34" charset="0"/>
              </a:rPr>
              <a:t>Computer Sciences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&lt;/EM&gt;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&lt;STRONG&gt; </a:t>
            </a:r>
            <a:r>
              <a:rPr lang="en-US" sz="2400" dirty="0" smtClean="0">
                <a:latin typeface="Verdana" pitchFamily="34" charset="0"/>
              </a:rPr>
              <a:t>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&lt;/STRONG&gt;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&lt;DFN&gt; </a:t>
            </a:r>
            <a:r>
              <a:rPr lang="en-US" sz="2400" dirty="0" smtClean="0">
                <a:latin typeface="Verdana" pitchFamily="34" charset="0"/>
              </a:rPr>
              <a:t>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&lt;/DFN&gt;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&lt;CODE&gt;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&lt;/CODE&gt;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&lt;KBD&gt;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&lt;/KBD&gt;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&lt;VAR&gt;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&lt;/VAR&gt;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&lt;CITE&gt;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&lt;/CITE&gt;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&lt;BLINK&gt;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&lt;/BLINK&gt;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&lt;DEL&gt;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&lt;/DEL&gt;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   &lt;INS&gt;</a:t>
            </a:r>
            <a:r>
              <a:rPr lang="en-US" sz="2400" dirty="0" smtClean="0">
                <a:latin typeface="Verdana" pitchFamily="34" charset="0"/>
              </a:rPr>
              <a:t> Computer Sciences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&lt;/INS&gt;</a:t>
            </a:r>
            <a:endParaRPr lang="en-US" sz="22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Định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dạng theo tag &lt;Pre&gt;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5334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dirty="0" smtClean="0">
                <a:latin typeface="Verdana" pitchFamily="34" charset="0"/>
              </a:rPr>
              <a:t>Hiển thị đúng dạng văn bản đã soạn thảo (khoảng trắng, xuống dòng, tag,…)</a:t>
            </a:r>
          </a:p>
        </p:txBody>
      </p:sp>
      <p:pic>
        <p:nvPicPr>
          <p:cNvPr id="5" name="Picture 4" descr="Pre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1524000"/>
            <a:ext cx="5638800" cy="47117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ký tự đặc biệt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530" y="1255658"/>
          <a:ext cx="71626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518"/>
                <a:gridCol w="1657317"/>
                <a:gridCol w="2041117"/>
                <a:gridCol w="21907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Result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Description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Entity name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Entity number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Khoảng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trắng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nbsp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&amp;#160;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Dấu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và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&amp;amp;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&amp;#38;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“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Ngoặc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kép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quot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&amp;#34;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Nhổ</a:t>
                      </a:r>
                      <a:r>
                        <a:rPr lang="en-US" sz="14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hơn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lt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&amp;#60;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Lớn</a:t>
                      </a:r>
                      <a:r>
                        <a:rPr lang="en-US" sz="14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hơn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gt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&amp;#62;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20395" y="3200400"/>
            <a:ext cx="1018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Verdana" pitchFamily="34" charset="0"/>
              </a:rPr>
              <a:t>..v ..v..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4390946" cy="571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ký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tự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đặc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biệt</a:t>
            </a:r>
            <a:endParaRPr lang="vi-VN" sz="2400" dirty="0" smtClean="0"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358140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Ví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dụ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Để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được</a:t>
            </a:r>
            <a:r>
              <a:rPr lang="en-US" sz="2400" dirty="0" smtClean="0">
                <a:latin typeface="Verdana" pitchFamily="34" charset="0"/>
              </a:rPr>
              <a:t>: &lt;Dai hoc </a:t>
            </a:r>
            <a:r>
              <a:rPr lang="en-US" sz="2400" dirty="0" err="1" smtClean="0">
                <a:latin typeface="Verdana" pitchFamily="34" charset="0"/>
              </a:rPr>
              <a:t>sai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Gon</a:t>
            </a:r>
            <a:r>
              <a:rPr lang="en-US" sz="2400" dirty="0" smtClean="0">
                <a:latin typeface="Verdana" pitchFamily="34" charset="0"/>
              </a:rPr>
              <a:t>&gt; &amp; “SGU”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&amp;</a:t>
            </a:r>
            <a:r>
              <a:rPr lang="en-US" sz="2400" dirty="0" err="1" smtClean="0">
                <a:latin typeface="Verdana" pitchFamily="34" charset="0"/>
              </a:rPr>
              <a:t>lt;Dai</a:t>
            </a:r>
            <a:r>
              <a:rPr lang="en-US" sz="2400" dirty="0" smtClean="0">
                <a:latin typeface="Verdana" pitchFamily="34" charset="0"/>
              </a:rPr>
              <a:t> hoc </a:t>
            </a:r>
            <a:r>
              <a:rPr lang="en-US" sz="2400" dirty="0" err="1" smtClean="0">
                <a:latin typeface="Verdana" pitchFamily="34" charset="0"/>
              </a:rPr>
              <a:t>sai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Gon&amp;gt</a:t>
            </a:r>
            <a:r>
              <a:rPr lang="en-US" sz="2400" dirty="0" smtClean="0">
                <a:latin typeface="Verdana" pitchFamily="34" charset="0"/>
              </a:rPr>
              <a:t>;&amp;</a:t>
            </a:r>
            <a:r>
              <a:rPr lang="en-US" sz="2400" dirty="0" err="1" smtClean="0">
                <a:latin typeface="Verdana" pitchFamily="34" charset="0"/>
              </a:rPr>
              <a:t>nbsp</a:t>
            </a:r>
            <a:r>
              <a:rPr lang="en-US" sz="2400" dirty="0" smtClean="0">
                <a:latin typeface="Verdana" pitchFamily="34" charset="0"/>
              </a:rPr>
              <a:t> ;&amp;</a:t>
            </a:r>
            <a:r>
              <a:rPr lang="en-US" sz="2400" dirty="0" err="1" smtClean="0">
                <a:latin typeface="Verdana" pitchFamily="34" charset="0"/>
              </a:rPr>
              <a:t>nbsp</a:t>
            </a:r>
            <a:r>
              <a:rPr lang="en-US" sz="2400" dirty="0" smtClean="0">
                <a:latin typeface="Verdana" pitchFamily="34" charset="0"/>
              </a:rPr>
              <a:t>;&amp;amp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; &amp;</a:t>
            </a:r>
            <a:r>
              <a:rPr lang="en-US" sz="2400" dirty="0" err="1" smtClean="0">
                <a:latin typeface="Verdana" pitchFamily="34" charset="0"/>
              </a:rPr>
              <a:t>nbsp</a:t>
            </a:r>
            <a:r>
              <a:rPr lang="en-US" sz="2400" dirty="0" smtClean="0">
                <a:latin typeface="Verdana" pitchFamily="34" charset="0"/>
              </a:rPr>
              <a:t> ;&amp;</a:t>
            </a:r>
            <a:r>
              <a:rPr lang="en-US" sz="2400" dirty="0" err="1" smtClean="0">
                <a:latin typeface="Verdana" pitchFamily="34" charset="0"/>
              </a:rPr>
              <a:t>nbsp</a:t>
            </a:r>
            <a:r>
              <a:rPr lang="en-US" sz="2400" dirty="0" smtClean="0">
                <a:latin typeface="Verdana" pitchFamily="34" charset="0"/>
              </a:rPr>
              <a:t>;&amp;</a:t>
            </a:r>
            <a:r>
              <a:rPr lang="en-US" sz="2400" dirty="0" err="1" smtClean="0">
                <a:latin typeface="Verdana" pitchFamily="34" charset="0"/>
              </a:rPr>
              <a:t>quot;SGU&amp;quot</a:t>
            </a:r>
            <a:r>
              <a:rPr lang="en-US" sz="2400" dirty="0" smtClean="0">
                <a:latin typeface="Verdana" pitchFamily="34" charset="0"/>
              </a:rPr>
              <a:t>; </a:t>
            </a:r>
          </a:p>
          <a:p>
            <a:pPr algn="ctr"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HTML special character --</a:t>
            </a:r>
            <a:r>
              <a:rPr lang="en-US" sz="2400" dirty="0" smtClean="0">
                <a:latin typeface="Verdana" pitchFamily="34" charset="0"/>
                <a:sym typeface="Wingdings" pitchFamily="2" charset="2"/>
              </a:rPr>
              <a:t> Google</a:t>
            </a:r>
            <a:endParaRPr lang="en-US" sz="2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hình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ảnh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539889"/>
            <a:ext cx="914400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&lt;img&gt; </a:t>
            </a:r>
            <a:r>
              <a:rPr lang="vi-VN" sz="2400" dirty="0" smtClean="0">
                <a:latin typeface="Verdana" pitchFamily="34" charset="0"/>
              </a:rPr>
              <a:t>: Không có thẻ đóng</a:t>
            </a:r>
            <a:endParaRPr lang="en-US" sz="24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vi-VN" sz="2400" smtClean="0">
                <a:solidFill>
                  <a:srgbClr val="0070C0"/>
                </a:solidFill>
                <a:latin typeface="Verdana" pitchFamily="34" charset="0"/>
              </a:rPr>
              <a:t>img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 src</a:t>
            </a:r>
            <a:r>
              <a:rPr lang="en-US" sz="2400" smtClean="0">
                <a:latin typeface="Verdana" pitchFamily="34" charset="0"/>
              </a:rPr>
              <a:t>=</a:t>
            </a:r>
            <a:r>
              <a:rPr lang="en-US" sz="2400" dirty="0" smtClean="0"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alt</a:t>
            </a:r>
            <a:r>
              <a:rPr lang="en-US" sz="2400" dirty="0" smtClean="0">
                <a:latin typeface="Verdana" pitchFamily="34" charset="0"/>
              </a:rPr>
              <a:t>=“Description”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width</a:t>
            </a:r>
            <a:r>
              <a:rPr lang="en-US" sz="2400" dirty="0" smtClean="0">
                <a:latin typeface="Verdana" pitchFamily="34" charset="0"/>
              </a:rPr>
              <a:t>=“Number”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height</a:t>
            </a:r>
            <a:r>
              <a:rPr lang="en-US" sz="2400" dirty="0" smtClean="0">
                <a:latin typeface="Verdana" pitchFamily="34" charset="0"/>
              </a:rPr>
              <a:t>=“Number”</a:t>
            </a: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&gt;</a:t>
            </a:r>
            <a:endParaRPr lang="en-US" sz="2400" dirty="0" smtClean="0">
              <a:solidFill>
                <a:srgbClr val="0070C0"/>
              </a:solidFill>
              <a:latin typeface="Verdana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2400" dirty="0" smtClean="0">
                <a:latin typeface="Verdana" pitchFamily="34" charset="0"/>
              </a:rPr>
              <a:t>Các thuộc tính của tag &lt;img&gt;:</a:t>
            </a:r>
          </a:p>
          <a:p>
            <a:pPr lvl="1">
              <a:lnSpc>
                <a:spcPct val="150000"/>
              </a:lnSpc>
            </a:pPr>
            <a:r>
              <a:rPr lang="vi-VN" sz="2400" dirty="0" smtClean="0">
                <a:latin typeface="Verdana" pitchFamily="34" charset="0"/>
              </a:rPr>
              <a:t>–</a:t>
            </a:r>
            <a:r>
              <a:rPr lang="en-US" sz="2400" dirty="0" err="1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src</a:t>
            </a:r>
            <a:r>
              <a:rPr lang="vi-VN" sz="24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: Đường dẫn đến file hình ảnh</a:t>
            </a:r>
          </a:p>
          <a:p>
            <a:pPr lvl="1">
              <a:lnSpc>
                <a:spcPct val="150000"/>
              </a:lnSpc>
            </a:pPr>
            <a:r>
              <a:rPr lang="vi-VN" sz="2400" dirty="0" smtClean="0">
                <a:latin typeface="Verdana" pitchFamily="34" charset="0"/>
              </a:rPr>
              <a:t>–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alt</a:t>
            </a:r>
            <a:r>
              <a:rPr lang="vi-VN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 </a:t>
            </a:r>
            <a:r>
              <a:rPr lang="vi-VN" sz="2400" dirty="0" smtClean="0">
                <a:latin typeface="Verdana" pitchFamily="34" charset="0"/>
              </a:rPr>
              <a:t>: Chú thích cho hình ảnh</a:t>
            </a:r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width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chiều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rộng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hình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height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chiều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dài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hình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thị</a:t>
            </a:r>
            <a:endParaRPr lang="vi-VN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–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position</a:t>
            </a:r>
            <a:r>
              <a:rPr lang="en-US" sz="2400" dirty="0" smtClean="0">
                <a:latin typeface="Verdana" pitchFamily="34" charset="0"/>
              </a:rPr>
              <a:t>: Top, Bottom, Middle</a:t>
            </a:r>
          </a:p>
          <a:p>
            <a:pPr lvl="1"/>
            <a:r>
              <a:rPr lang="en-US" sz="2400" dirty="0" smtClean="0">
                <a:latin typeface="Verdana" pitchFamily="34" charset="0"/>
              </a:rPr>
              <a:t>–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border 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Độ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dày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nét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viền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quanh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ảnh</a:t>
            </a:r>
            <a:r>
              <a:rPr lang="en-US" sz="2400" dirty="0" smtClean="0">
                <a:latin typeface="Verdana" pitchFamily="34" charset="0"/>
              </a:rPr>
              <a:t> (default=0)</a:t>
            </a:r>
          </a:p>
          <a:p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hình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ảnh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539889"/>
            <a:ext cx="91440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Giá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mặc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định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2 </a:t>
            </a:r>
            <a:r>
              <a:rPr lang="en-US" sz="2400" dirty="0" err="1" smtClean="0">
                <a:latin typeface="Verdana" pitchFamily="34" charset="0"/>
              </a:rPr>
              <a:t>thuộc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tính</a:t>
            </a:r>
            <a:r>
              <a:rPr lang="en-US" sz="2400" dirty="0" smtClean="0">
                <a:latin typeface="Verdana" pitchFamily="34" charset="0"/>
              </a:rPr>
              <a:t> width, height </a:t>
            </a:r>
            <a:r>
              <a:rPr lang="en-US" sz="2400" dirty="0" err="1" smtClean="0">
                <a:latin typeface="Verdana" pitchFamily="34" charset="0"/>
              </a:rPr>
              <a:t>là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kích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thước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thật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file </a:t>
            </a:r>
            <a:r>
              <a:rPr lang="en-US" sz="2400" dirty="0" err="1" smtClean="0">
                <a:latin typeface="Verdana" pitchFamily="34" charset="0"/>
              </a:rPr>
              <a:t>ảnh</a:t>
            </a:r>
            <a:r>
              <a:rPr lang="en-US" sz="2400" dirty="0" smtClean="0">
                <a:latin typeface="Verdana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Đặt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ảnh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–</a:t>
            </a:r>
            <a:r>
              <a:rPr lang="en-US" sz="2400" dirty="0" err="1" smtClean="0">
                <a:latin typeface="Verdana" pitchFamily="34" charset="0"/>
              </a:rPr>
              <a:t>Sử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dụng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thẻ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body </a:t>
            </a:r>
            <a:r>
              <a:rPr lang="en-US" sz="240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background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=‘Image Path’&gt;</a:t>
            </a:r>
            <a:endParaRPr lang="en-US" sz="24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dụ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&lt;body&gt;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&lt;</a:t>
            </a:r>
            <a:r>
              <a:rPr lang="en-US" sz="2400" err="1" smtClean="0">
                <a:solidFill>
                  <a:srgbClr val="0070C0"/>
                </a:solidFill>
                <a:latin typeface="Verdana" pitchFamily="34" charset="0"/>
              </a:rPr>
              <a:t>img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40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src</a:t>
            </a:r>
            <a:r>
              <a:rPr lang="en-US" sz="2400" smtClean="0">
                <a:latin typeface="Verdana" pitchFamily="34" charset="0"/>
              </a:rPr>
              <a:t>=“</a:t>
            </a:r>
            <a:r>
              <a:rPr lang="en-US" sz="2400" dirty="0" smtClean="0">
                <a:latin typeface="Verdana" pitchFamily="34" charset="0"/>
              </a:rPr>
              <a:t>123.jpg”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alt</a:t>
            </a:r>
            <a:r>
              <a:rPr lang="en-US" sz="2400" dirty="0" smtClean="0">
                <a:latin typeface="Verdana" pitchFamily="34" charset="0"/>
              </a:rPr>
              <a:t>=“Something is here”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 width </a:t>
            </a:r>
            <a:r>
              <a:rPr lang="en-US" sz="2400" dirty="0" smtClean="0">
                <a:latin typeface="Verdana" pitchFamily="34" charset="0"/>
              </a:rPr>
              <a:t>=“45</a:t>
            </a:r>
            <a:r>
              <a:rPr lang="en-US" sz="2400" smtClean="0">
                <a:latin typeface="Verdana" pitchFamily="34" charset="0"/>
              </a:rPr>
              <a:t>” </a:t>
            </a:r>
            <a:r>
              <a:rPr lang="en-US" sz="240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height</a:t>
            </a:r>
            <a:r>
              <a:rPr lang="en-US" sz="2400" smtClean="0">
                <a:latin typeface="Verdana" pitchFamily="34" charset="0"/>
              </a:rPr>
              <a:t>=“45” 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&gt;</a:t>
            </a:r>
            <a:endParaRPr lang="en-US" sz="2400" dirty="0" smtClean="0">
              <a:solidFill>
                <a:srgbClr val="0070C0"/>
              </a:solidFill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itchFamily="34" charset="0"/>
              </a:rPr>
              <a:t>&lt;/body&gt;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âm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thanh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539889"/>
            <a:ext cx="9144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vi-VN" sz="2400" dirty="0" smtClean="0">
                <a:latin typeface="Verdana" pitchFamily="34" charset="0"/>
              </a:rPr>
              <a:t>&lt;bgsound&gt; : Không có tag đóng</a:t>
            </a:r>
          </a:p>
          <a:p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vi-VN" sz="2400" dirty="0" smtClean="0">
                <a:latin typeface="Verdana" pitchFamily="34" charset="0"/>
              </a:rPr>
              <a:t>Thuộc tính của tag &lt;bgsound&gt;</a:t>
            </a:r>
          </a:p>
          <a:p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vi-VN" sz="2400" dirty="0" smtClean="0">
                <a:latin typeface="Verdana" pitchFamily="34" charset="0"/>
              </a:rPr>
              <a:t>–SRC : Đường dẫn đến file âm thanh</a:t>
            </a:r>
          </a:p>
          <a:p>
            <a:pPr lvl="1"/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en-US" sz="2400" dirty="0" smtClean="0">
                <a:latin typeface="Verdana" pitchFamily="34" charset="0"/>
              </a:rPr>
              <a:t>–Loop : </a:t>
            </a:r>
            <a:r>
              <a:rPr lang="en-US" sz="2400" dirty="0" err="1" smtClean="0">
                <a:latin typeface="Verdana" pitchFamily="34" charset="0"/>
              </a:rPr>
              <a:t>Số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lần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lặp</a:t>
            </a:r>
            <a:r>
              <a:rPr lang="en-US" sz="2400" dirty="0" smtClean="0">
                <a:latin typeface="Verdana" pitchFamily="34" charset="0"/>
              </a:rPr>
              <a:t> (</a:t>
            </a:r>
            <a:r>
              <a:rPr lang="en-US" sz="2400" dirty="0" err="1" smtClean="0">
                <a:latin typeface="Verdana" pitchFamily="34" charset="0"/>
              </a:rPr>
              <a:t>bằng</a:t>
            </a:r>
            <a:r>
              <a:rPr lang="en-US" sz="2400" dirty="0" smtClean="0">
                <a:latin typeface="Verdana" pitchFamily="34" charset="0"/>
              </a:rPr>
              <a:t> -1 : </a:t>
            </a:r>
            <a:r>
              <a:rPr lang="en-US" sz="2400" dirty="0" err="1" smtClean="0">
                <a:latin typeface="Verdana" pitchFamily="34" charset="0"/>
              </a:rPr>
              <a:t>Lặp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vô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hạn</a:t>
            </a:r>
            <a:r>
              <a:rPr lang="en-US" sz="2400" dirty="0" smtClean="0">
                <a:latin typeface="Verdana" pitchFamily="34" charset="0"/>
              </a:rPr>
              <a:t>)</a:t>
            </a:r>
          </a:p>
          <a:p>
            <a:pPr lvl="1"/>
            <a:endParaRPr lang="en-US" sz="2400" dirty="0" smtClean="0">
              <a:latin typeface="Verdana" pitchFamily="34" charset="0"/>
            </a:endParaRPr>
          </a:p>
          <a:p>
            <a:pPr lvl="1"/>
            <a:r>
              <a:rPr lang="en-US" sz="2400" dirty="0" smtClean="0">
                <a:latin typeface="Verdana" pitchFamily="34" charset="0"/>
              </a:rPr>
              <a:t>–&lt;</a:t>
            </a:r>
            <a:r>
              <a:rPr lang="en-US" sz="2400" dirty="0" err="1" smtClean="0">
                <a:latin typeface="Verdana" pitchFamily="34" charset="0"/>
              </a:rPr>
              <a:t>bgsound</a:t>
            </a:r>
            <a:r>
              <a:rPr lang="en-US" sz="2400" dirty="0" smtClean="0">
                <a:latin typeface="Verdana" pitchFamily="34" charset="0"/>
              </a:rPr>
              <a:t>&gt; </a:t>
            </a:r>
            <a:r>
              <a:rPr lang="en-US" sz="2400" dirty="0" err="1" smtClean="0">
                <a:latin typeface="Verdana" pitchFamily="34" charset="0"/>
              </a:rPr>
              <a:t>Thường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đặt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trong</a:t>
            </a:r>
            <a:r>
              <a:rPr lang="en-US" sz="2400" dirty="0" smtClean="0">
                <a:latin typeface="Verdana" pitchFamily="34" charset="0"/>
              </a:rPr>
              <a:t> tag &lt;head&gt;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web.</a:t>
            </a:r>
          </a:p>
          <a:p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vi-VN" sz="2400" dirty="0" smtClean="0">
                <a:latin typeface="Verdana" pitchFamily="34" charset="0"/>
              </a:rPr>
              <a:t>Ví dụ: &lt;BGSOUND src=‘batman.mid’ LOOP=‘1’&gt;</a:t>
            </a:r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comment – </a:t>
            </a:r>
            <a:r>
              <a:rPr lang="en-US" sz="2400" dirty="0" err="1" smtClean="0">
                <a:latin typeface="Verdana" pitchFamily="34" charset="0"/>
              </a:rPr>
              <a:t>Ghi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chú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trong</a:t>
            </a:r>
            <a:r>
              <a:rPr lang="en-US" sz="2400" dirty="0" smtClean="0">
                <a:latin typeface="Verdana" pitchFamily="34" charset="0"/>
              </a:rPr>
              <a:t> HTML</a:t>
            </a:r>
          </a:p>
          <a:p>
            <a:pPr>
              <a:lnSpc>
                <a:spcPct val="150000"/>
              </a:lnSpc>
            </a:pPr>
            <a:r>
              <a:rPr lang="en-US" sz="2400" smtClean="0">
                <a:latin typeface="Verdana" pitchFamily="34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&lt;!-- </a:t>
            </a:r>
            <a:r>
              <a:rPr lang="en-US" sz="2400" dirty="0" err="1" smtClean="0">
                <a:latin typeface="Verdana" pitchFamily="34" charset="0"/>
              </a:rPr>
              <a:t>Nội</a:t>
            </a:r>
            <a:r>
              <a:rPr lang="en-US" sz="2400" dirty="0" smtClean="0">
                <a:latin typeface="Verdana" pitchFamily="34" charset="0"/>
              </a:rPr>
              <a:t> dung </a:t>
            </a:r>
            <a:r>
              <a:rPr lang="en-US" sz="2400" dirty="0" err="1" smtClean="0">
                <a:latin typeface="Verdana" pitchFamily="34" charset="0"/>
              </a:rPr>
              <a:t>ghi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chú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--&gt;</a:t>
            </a:r>
            <a:endParaRPr lang="vi-VN" sz="2400" dirty="0" smtClean="0">
              <a:solidFill>
                <a:srgbClr val="0070C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danh sách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838200"/>
          <a:ext cx="7696199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2133600"/>
                <a:gridCol w="2057399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Tags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Items in List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Ordered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List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ol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&lt;li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Unordered List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ul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&lt;li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List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Item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sz="14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li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User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-defined List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&lt;dl&gt;</a:t>
                      </a:r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dt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&gt;, &lt;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di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" y="3352800"/>
            <a:ext cx="64140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Thuộc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tính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 type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tag </a:t>
            </a:r>
            <a:r>
              <a:rPr lang="en-US" sz="2400" dirty="0" err="1" smtClean="0">
                <a:latin typeface="Verdana" pitchFamily="34" charset="0"/>
              </a:rPr>
              <a:t>danh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sách</a:t>
            </a:r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sz="2400" dirty="0" smtClean="0">
              <a:latin typeface="Verdan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Xem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các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dụ</a:t>
            </a:r>
            <a:endParaRPr lang="en-US" sz="2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danh sách</a:t>
            </a:r>
          </a:p>
        </p:txBody>
      </p:sp>
      <p:pic>
        <p:nvPicPr>
          <p:cNvPr id="6" name="Picture 5" descr="OrderedLis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10200" y="1219200"/>
            <a:ext cx="3200400" cy="49869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DrOrderedList.jpg"/>
          <p:cNvPicPr>
            <a:picLocks noChangeAspect="1"/>
          </p:cNvPicPr>
          <p:nvPr/>
        </p:nvPicPr>
        <p:blipFill>
          <a:blip r:embed="rId3" cstate="print"/>
          <a:srcRect t="25478"/>
          <a:stretch>
            <a:fillRect/>
          </a:stretch>
        </p:blipFill>
        <p:spPr>
          <a:xfrm>
            <a:off x="381000" y="1219200"/>
            <a:ext cx="4000500" cy="4953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447800" y="2438400"/>
            <a:ext cx="1676400" cy="838200"/>
          </a:xfrm>
          <a:prstGeom prst="rect">
            <a:avLst/>
          </a:pr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47800" y="3429000"/>
            <a:ext cx="1676400" cy="83820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47800" y="4448175"/>
            <a:ext cx="1676400" cy="83820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38800" y="4124325"/>
            <a:ext cx="1066800" cy="71437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638800" y="4953000"/>
            <a:ext cx="1066800" cy="714375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638800" y="3276600"/>
            <a:ext cx="1066800" cy="714375"/>
          </a:xfrm>
          <a:prstGeom prst="rect">
            <a:avLst/>
          </a:pr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9" idx="3"/>
            <a:endCxn id="14" idx="1"/>
          </p:cNvCxnSpPr>
          <p:nvPr/>
        </p:nvCxnSpPr>
        <p:spPr>
          <a:xfrm>
            <a:off x="3124200" y="3848100"/>
            <a:ext cx="2514600" cy="633413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9" idx="1"/>
          </p:cNvCxnSpPr>
          <p:nvPr/>
        </p:nvCxnSpPr>
        <p:spPr>
          <a:xfrm>
            <a:off x="3124200" y="2819400"/>
            <a:ext cx="2514600" cy="814388"/>
          </a:xfrm>
          <a:prstGeom prst="straightConnector1">
            <a:avLst/>
          </a:prstGeom>
          <a:ln w="254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8" idx="1"/>
          </p:cNvCxnSpPr>
          <p:nvPr/>
        </p:nvCxnSpPr>
        <p:spPr>
          <a:xfrm>
            <a:off x="3124200" y="4876800"/>
            <a:ext cx="2514600" cy="4333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28600" y="609600"/>
            <a:ext cx="3233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Verdana" pitchFamily="34" charset="0"/>
              </a:rPr>
              <a:t>Vd</a:t>
            </a:r>
            <a:r>
              <a:rPr lang="en-US" dirty="0" smtClean="0">
                <a:latin typeface="Verdana" pitchFamily="34" charset="0"/>
              </a:rPr>
              <a:t>: </a:t>
            </a:r>
            <a:r>
              <a:rPr lang="en-US" dirty="0" err="1" smtClean="0">
                <a:latin typeface="Verdana" pitchFamily="34" charset="0"/>
              </a:rPr>
              <a:t>Danh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sách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có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thứ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tự</a:t>
            </a:r>
            <a:r>
              <a:rPr lang="en-US" dirty="0" smtClean="0">
                <a:latin typeface="Verdana" pitchFamily="34" charset="0"/>
              </a:rPr>
              <a:t>:</a:t>
            </a:r>
            <a:endParaRPr lang="en-US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/>
          <p:nvPr/>
        </p:nvGrpSpPr>
        <p:grpSpPr>
          <a:xfrm>
            <a:off x="0" y="533400"/>
            <a:ext cx="9096375" cy="5800725"/>
            <a:chOff x="0" y="533400"/>
            <a:chExt cx="9096375" cy="5800725"/>
          </a:xfrm>
        </p:grpSpPr>
        <p:pic>
          <p:nvPicPr>
            <p:cNvPr id="38" name="Picture 37" descr="OrderedListTyp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0" y="542925"/>
              <a:ext cx="3609975" cy="57912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9" name="Picture 38" descr="DrOrderedListType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33400"/>
              <a:ext cx="5495925" cy="580072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Danh sách có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thứ tự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609600" y="1466850"/>
            <a:ext cx="8534400" cy="4400550"/>
            <a:chOff x="609600" y="1466850"/>
            <a:chExt cx="8534400" cy="4400550"/>
          </a:xfrm>
        </p:grpSpPr>
        <p:sp>
          <p:nvSpPr>
            <p:cNvPr id="20" name="Rectangle 19"/>
            <p:cNvSpPr/>
            <p:nvPr/>
          </p:nvSpPr>
          <p:spPr>
            <a:xfrm>
              <a:off x="609600" y="1466850"/>
              <a:ext cx="2286000" cy="914400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9600" y="2514600"/>
              <a:ext cx="3124200" cy="12192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9600" y="3886200"/>
              <a:ext cx="4876800" cy="198120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0" y="3086100"/>
              <a:ext cx="2057400" cy="12954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62600" y="4533900"/>
              <a:ext cx="3581400" cy="133350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505450" y="2000250"/>
              <a:ext cx="1600200" cy="914400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22" idx="3"/>
              <a:endCxn id="24" idx="1"/>
            </p:cNvCxnSpPr>
            <p:nvPr/>
          </p:nvCxnSpPr>
          <p:spPr>
            <a:xfrm>
              <a:off x="3733800" y="3124200"/>
              <a:ext cx="1752600" cy="60960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endCxn id="26" idx="1"/>
            </p:cNvCxnSpPr>
            <p:nvPr/>
          </p:nvCxnSpPr>
          <p:spPr>
            <a:xfrm>
              <a:off x="2876550" y="1943100"/>
              <a:ext cx="2628900" cy="51435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343400" y="5029200"/>
              <a:ext cx="2057400" cy="53340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Danh sách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không có thứ tự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914400" y="1295400"/>
            <a:ext cx="6762750" cy="4829175"/>
            <a:chOff x="914400" y="990600"/>
            <a:chExt cx="6762750" cy="4829175"/>
          </a:xfrm>
        </p:grpSpPr>
        <p:pic>
          <p:nvPicPr>
            <p:cNvPr id="15" name="Picture 14" descr="UnOrderedList1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7800" y="990600"/>
              <a:ext cx="2419350" cy="482917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16" name="Picture 15" descr="UnOrderedList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524000"/>
              <a:ext cx="2819400" cy="395287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1" name="Rectangle 20"/>
            <p:cNvSpPr/>
            <p:nvPr/>
          </p:nvSpPr>
          <p:spPr>
            <a:xfrm>
              <a:off x="5562600" y="3857625"/>
              <a:ext cx="1066800" cy="71437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562600" y="4956324"/>
              <a:ext cx="1066800" cy="714375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562600" y="2714625"/>
              <a:ext cx="1066800" cy="714375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37" idx="6"/>
              <a:endCxn id="21" idx="1"/>
            </p:cNvCxnSpPr>
            <p:nvPr/>
          </p:nvCxnSpPr>
          <p:spPr>
            <a:xfrm>
              <a:off x="3483934" y="3005468"/>
              <a:ext cx="2078666" cy="1209345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35" idx="6"/>
              <a:endCxn id="30" idx="1"/>
            </p:cNvCxnSpPr>
            <p:nvPr/>
          </p:nvCxnSpPr>
          <p:spPr>
            <a:xfrm>
              <a:off x="3429000" y="1928333"/>
              <a:ext cx="2133600" cy="114348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43" idx="6"/>
              <a:endCxn id="28" idx="1"/>
            </p:cNvCxnSpPr>
            <p:nvPr/>
          </p:nvCxnSpPr>
          <p:spPr>
            <a:xfrm>
              <a:off x="3429000" y="4072268"/>
              <a:ext cx="2133600" cy="1241244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1524000" y="1723066"/>
              <a:ext cx="1905000" cy="410534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1502734" y="2776868"/>
              <a:ext cx="1981200" cy="4572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1447800" y="3843668"/>
              <a:ext cx="1981200" cy="457200"/>
            </a:xfrm>
            <a:prstGeom prst="ellipse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228600" y="849868"/>
            <a:ext cx="4027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Verdana" pitchFamily="34" charset="0"/>
              </a:rPr>
              <a:t>Vd</a:t>
            </a:r>
            <a:r>
              <a:rPr lang="en-US" dirty="0" smtClean="0">
                <a:latin typeface="Verdana" pitchFamily="34" charset="0"/>
              </a:rPr>
              <a:t>: </a:t>
            </a:r>
            <a:r>
              <a:rPr lang="en-US" dirty="0" err="1" smtClean="0">
                <a:latin typeface="Verdana" pitchFamily="34" charset="0"/>
              </a:rPr>
              <a:t>Danh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sách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không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có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thứ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tự</a:t>
            </a:r>
            <a:r>
              <a:rPr lang="en-US" dirty="0" smtClean="0">
                <a:latin typeface="Verdana" pitchFamily="34" charset="0"/>
              </a:rPr>
              <a:t>:</a:t>
            </a:r>
            <a:endParaRPr lang="en-US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Danh sách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tự định nghĩa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7" name="Picture 16" descr="DrDefinitionLis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685800"/>
            <a:ext cx="4572000" cy="50726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8" name="Picture 17" descr="DefinitionLis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2133600"/>
            <a:ext cx="4016291" cy="3733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liên kết trang - URL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"/>
            <a:ext cx="8839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protocol://site address/directory/filename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C</a:t>
            </a:r>
            <a:r>
              <a:rPr lang="vi-VN" sz="2400" dirty="0" smtClean="0">
                <a:latin typeface="Verdana" pitchFamily="34" charset="0"/>
              </a:rPr>
              <a:t>ác dạng địa chỉ HTTP: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</a:t>
            </a:r>
          </a:p>
          <a:p>
            <a:pPr lvl="1">
              <a:lnSpc>
                <a:spcPct val="150000"/>
              </a:lnSpc>
            </a:pPr>
            <a:r>
              <a:rPr lang="vi-VN" sz="2200" dirty="0" smtClean="0">
                <a:latin typeface="Verdana" pitchFamily="34" charset="0"/>
                <a:hlinkClick r:id="rId2"/>
              </a:rPr>
              <a:t>http://www.yahoo.com/</a:t>
            </a:r>
            <a:endParaRPr lang="vi-VN" sz="2200" dirty="0" smtClean="0">
              <a:latin typeface="Verdana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http://server/file</a:t>
            </a:r>
          </a:p>
          <a:p>
            <a:pPr lvl="1">
              <a:lnSpc>
                <a:spcPct val="150000"/>
              </a:lnSpc>
            </a:pPr>
            <a:r>
              <a:rPr lang="vi-VN" sz="2200" dirty="0" smtClean="0">
                <a:latin typeface="Verdana" pitchFamily="34" charset="0"/>
                <a:hlinkClick r:id="rId3"/>
              </a:rPr>
              <a:t>http://games.yahoo.com/index.php</a:t>
            </a:r>
            <a:endParaRPr lang="vi-VN" sz="2200" dirty="0" smtClean="0">
              <a:latin typeface="Verdana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http://server/directory/</a:t>
            </a:r>
          </a:p>
          <a:p>
            <a:pPr lvl="1">
              <a:lnSpc>
                <a:spcPct val="150000"/>
              </a:lnSpc>
            </a:pPr>
            <a:r>
              <a:rPr lang="vi-VN" sz="2200" dirty="0" smtClean="0">
                <a:latin typeface="Verdana" pitchFamily="34" charset="0"/>
                <a:hlinkClick r:id="rId4"/>
              </a:rPr>
              <a:t>http://games.yahoo.com/games/</a:t>
            </a:r>
            <a:endParaRPr lang="en-US" sz="2200" dirty="0" smtClean="0">
              <a:latin typeface="Verdana" pitchFamily="34" charset="0"/>
            </a:endParaRPr>
          </a:p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http://server/directory/file</a:t>
            </a:r>
          </a:p>
          <a:p>
            <a:pPr lvl="1">
              <a:lnSpc>
                <a:spcPct val="150000"/>
              </a:lnSpc>
            </a:pP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  <a:hlinkClick r:id="rId5"/>
              </a:rPr>
              <a:t>h</a:t>
            </a:r>
            <a:r>
              <a:rPr lang="vi-VN" sz="2200" dirty="0" smtClean="0">
                <a:solidFill>
                  <a:srgbClr val="0070C0"/>
                </a:solidFill>
                <a:latin typeface="Verdana" pitchFamily="34" charset="0"/>
                <a:hlinkClick r:id="rId5"/>
              </a:rPr>
              <a:t>ttp://games.yahoo.com/download/Dominoes.exe</a:t>
            </a:r>
            <a:endParaRPr lang="en-US" sz="2200" dirty="0" smtClean="0">
              <a:solidFill>
                <a:srgbClr val="0070C0"/>
              </a:solidFill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endParaRPr lang="en-US" sz="2400" dirty="0" smtClean="0">
              <a:solidFill>
                <a:srgbClr val="0070C0"/>
              </a:solidFill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liên kết trang - URL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http://server/directory/file#marker</a:t>
            </a:r>
          </a:p>
          <a:p>
            <a:pPr lvl="1">
              <a:lnSpc>
                <a:spcPct val="150000"/>
              </a:lnSpc>
            </a:pPr>
            <a:r>
              <a:rPr lang="vi-VN" sz="2200" i="1" dirty="0" smtClean="0">
                <a:latin typeface="Verdana" pitchFamily="34" charset="0"/>
                <a:hlinkClick r:id="rId2"/>
              </a:rPr>
              <a:t>http://games.yahoo.com/index.php#Puzzle</a:t>
            </a:r>
            <a:endParaRPr lang="en-US" sz="2200" i="1" dirty="0" smtClean="0">
              <a:latin typeface="Verdana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http://server/directory/file?parameters</a:t>
            </a:r>
            <a:endParaRPr lang="en-US" sz="2400" dirty="0" smtClean="0">
              <a:latin typeface="Verdana" pitchFamily="34" charset="0"/>
              <a:hlinkClick r:id="rId3"/>
            </a:endParaRPr>
          </a:p>
          <a:p>
            <a:pPr lvl="1">
              <a:lnSpc>
                <a:spcPct val="150000"/>
              </a:lnSpc>
            </a:pPr>
            <a:r>
              <a:rPr lang="en-US" sz="2200" i="1" dirty="0" smtClean="0">
                <a:latin typeface="Verdana" pitchFamily="34" charset="0"/>
                <a:hlinkClick r:id="rId4"/>
              </a:rPr>
              <a:t>h</a:t>
            </a:r>
            <a:r>
              <a:rPr lang="vi-VN" sz="2200" i="1" dirty="0" smtClean="0">
                <a:latin typeface="Verdana" pitchFamily="34" charset="0"/>
                <a:hlinkClick r:id="rId4"/>
              </a:rPr>
              <a:t>ttp://www.google.com.vn/search?hl=vi&amp;q=Teach&amp;meta</a:t>
            </a:r>
            <a:endParaRPr lang="vi-VN" sz="2200" i="1" dirty="0" smtClean="0">
              <a:latin typeface="Verdana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http://server:port/directory/file</a:t>
            </a:r>
            <a:endParaRPr lang="en-US" sz="2400" dirty="0" smtClean="0">
              <a:latin typeface="Verdana" pitchFamily="34" charset="0"/>
              <a:hlinkClick r:id="rId5"/>
            </a:endParaRPr>
          </a:p>
          <a:p>
            <a:pPr lvl="1">
              <a:lnSpc>
                <a:spcPct val="150000"/>
              </a:lnSpc>
            </a:pPr>
            <a:r>
              <a:rPr lang="vi-VN" sz="2200" i="1" dirty="0" smtClean="0">
                <a:latin typeface="Verdana" pitchFamily="34" charset="0"/>
                <a:hlinkClick r:id="rId6"/>
              </a:rPr>
              <a:t>http://www.microsoft.com:8080/products/greetings.html</a:t>
            </a:r>
            <a:endParaRPr lang="en-US" sz="2200" i="1" dirty="0" smtClean="0">
              <a:latin typeface="Verdana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smtClean="0">
                <a:latin typeface="Verdana" pitchFamily="34" charset="0"/>
              </a:rPr>
              <a:t>ftp://user:password@server:port/directory/file</a:t>
            </a:r>
            <a:endParaRPr lang="en-US" sz="2400" smtClean="0">
              <a:latin typeface="Verdana" pitchFamily="34" charset="0"/>
              <a:hlinkClick r:id="rId5"/>
            </a:endParaRPr>
          </a:p>
          <a:p>
            <a:pPr lvl="1">
              <a:lnSpc>
                <a:spcPct val="150000"/>
              </a:lnSpc>
            </a:pPr>
            <a:endParaRPr lang="en-US" sz="2200" i="1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Tag 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liên kết trang - URL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Tag </a:t>
            </a: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– Tag &lt;a&gt; (anchor)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Cú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pháp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“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URL</a:t>
            </a:r>
            <a:r>
              <a:rPr lang="en-US" sz="2400" dirty="0" smtClean="0">
                <a:latin typeface="Verdana" pitchFamily="34" charset="0"/>
              </a:rPr>
              <a:t>”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latin typeface="Verdana" pitchFamily="34" charset="0"/>
              </a:rPr>
              <a:t> = ‘…’&gt; Linked content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Thuộc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tínht</a:t>
            </a:r>
            <a:r>
              <a:rPr lang="en-US" sz="2400" dirty="0" smtClean="0">
                <a:latin typeface="Verdana" pitchFamily="34" charset="0"/>
              </a:rPr>
              <a:t> target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tag &lt;a&gt;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name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tải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vào</a:t>
            </a:r>
            <a:r>
              <a:rPr lang="en-US" sz="2400" dirty="0" smtClean="0">
                <a:latin typeface="Verdana" pitchFamily="34" charset="0"/>
              </a:rPr>
              <a:t> frame </a:t>
            </a: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là</a:t>
            </a:r>
            <a:r>
              <a:rPr lang="en-US" sz="2400" dirty="0" smtClean="0">
                <a:latin typeface="Verdana" pitchFamily="34" charset="0"/>
              </a:rPr>
              <a:t> name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blank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tải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vào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cửa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sổ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mới</a:t>
            </a:r>
            <a:endParaRPr lang="en-US" sz="2400" dirty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parent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tải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vào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cửa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sổ</a:t>
            </a:r>
            <a:r>
              <a:rPr lang="en-US" sz="2400" dirty="0" smtClean="0">
                <a:latin typeface="Verdana" pitchFamily="34" charset="0"/>
              </a:rPr>
              <a:t> cha </a:t>
            </a:r>
            <a:r>
              <a:rPr lang="en-US" sz="2400" dirty="0" err="1" smtClean="0">
                <a:latin typeface="Verdana" pitchFamily="34" charset="0"/>
              </a:rPr>
              <a:t>của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nó</a:t>
            </a:r>
            <a:endParaRPr lang="en-US" sz="2400" dirty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self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tải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vào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chính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cửa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sổ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hiện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hành</a:t>
            </a:r>
            <a:endParaRPr lang="en-US" sz="2400" dirty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</a:rPr>
              <a:t>top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tải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vào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cửa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sổ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cao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nhất</a:t>
            </a:r>
            <a:endParaRPr lang="en-US" sz="2400" dirty="0" smtClean="0">
              <a:latin typeface="Verdana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err="1" smtClean="0">
                <a:latin typeface="Verdana" pitchFamily="34" charset="0"/>
              </a:rPr>
              <a:t>Ví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dụ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70C0"/>
              </a:solidFill>
              <a:latin typeface="Verdana" pitchFamily="34" charset="0"/>
            </a:endParaRPr>
          </a:p>
        </p:txBody>
      </p:sp>
      <p:pic>
        <p:nvPicPr>
          <p:cNvPr id="5" name="Picture 4" descr="TagLinks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5638800"/>
            <a:ext cx="78486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liên kết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Phân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loại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marL="6858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ngoại</a:t>
            </a:r>
            <a:r>
              <a:rPr lang="en-US" sz="2400" dirty="0" smtClean="0">
                <a:latin typeface="Verdana" pitchFamily="34" charset="0"/>
              </a:rPr>
              <a:t> (external link)</a:t>
            </a:r>
          </a:p>
          <a:p>
            <a:pPr marL="6858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nội</a:t>
            </a:r>
            <a:r>
              <a:rPr lang="en-US" sz="2400" dirty="0" smtClean="0">
                <a:latin typeface="Verdana" pitchFamily="34" charset="0"/>
              </a:rPr>
              <a:t> (internal link)</a:t>
            </a:r>
          </a:p>
          <a:p>
            <a:pPr marL="685800" lvl="1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email (email link)</a:t>
            </a:r>
            <a:endParaRPr lang="en-US" sz="2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Liên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kết ngoại 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(external 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link)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609600"/>
            <a:ext cx="8458200" cy="571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“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URL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Linked content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8600" y="1371600"/>
            <a:ext cx="8298251" cy="5030926"/>
            <a:chOff x="228600" y="1371600"/>
            <a:chExt cx="8298251" cy="5030926"/>
          </a:xfrm>
        </p:grpSpPr>
        <p:sp>
          <p:nvSpPr>
            <p:cNvPr id="6" name="Rectangle 5"/>
            <p:cNvSpPr/>
            <p:nvPr/>
          </p:nvSpPr>
          <p:spPr>
            <a:xfrm>
              <a:off x="1066800" y="2133600"/>
              <a:ext cx="2057400" cy="2438400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3500000" scaled="1"/>
              <a:tileRect/>
            </a:gradFill>
            <a:ln w="3175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………………………………………………………………………………………..</a:t>
              </a:r>
              <a:r>
                <a:rPr lang="en-US" sz="2400" b="1" dirty="0" smtClean="0">
                  <a:solidFill>
                    <a:srgbClr val="002060"/>
                  </a:solidFill>
                </a:rPr>
                <a:t>PAGE A</a:t>
              </a:r>
              <a:r>
                <a:rPr lang="en-US" dirty="0" smtClean="0"/>
                <a:t> ……………………………………………………………………………………….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791200" y="1371600"/>
              <a:ext cx="2057400" cy="2438400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3500000" scaled="1"/>
              <a:tileRect/>
            </a:gradFill>
            <a:ln w="3175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………………………………………………………………………………………..</a:t>
              </a:r>
              <a:r>
                <a:rPr lang="en-US" sz="2400" b="1" dirty="0" smtClean="0">
                  <a:solidFill>
                    <a:srgbClr val="002060"/>
                  </a:solidFill>
                </a:rPr>
                <a:t>PAGE B</a:t>
              </a:r>
              <a:r>
                <a:rPr lang="en-US" dirty="0" smtClean="0"/>
                <a:t> ……………………………………………………………………………………….</a:t>
              </a:r>
              <a:endParaRPr lang="en-US" dirty="0"/>
            </a:p>
          </p:txBody>
        </p:sp>
        <p:cxnSp>
          <p:nvCxnSpPr>
            <p:cNvPr id="9" name="Straight Arrow Connector 8"/>
            <p:cNvCxnSpPr>
              <a:stCxn id="6" idx="3"/>
              <a:endCxn id="7" idx="1"/>
            </p:cNvCxnSpPr>
            <p:nvPr/>
          </p:nvCxnSpPr>
          <p:spPr>
            <a:xfrm flipV="1">
              <a:off x="3124200" y="2590800"/>
              <a:ext cx="2667000" cy="76200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3048000" y="3048000"/>
              <a:ext cx="2499402" cy="5716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>
                <a:lnSpc>
                  <a:spcPct val="150000"/>
                </a:lnSpc>
              </a:pPr>
              <a:r>
                <a:rPr lang="en-US" sz="2400" dirty="0" smtClean="0">
                  <a:latin typeface="Verdana" pitchFamily="34" charset="0"/>
                </a:rPr>
                <a:t>Mouse-Click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8600" y="4648200"/>
              <a:ext cx="3151632" cy="17543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Trang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hiện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hành</a:t>
              </a:r>
              <a:endParaRPr lang="en-US" sz="2400" dirty="0" smtClean="0">
                <a:latin typeface="Verdana" pitchFamily="34" charset="0"/>
              </a:endParaRPr>
            </a:p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smtClean="0">
                  <a:solidFill>
                    <a:srgbClr val="0070C0"/>
                  </a:solidFill>
                  <a:latin typeface="Verdana" pitchFamily="34" charset="0"/>
                </a:rPr>
                <a:t>PageA.html </a:t>
              </a:r>
            </a:p>
            <a:p>
              <a:pPr marL="685800" lvl="1" indent="-228600">
                <a:lnSpc>
                  <a:spcPct val="150000"/>
                </a:lnSpc>
              </a:pPr>
              <a:endParaRPr lang="en-US" sz="2400" dirty="0" smtClean="0">
                <a:latin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724400" y="3886200"/>
              <a:ext cx="3802451" cy="11256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Trang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có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địa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chỉ</a:t>
              </a:r>
              <a:r>
                <a:rPr lang="en-US" sz="2400" dirty="0" smtClean="0">
                  <a:latin typeface="Verdana" pitchFamily="34" charset="0"/>
                </a:rPr>
                <a:t> URL</a:t>
              </a:r>
            </a:p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smtClean="0">
                  <a:solidFill>
                    <a:srgbClr val="0070C0"/>
                  </a:solidFill>
                  <a:latin typeface="Verdana" pitchFamily="34" charset="0"/>
                </a:rPr>
                <a:t>PageB.html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Liên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kết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nội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(internal link)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8471"/>
            <a:ext cx="9144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name</a:t>
            </a:r>
            <a:r>
              <a:rPr lang="en-US" sz="2400" dirty="0" smtClean="0">
                <a:latin typeface="Verdana" pitchFamily="34" charset="0"/>
              </a:rPr>
              <a:t> = “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TenViTri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”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Vị </a:t>
            </a:r>
            <a:r>
              <a:rPr lang="en-US" sz="2400" dirty="0" err="1" smtClean="0">
                <a:latin typeface="Verdana" pitchFamily="34" charset="0"/>
              </a:rPr>
              <a:t>trí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bắt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đầu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“</a:t>
            </a:r>
            <a:r>
              <a:rPr lang="en-US" sz="2400" dirty="0" smtClean="0">
                <a:solidFill>
                  <a:srgbClr val="C00000"/>
                </a:solidFill>
                <a:latin typeface="Verdana" pitchFamily="34" charset="0"/>
              </a:rPr>
              <a:t>#</a:t>
            </a:r>
            <a:r>
              <a:rPr lang="en-US" sz="2400" dirty="0" err="1" smtClean="0">
                <a:solidFill>
                  <a:srgbClr val="0070C0"/>
                </a:solidFill>
                <a:latin typeface="Verdana" pitchFamily="34" charset="0"/>
              </a:rPr>
              <a:t>TenViTri</a:t>
            </a: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”</a:t>
            </a:r>
            <a:r>
              <a:rPr lang="en-US" sz="240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smtClean="0">
                <a:latin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</a:rPr>
              <a:t>Text </a:t>
            </a:r>
            <a:r>
              <a:rPr lang="en-US" sz="2400" dirty="0" err="1" smtClean="0">
                <a:latin typeface="Verdana" pitchFamily="34" charset="0"/>
              </a:rPr>
              <a:t>đại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diện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0" y="2076271"/>
            <a:ext cx="8412768" cy="4248329"/>
            <a:chOff x="0" y="1752600"/>
            <a:chExt cx="8412768" cy="4248329"/>
          </a:xfrm>
        </p:grpSpPr>
        <p:sp>
          <p:nvSpPr>
            <p:cNvPr id="5" name="Rectangle 4"/>
            <p:cNvSpPr/>
            <p:nvPr/>
          </p:nvSpPr>
          <p:spPr>
            <a:xfrm>
              <a:off x="1066800" y="2133600"/>
              <a:ext cx="2057400" cy="2438400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3500000" scaled="1"/>
              <a:tileRect/>
            </a:gradFill>
            <a:ln w="3175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……………………………………………………….. …….…………………………… </a:t>
              </a:r>
              <a:r>
                <a:rPr lang="en-US" dirty="0" smtClean="0">
                  <a:solidFill>
                    <a:srgbClr val="002060"/>
                  </a:solidFill>
                </a:rPr>
                <a:t>T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ext </a:t>
              </a:r>
              <a:r>
                <a:rPr lang="en-US" dirty="0" err="1" smtClean="0">
                  <a:solidFill>
                    <a:srgbClr val="002060"/>
                  </a:solidFill>
                  <a:latin typeface="Verdana" pitchFamily="34" charset="0"/>
                </a:rPr>
                <a:t>đại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 </a:t>
              </a:r>
              <a:r>
                <a:rPr lang="en-US" dirty="0" err="1" smtClean="0">
                  <a:solidFill>
                    <a:srgbClr val="002060"/>
                  </a:solidFill>
                  <a:latin typeface="Verdana" pitchFamily="34" charset="0"/>
                </a:rPr>
                <a:t>diện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 </a:t>
              </a:r>
              <a:r>
                <a:rPr lang="en-US" dirty="0" smtClean="0"/>
                <a:t>…………………………..</a:t>
              </a:r>
              <a:r>
                <a:rPr lang="en-US" sz="2400" b="1" dirty="0" smtClean="0">
                  <a:solidFill>
                    <a:srgbClr val="002060"/>
                  </a:solidFill>
                </a:rPr>
                <a:t> </a:t>
              </a:r>
              <a:r>
                <a:rPr lang="en-US" dirty="0" smtClean="0">
                  <a:solidFill>
                    <a:schemeClr val="bg1"/>
                  </a:solidFill>
                </a:rPr>
                <a:t>………………………………</a:t>
              </a:r>
              <a:r>
                <a:rPr lang="en-US" dirty="0" smtClean="0">
                  <a:solidFill>
                    <a:srgbClr val="002060"/>
                  </a:solidFill>
                </a:rPr>
                <a:t> </a:t>
              </a:r>
              <a:r>
                <a:rPr lang="en-US" dirty="0" err="1" smtClean="0">
                  <a:solidFill>
                    <a:srgbClr val="002060"/>
                  </a:solidFill>
                </a:rPr>
                <a:t>Vị</a:t>
              </a:r>
              <a:r>
                <a:rPr lang="en-US" dirty="0" smtClean="0">
                  <a:solidFill>
                    <a:srgbClr val="002060"/>
                  </a:solidFill>
                </a:rPr>
                <a:t> tri bat </a:t>
              </a:r>
              <a:r>
                <a:rPr lang="en-US" dirty="0" err="1" smtClean="0">
                  <a:solidFill>
                    <a:srgbClr val="002060"/>
                  </a:solidFill>
                </a:rPr>
                <a:t>dau</a:t>
              </a:r>
              <a:r>
                <a:rPr lang="en-US" dirty="0" smtClean="0">
                  <a:solidFill>
                    <a:srgbClr val="002060"/>
                  </a:solidFill>
                </a:rPr>
                <a:t> </a:t>
              </a:r>
              <a:r>
                <a:rPr lang="en-US" dirty="0" smtClean="0">
                  <a:solidFill>
                    <a:schemeClr val="bg1"/>
                  </a:solidFill>
                </a:rPr>
                <a:t>………</a:t>
              </a:r>
              <a:r>
                <a:rPr lang="en-US" dirty="0" smtClean="0">
                  <a:solidFill>
                    <a:srgbClr val="002060"/>
                  </a:solidFill>
                </a:rPr>
                <a:t>abc123xyz</a:t>
              </a:r>
              <a:r>
                <a:rPr lang="en-US" dirty="0" smtClean="0"/>
                <a:t>…….</a:t>
              </a:r>
              <a:endParaRPr lang="en-US" dirty="0"/>
            </a:p>
          </p:txBody>
        </p:sp>
        <p:cxnSp>
          <p:nvCxnSpPr>
            <p:cNvPr id="7" name="Straight Arrow Connector 6"/>
            <p:cNvCxnSpPr>
              <a:stCxn id="5" idx="3"/>
            </p:cNvCxnSpPr>
            <p:nvPr/>
          </p:nvCxnSpPr>
          <p:spPr>
            <a:xfrm flipV="1">
              <a:off x="3124200" y="2590800"/>
              <a:ext cx="2667000" cy="76200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3048000" y="3048000"/>
              <a:ext cx="2499402" cy="5716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>
                <a:lnSpc>
                  <a:spcPct val="150000"/>
                </a:lnSpc>
              </a:pPr>
              <a:r>
                <a:rPr lang="en-US" sz="2400" dirty="0" smtClean="0">
                  <a:latin typeface="Verdana" pitchFamily="34" charset="0"/>
                </a:rPr>
                <a:t>Mouse-Click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4800600"/>
              <a:ext cx="3644972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Nội</a:t>
              </a:r>
              <a:r>
                <a:rPr lang="en-US" sz="2400" dirty="0" smtClean="0">
                  <a:latin typeface="Verdana" pitchFamily="34" charset="0"/>
                </a:rPr>
                <a:t> dung </a:t>
              </a:r>
              <a:r>
                <a:rPr lang="en-US" sz="2400" dirty="0" err="1" smtClean="0">
                  <a:latin typeface="Verdana" pitchFamily="34" charset="0"/>
                </a:rPr>
                <a:t>trang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khi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</a:p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chưa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liên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kết</a:t>
              </a:r>
              <a:endParaRPr lang="en-US" sz="2400" dirty="0" smtClean="0">
                <a:latin typeface="Verdana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76800" y="4267200"/>
              <a:ext cx="3535968" cy="11256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Nội</a:t>
              </a:r>
              <a:r>
                <a:rPr lang="en-US" sz="2400" dirty="0" smtClean="0">
                  <a:latin typeface="Verdana" pitchFamily="34" charset="0"/>
                </a:rPr>
                <a:t> dung </a:t>
              </a:r>
              <a:r>
                <a:rPr lang="en-US" sz="2400" dirty="0" err="1" smtClean="0">
                  <a:latin typeface="Verdana" pitchFamily="34" charset="0"/>
                </a:rPr>
                <a:t>trang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khi</a:t>
              </a:r>
              <a:endParaRPr lang="en-US" sz="2400" dirty="0" smtClean="0">
                <a:latin typeface="Verdana" pitchFamily="34" charset="0"/>
              </a:endParaRPr>
            </a:p>
            <a:p>
              <a:pPr marL="685800" lvl="1" indent="-228600" algn="ctr">
                <a:lnSpc>
                  <a:spcPct val="150000"/>
                </a:lnSpc>
              </a:pPr>
              <a:r>
                <a:rPr lang="en-US" sz="2400" dirty="0" err="1" smtClean="0">
                  <a:latin typeface="Verdana" pitchFamily="34" charset="0"/>
                </a:rPr>
                <a:t>bấm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liên</a:t>
              </a:r>
              <a:r>
                <a:rPr lang="en-US" sz="2400" dirty="0" smtClean="0">
                  <a:latin typeface="Verdana" pitchFamily="34" charset="0"/>
                </a:rPr>
                <a:t> </a:t>
              </a:r>
              <a:r>
                <a:rPr lang="en-US" sz="2400" dirty="0" err="1" smtClean="0">
                  <a:latin typeface="Verdana" pitchFamily="34" charset="0"/>
                </a:rPr>
                <a:t>kết</a:t>
              </a:r>
              <a:endParaRPr lang="en-US" sz="2400" dirty="0" smtClean="0">
                <a:latin typeface="Verdana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91200" y="1828800"/>
              <a:ext cx="2057400" cy="2438400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3500000" scaled="1"/>
              <a:tileRect/>
            </a:gradFill>
            <a:ln w="3175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…….…………………………… </a:t>
              </a:r>
              <a:r>
                <a:rPr lang="en-US" dirty="0" smtClean="0">
                  <a:solidFill>
                    <a:srgbClr val="002060"/>
                  </a:solidFill>
                </a:rPr>
                <a:t>T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ext </a:t>
              </a:r>
              <a:r>
                <a:rPr lang="en-US" dirty="0" err="1" smtClean="0">
                  <a:solidFill>
                    <a:srgbClr val="002060"/>
                  </a:solidFill>
                  <a:latin typeface="Verdana" pitchFamily="34" charset="0"/>
                </a:rPr>
                <a:t>đại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 </a:t>
              </a:r>
              <a:r>
                <a:rPr lang="en-US" dirty="0" err="1" smtClean="0">
                  <a:solidFill>
                    <a:srgbClr val="002060"/>
                  </a:solidFill>
                  <a:latin typeface="Verdana" pitchFamily="34" charset="0"/>
                </a:rPr>
                <a:t>diện</a:t>
              </a:r>
              <a:r>
                <a:rPr lang="en-US" dirty="0" smtClean="0">
                  <a:solidFill>
                    <a:srgbClr val="002060"/>
                  </a:solidFill>
                  <a:latin typeface="Verdana" pitchFamily="34" charset="0"/>
                </a:rPr>
                <a:t> </a:t>
              </a:r>
              <a:r>
                <a:rPr lang="en-US" dirty="0" smtClean="0"/>
                <a:t>…………………………..</a:t>
              </a:r>
              <a:r>
                <a:rPr lang="en-US" sz="2400" b="1" dirty="0" smtClean="0">
                  <a:solidFill>
                    <a:srgbClr val="002060"/>
                  </a:solidFill>
                </a:rPr>
                <a:t> </a:t>
              </a:r>
              <a:r>
                <a:rPr lang="en-US" dirty="0" smtClean="0">
                  <a:solidFill>
                    <a:schemeClr val="bg1"/>
                  </a:solidFill>
                </a:rPr>
                <a:t>………………………………</a:t>
              </a:r>
              <a:r>
                <a:rPr lang="en-US" dirty="0" smtClean="0">
                  <a:solidFill>
                    <a:srgbClr val="002060"/>
                  </a:solidFill>
                </a:rPr>
                <a:t> </a:t>
              </a:r>
              <a:r>
                <a:rPr lang="en-US" dirty="0" err="1" smtClean="0">
                  <a:solidFill>
                    <a:srgbClr val="002060"/>
                  </a:solidFill>
                </a:rPr>
                <a:t>Vị</a:t>
              </a:r>
              <a:r>
                <a:rPr lang="en-US" dirty="0" smtClean="0">
                  <a:solidFill>
                    <a:srgbClr val="002060"/>
                  </a:solidFill>
                </a:rPr>
                <a:t> tri bat </a:t>
              </a:r>
              <a:r>
                <a:rPr lang="en-US" dirty="0" err="1" smtClean="0">
                  <a:solidFill>
                    <a:srgbClr val="002060"/>
                  </a:solidFill>
                </a:rPr>
                <a:t>dau</a:t>
              </a:r>
              <a:r>
                <a:rPr lang="en-US" dirty="0" smtClean="0">
                  <a:solidFill>
                    <a:srgbClr val="002060"/>
                  </a:solidFill>
                </a:rPr>
                <a:t> </a:t>
              </a:r>
              <a:r>
                <a:rPr lang="en-US" dirty="0" smtClean="0">
                  <a:solidFill>
                    <a:schemeClr val="bg1"/>
                  </a:solidFill>
                </a:rPr>
                <a:t>………</a:t>
              </a:r>
              <a:r>
                <a:rPr lang="en-US" dirty="0" smtClean="0">
                  <a:solidFill>
                    <a:srgbClr val="002060"/>
                  </a:solidFill>
                </a:rPr>
                <a:t>abc123xyz</a:t>
              </a:r>
              <a:r>
                <a:rPr lang="en-US" dirty="0" smtClean="0"/>
                <a:t>…….</a:t>
              </a:r>
            </a:p>
            <a:p>
              <a:pPr algn="ctr"/>
              <a:r>
                <a:rPr lang="en-US" dirty="0" smtClean="0"/>
                <a:t>………………………………………………………….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3450" y="2057400"/>
              <a:ext cx="2286000" cy="1600200"/>
            </a:xfrm>
            <a:prstGeom prst="rect">
              <a:avLst/>
            </a:prstGeom>
            <a:noFill/>
            <a:ln w="31750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676900" y="1752600"/>
              <a:ext cx="2286000" cy="1600200"/>
            </a:xfrm>
            <a:prstGeom prst="rect">
              <a:avLst/>
            </a:prstGeom>
            <a:noFill/>
            <a:ln w="31750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Liên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kết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email (email link)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523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“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mailto:emailAddress”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hệ</a:t>
            </a:r>
            <a:r>
              <a:rPr lang="en-US" sz="2400" dirty="0" smtClean="0">
                <a:latin typeface="Verdana" pitchFamily="34" charset="0"/>
              </a:rPr>
              <a:t> Admin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81000" y="2133600"/>
            <a:ext cx="8393450" cy="3048000"/>
            <a:chOff x="381000" y="1371600"/>
            <a:chExt cx="8393450" cy="3048000"/>
          </a:xfrm>
        </p:grpSpPr>
        <p:sp>
          <p:nvSpPr>
            <p:cNvPr id="5" name="Rectangle 4"/>
            <p:cNvSpPr/>
            <p:nvPr/>
          </p:nvSpPr>
          <p:spPr>
            <a:xfrm>
              <a:off x="381000" y="1981200"/>
              <a:ext cx="2057400" cy="2438400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3500000" scaled="1"/>
              <a:tileRect/>
            </a:gradFill>
            <a:ln w="3175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………………………………………………………………………………………..</a:t>
              </a:r>
              <a:r>
                <a:rPr lang="en-US" sz="2400" b="1" u="sng" dirty="0" err="1" smtClean="0">
                  <a:solidFill>
                    <a:srgbClr val="002060"/>
                  </a:solidFill>
                </a:rPr>
                <a:t>Liên</a:t>
              </a:r>
              <a:r>
                <a:rPr lang="en-US" sz="2400" b="1" u="sng" dirty="0" smtClean="0">
                  <a:solidFill>
                    <a:srgbClr val="002060"/>
                  </a:solidFill>
                </a:rPr>
                <a:t> </a:t>
              </a:r>
              <a:r>
                <a:rPr lang="en-US" sz="2400" b="1" u="sng" dirty="0" err="1" smtClean="0">
                  <a:solidFill>
                    <a:srgbClr val="002060"/>
                  </a:solidFill>
                </a:rPr>
                <a:t>hệ</a:t>
              </a:r>
              <a:r>
                <a:rPr lang="en-US" sz="2400" b="1" u="sng" dirty="0" smtClean="0">
                  <a:solidFill>
                    <a:srgbClr val="002060"/>
                  </a:solidFill>
                </a:rPr>
                <a:t> Admin</a:t>
              </a:r>
              <a:r>
                <a:rPr lang="en-US" dirty="0" smtClean="0"/>
                <a:t> ……………………………………………………………………………………….</a:t>
              </a:r>
              <a:endParaRPr lang="en-US" dirty="0"/>
            </a:p>
          </p:txBody>
        </p:sp>
        <p:cxnSp>
          <p:nvCxnSpPr>
            <p:cNvPr id="6" name="Straight Arrow Connector 5"/>
            <p:cNvCxnSpPr>
              <a:stCxn id="5" idx="3"/>
              <a:endCxn id="8" idx="1"/>
            </p:cNvCxnSpPr>
            <p:nvPr/>
          </p:nvCxnSpPr>
          <p:spPr>
            <a:xfrm flipV="1">
              <a:off x="2438400" y="2743200"/>
              <a:ext cx="2133600" cy="45720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2057400" y="2895600"/>
              <a:ext cx="24994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0" lvl="1" indent="-228600">
                <a:lnSpc>
                  <a:spcPct val="150000"/>
                </a:lnSpc>
              </a:pPr>
              <a:r>
                <a:rPr lang="en-US" sz="2400" dirty="0" smtClean="0">
                  <a:latin typeface="Verdana" pitchFamily="34" charset="0"/>
                </a:rPr>
                <a:t>Mouse-Click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572000" y="1371600"/>
              <a:ext cx="4202450" cy="2743200"/>
              <a:chOff x="4572000" y="1371600"/>
              <a:chExt cx="4202450" cy="2743200"/>
            </a:xfrm>
          </p:grpSpPr>
          <p:pic>
            <p:nvPicPr>
              <p:cNvPr id="8" name="Picture 7" descr="Thunderbird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72000" y="1371600"/>
                <a:ext cx="4202450" cy="27432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pic>
            <p:nvPicPr>
              <p:cNvPr id="9" name="Picture 8" descr="Thunderbird1.jpg"/>
              <p:cNvPicPr>
                <a:picLocks noChangeAspect="1"/>
              </p:cNvPicPr>
              <p:nvPr/>
            </p:nvPicPr>
            <p:blipFill>
              <a:blip r:embed="rId3" cstate="print"/>
              <a:srcRect r="2902"/>
              <a:stretch>
                <a:fillRect/>
              </a:stretch>
            </p:blipFill>
            <p:spPr>
              <a:xfrm>
                <a:off x="7391400" y="2971800"/>
                <a:ext cx="1295400" cy="105931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" y="4572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Link content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066800"/>
            <a:ext cx="91440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Địa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chỉ</a:t>
            </a:r>
            <a:r>
              <a:rPr lang="en-US" sz="2400" dirty="0" smtClean="0">
                <a:latin typeface="Verdana" pitchFamily="34" charset="0"/>
              </a:rPr>
              <a:t> URL </a:t>
            </a:r>
            <a:r>
              <a:rPr lang="en-US" sz="2400" dirty="0" err="1" smtClean="0">
                <a:latin typeface="Verdana" pitchFamily="34" charset="0"/>
              </a:rPr>
              <a:t>phân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làm</a:t>
            </a:r>
            <a:r>
              <a:rPr lang="en-US" sz="2400" dirty="0" smtClean="0">
                <a:latin typeface="Verdana" pitchFamily="34" charset="0"/>
              </a:rPr>
              <a:t> 2 </a:t>
            </a:r>
            <a:r>
              <a:rPr lang="en-US" sz="2400" dirty="0" err="1" smtClean="0">
                <a:latin typeface="Verdana" pitchFamily="34" charset="0"/>
              </a:rPr>
              <a:t>loại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marL="685800" lvl="1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err="1" smtClean="0">
                <a:latin typeface="Verdana" pitchFamily="34" charset="0"/>
              </a:rPr>
              <a:t>Địa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chỉ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tuyệt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đối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là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tuyệt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đối</a:t>
            </a:r>
            <a:r>
              <a:rPr lang="en-US" sz="2400" dirty="0" smtClean="0">
                <a:latin typeface="Verdana" pitchFamily="34" charset="0"/>
              </a:rPr>
              <a:t> so </a:t>
            </a:r>
            <a:r>
              <a:rPr lang="en-US" sz="2400" dirty="0" err="1" smtClean="0">
                <a:latin typeface="Verdana" pitchFamily="34" charset="0"/>
              </a:rPr>
              <a:t>với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mạng</a:t>
            </a:r>
            <a:r>
              <a:rPr lang="en-US" sz="2400" dirty="0" smtClean="0">
                <a:latin typeface="Verdana" pitchFamily="34" charset="0"/>
              </a:rPr>
              <a:t> Internet</a:t>
            </a:r>
          </a:p>
          <a:p>
            <a:pPr marL="685800" lvl="1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err="1" smtClean="0">
                <a:latin typeface="Verdana" pitchFamily="34" charset="0"/>
              </a:rPr>
              <a:t>Địa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chỉ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tương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đối</a:t>
            </a:r>
            <a:r>
              <a:rPr lang="en-US" sz="2400" dirty="0" smtClean="0">
                <a:latin typeface="Verdana" pitchFamily="34" charset="0"/>
              </a:rPr>
              <a:t>: </a:t>
            </a:r>
            <a:r>
              <a:rPr lang="en-US" sz="2400" dirty="0" err="1" smtClean="0">
                <a:latin typeface="Verdana" pitchFamily="34" charset="0"/>
              </a:rPr>
              <a:t>là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tương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đối</a:t>
            </a:r>
            <a:r>
              <a:rPr lang="en-US" sz="2400" dirty="0" smtClean="0">
                <a:latin typeface="Verdana" pitchFamily="34" charset="0"/>
              </a:rPr>
              <a:t> so </a:t>
            </a:r>
            <a:r>
              <a:rPr lang="en-US" sz="2400" dirty="0" err="1" smtClean="0">
                <a:latin typeface="Verdana" pitchFamily="34" charset="0"/>
              </a:rPr>
              <a:t>với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hiện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hành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đang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chứa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. </a:t>
            </a:r>
          </a:p>
          <a:p>
            <a:pPr marL="228600" indent="-22860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Một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số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ký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hiệu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đường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dẫn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đặc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biệt</a:t>
            </a:r>
            <a:r>
              <a:rPr lang="en-US" sz="2400" dirty="0" smtClean="0">
                <a:latin typeface="Verdana" pitchFamily="34" charset="0"/>
              </a:rPr>
              <a:t>:</a:t>
            </a:r>
            <a:endParaRPr lang="en-US" sz="2400" dirty="0"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4648200"/>
          <a:ext cx="88392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7391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Ký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hiệu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Ý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nghĩa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/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Trở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về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thư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mục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gốc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của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site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./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Thư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mục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hiện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tại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của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webpage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sử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dụng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link (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mặc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định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)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../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Quay </a:t>
                      </a:r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ra</a:t>
                      </a:r>
                      <a:r>
                        <a:rPr lang="en-US" sz="20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thư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mục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cha/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đi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ngược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cấp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thư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mục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Picture 5" descr="FolderURL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6200" y="685801"/>
            <a:ext cx="3699282" cy="5410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33800" y="533401"/>
            <a:ext cx="5562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A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B,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A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đến</a:t>
            </a:r>
            <a:r>
              <a:rPr lang="en-US" sz="2400" dirty="0" smtClean="0">
                <a:latin typeface="Verdana" pitchFamily="34" charset="0"/>
              </a:rPr>
              <a:t> B 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3200400"/>
            <a:ext cx="5791200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http://172.0.0.1/demo/Thumuc1/fileB.html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/demo/Thumuc1/fileB.html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./Thumuc1/fileB.html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Thumuc1/fileB.html</a:t>
            </a:r>
            <a:endParaRPr lang="en-US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Verdana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438400" y="1828800"/>
            <a:ext cx="1752600" cy="304800"/>
          </a:xfrm>
          <a:prstGeom prst="straightConnector1">
            <a:avLst/>
          </a:prstGeom>
          <a:ln w="2540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33800" y="533401"/>
            <a:ext cx="5562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B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C,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B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đến</a:t>
            </a:r>
            <a:r>
              <a:rPr lang="en-US" sz="2400" dirty="0" smtClean="0">
                <a:latin typeface="Verdana" pitchFamily="34" charset="0"/>
              </a:rPr>
              <a:t> C 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  <p:pic>
        <p:nvPicPr>
          <p:cNvPr id="8" name="Picture 7" descr="FolderURL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3733800" cy="511443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819400" y="1981200"/>
            <a:ext cx="1371600" cy="838200"/>
          </a:xfrm>
          <a:prstGeom prst="straightConnector1">
            <a:avLst/>
          </a:prstGeom>
          <a:ln w="2540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52800" y="3200400"/>
            <a:ext cx="5791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</a:p>
          <a:p>
            <a:pPr marL="4057650" lvl="1" indent="-3600450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http://172.0.0.1/demo/Thumuc1/Thumuc1_1/fileC.html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/demo/Thumuc1/Thumuc1_1/fileC.html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./Thumuc1_1/fileC.html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Thumuc1_1/fileC.html</a:t>
            </a:r>
            <a:endParaRPr lang="en-US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33800" y="533401"/>
            <a:ext cx="5562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C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D,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C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đến</a:t>
            </a:r>
            <a:r>
              <a:rPr lang="en-US" sz="2400" dirty="0" smtClean="0">
                <a:latin typeface="Verdana" pitchFamily="34" charset="0"/>
              </a:rPr>
              <a:t> D 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  <p:pic>
        <p:nvPicPr>
          <p:cNvPr id="9" name="Picture 8" descr="FolderURL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762000"/>
            <a:ext cx="3721034" cy="5105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52800" y="3200400"/>
            <a:ext cx="5791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</a:p>
          <a:p>
            <a:pPr marL="3886200" lvl="1" indent="-3429000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http://172.0.0.1/demo/Thumuc1/Thumuc1_2/fileD.html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/demo/Thumuc1/Thumuc1_2/fileD.html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./../Thumuc1_2/fileD.html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../Thumuc1_2/fileD.html</a:t>
            </a:r>
            <a:endParaRPr lang="en-US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Verdana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rot="5400000" flipH="1" flipV="1">
            <a:off x="2895600" y="2057400"/>
            <a:ext cx="1371600" cy="1219200"/>
          </a:xfrm>
          <a:prstGeom prst="straightConnector1">
            <a:avLst/>
          </a:prstGeom>
          <a:ln w="2540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33800" y="533401"/>
            <a:ext cx="5562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D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F,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D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đến</a:t>
            </a:r>
            <a:r>
              <a:rPr lang="en-US" sz="2400" dirty="0" smtClean="0">
                <a:latin typeface="Verdana" pitchFamily="34" charset="0"/>
              </a:rPr>
              <a:t> F 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  <p:pic>
        <p:nvPicPr>
          <p:cNvPr id="8" name="Picture 7" descr="FolderURL3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38200"/>
            <a:ext cx="3845205" cy="5205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52800" y="3200400"/>
            <a:ext cx="5791200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http://172.0.0.1/demo/Thumuc2/fileF.html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/demo/Thumuc2/fileF.html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./../../Thumuc2/fileF.html</a:t>
            </a:r>
            <a:endParaRPr lang="en-US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4"/>
              </a:rPr>
              <a:t>../../Thumuc2/fileF.html</a:t>
            </a:r>
            <a:endParaRPr lang="en-US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Verdana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09600" y="1981200"/>
            <a:ext cx="3581400" cy="2819400"/>
          </a:xfrm>
          <a:prstGeom prst="straightConnector1">
            <a:avLst/>
          </a:prstGeom>
          <a:ln w="2540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33800" y="533401"/>
            <a:ext cx="5562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F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E,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F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4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400" dirty="0" smtClean="0">
                <a:latin typeface="Verdana" pitchFamily="34" charset="0"/>
              </a:rPr>
              <a:t> = 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target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=‘….’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400" dirty="0" err="1" smtClean="0">
                <a:latin typeface="Verdana" pitchFamily="34" charset="0"/>
              </a:rPr>
              <a:t>Liên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kết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đến</a:t>
            </a:r>
            <a:r>
              <a:rPr lang="en-US" sz="2400" dirty="0" smtClean="0">
                <a:latin typeface="Verdana" pitchFamily="34" charset="0"/>
              </a:rPr>
              <a:t> E  </a:t>
            </a:r>
            <a:r>
              <a:rPr lang="en-US" sz="24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2819400"/>
            <a:ext cx="57912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</a:p>
          <a:p>
            <a:pPr marL="2400300" lvl="1" indent="-1943100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2"/>
              </a:rPr>
              <a:t>http://172.0.0.1/demo/Thumuc1/Thumuc1_2/Thumuc1_2_1/fileE.html</a:t>
            </a:r>
            <a:endParaRPr lang="en-US" dirty="0" smtClean="0">
              <a:latin typeface="Verdana" pitchFamily="34" charset="0"/>
            </a:endParaRPr>
          </a:p>
          <a:p>
            <a:pPr marL="4114800" lvl="1" indent="-3714750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/demo/Thumuc</a:t>
            </a:r>
            <a:r>
              <a:rPr lang="en-US" dirty="0" smtClean="0">
                <a:latin typeface="Verdana" pitchFamily="34" charset="0"/>
                <a:hlinkClick r:id="rId4"/>
              </a:rPr>
              <a:t>1/Thumuc1_2/Thumuc1_2_1/</a:t>
            </a:r>
            <a:r>
              <a:rPr lang="en-US" dirty="0" smtClean="0">
                <a:latin typeface="Verdana" pitchFamily="34" charset="0"/>
                <a:hlinkClick r:id="rId3"/>
              </a:rPr>
              <a:t>fileE.html</a:t>
            </a:r>
            <a:endParaRPr lang="en-US" dirty="0" smtClean="0">
              <a:latin typeface="Verdana" pitchFamily="34" charset="0"/>
              <a:hlinkClick r:id="rId4"/>
            </a:endParaRPr>
          </a:p>
          <a:p>
            <a:pPr marL="4572000" lvl="1" indent="-4114800">
              <a:lnSpc>
                <a:spcPct val="150000"/>
              </a:lnSpc>
              <a:spcBef>
                <a:spcPts val="1200"/>
              </a:spcBef>
            </a:pPr>
            <a:r>
              <a:rPr lang="en-US" dirty="0" smtClean="0">
                <a:latin typeface="Verdana" pitchFamily="34" charset="0"/>
                <a:hlinkClick r:id="rId3"/>
              </a:rPr>
              <a:t>../Thumuc1/Thumuc1_2/Thumuc1_2_1/fileE.html</a:t>
            </a:r>
            <a:endParaRPr lang="en-US" dirty="0" smtClean="0">
              <a:latin typeface="Verdana" pitchFamily="34" charset="0"/>
            </a:endParaRPr>
          </a:p>
        </p:txBody>
      </p:sp>
      <p:pic>
        <p:nvPicPr>
          <p:cNvPr id="9" name="Picture 8" descr="FolderURL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914400"/>
            <a:ext cx="3605681" cy="50292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rot="5400000" flipH="1" flipV="1">
            <a:off x="1752600" y="2895600"/>
            <a:ext cx="3352800" cy="1524000"/>
          </a:xfrm>
          <a:prstGeom prst="straightConnector1">
            <a:avLst/>
          </a:prstGeom>
          <a:ln w="2540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4572000"/>
            <a:ext cx="5791200" cy="1067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URL = </a:t>
            </a:r>
            <a:r>
              <a:rPr lang="en-US" dirty="0" smtClean="0">
                <a:latin typeface="Verdana" pitchFamily="34" charset="0"/>
                <a:hlinkClick r:id="rId2"/>
              </a:rPr>
              <a:t>../../../</a:t>
            </a:r>
            <a:r>
              <a:rPr lang="en-US" dirty="0" err="1" smtClean="0">
                <a:latin typeface="Verdana" pitchFamily="34" charset="0"/>
                <a:hlinkClick r:id="rId2"/>
              </a:rPr>
              <a:t>fileA.html#positionX</a:t>
            </a:r>
            <a:endParaRPr lang="en-US" dirty="0" smtClean="0">
              <a:latin typeface="Verdana" pitchFamily="34" charset="0"/>
            </a:endParaRPr>
          </a:p>
          <a:p>
            <a:pPr marL="2400300" lvl="1" indent="-1943100">
              <a:lnSpc>
                <a:spcPct val="150000"/>
              </a:lnSpc>
              <a:spcBef>
                <a:spcPts val="1200"/>
              </a:spcBef>
            </a:pPr>
            <a:endParaRPr lang="en-US" dirty="0" smtClean="0">
              <a:latin typeface="Verdana" pitchFamily="34" charset="0"/>
            </a:endParaRPr>
          </a:p>
        </p:txBody>
      </p:sp>
      <p:pic>
        <p:nvPicPr>
          <p:cNvPr id="8" name="Picture 7" descr="FolderURL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9050" y="762000"/>
            <a:ext cx="3400567" cy="495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352800" y="1143000"/>
            <a:ext cx="5867400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file E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link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đến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A ở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vị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trí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xác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định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X,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vậy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file E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có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Verdana" pitchFamily="34" charset="0"/>
              </a:rPr>
              <a:t> HTML element: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200" dirty="0" smtClean="0">
                <a:solidFill>
                  <a:srgbClr val="00B050"/>
                </a:solidFill>
                <a:latin typeface="Verdana" pitchFamily="34" charset="0"/>
              </a:rPr>
              <a:t>&lt;a name</a:t>
            </a:r>
            <a:r>
              <a:rPr lang="en-US" sz="2200" dirty="0" smtClean="0">
                <a:latin typeface="Verdana" pitchFamily="34" charset="0"/>
              </a:rPr>
              <a:t> = </a:t>
            </a: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“</a:t>
            </a:r>
            <a:r>
              <a:rPr lang="en-US" sz="2200" dirty="0" err="1" smtClean="0">
                <a:solidFill>
                  <a:srgbClr val="0070C0"/>
                </a:solidFill>
                <a:latin typeface="Verdana" pitchFamily="34" charset="0"/>
              </a:rPr>
              <a:t>VitriX</a:t>
            </a: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” </a:t>
            </a:r>
            <a:r>
              <a:rPr lang="en-US" sz="2200" dirty="0" smtClean="0">
                <a:solidFill>
                  <a:srgbClr val="00B050"/>
                </a:solidFill>
                <a:latin typeface="Verdana" pitchFamily="34" charset="0"/>
              </a:rPr>
              <a:t>&lt;/a&gt;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200" dirty="0" smtClean="0">
                <a:solidFill>
                  <a:srgbClr val="00B050"/>
                </a:solidFill>
                <a:latin typeface="Verdana" pitchFamily="34" charset="0"/>
              </a:rPr>
              <a:t>&lt;a </a:t>
            </a:r>
            <a:r>
              <a:rPr lang="en-US" sz="2200" dirty="0" err="1" smtClean="0">
                <a:solidFill>
                  <a:srgbClr val="00B050"/>
                </a:solidFill>
                <a:latin typeface="Verdana" pitchFamily="34" charset="0"/>
              </a:rPr>
              <a:t>href</a:t>
            </a:r>
            <a:r>
              <a:rPr lang="en-US" sz="2200" dirty="0" smtClean="0">
                <a:latin typeface="Verdana" pitchFamily="34" charset="0"/>
              </a:rPr>
              <a:t> = </a:t>
            </a:r>
            <a:r>
              <a:rPr lang="en-US" sz="2200" dirty="0" smtClean="0">
                <a:solidFill>
                  <a:srgbClr val="0070C0"/>
                </a:solidFill>
                <a:latin typeface="Verdana" pitchFamily="34" charset="0"/>
              </a:rPr>
              <a:t>“URL” </a:t>
            </a:r>
            <a:r>
              <a:rPr lang="en-US" sz="2200" dirty="0" smtClean="0">
                <a:solidFill>
                  <a:srgbClr val="00B050"/>
                </a:solidFill>
                <a:latin typeface="Verdana" pitchFamily="34" charset="0"/>
              </a:rPr>
              <a:t>&gt;</a:t>
            </a:r>
            <a:r>
              <a:rPr lang="en-US" sz="2200" dirty="0" smtClean="0">
                <a:latin typeface="Verdana" pitchFamily="34" charset="0"/>
              </a:rPr>
              <a:t> </a:t>
            </a:r>
          </a:p>
          <a:p>
            <a:pPr marL="685800" lvl="1" indent="-228600">
              <a:lnSpc>
                <a:spcPct val="150000"/>
              </a:lnSpc>
            </a:pPr>
            <a:r>
              <a:rPr lang="en-US" sz="2200" dirty="0" err="1" smtClean="0">
                <a:latin typeface="Verdana" pitchFamily="34" charset="0"/>
              </a:rPr>
              <a:t>Liên</a:t>
            </a:r>
            <a:r>
              <a:rPr lang="en-US" sz="2200" dirty="0" smtClean="0">
                <a:latin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</a:rPr>
              <a:t>kết</a:t>
            </a:r>
            <a:r>
              <a:rPr lang="en-US" sz="2200" dirty="0" smtClean="0">
                <a:latin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</a:rPr>
              <a:t>đến</a:t>
            </a:r>
            <a:r>
              <a:rPr lang="en-US" sz="2200" dirty="0" smtClean="0">
                <a:latin typeface="Verdana" pitchFamily="34" charset="0"/>
              </a:rPr>
              <a:t> A </a:t>
            </a:r>
            <a:r>
              <a:rPr lang="en-US" sz="2200" dirty="0" err="1" smtClean="0">
                <a:latin typeface="Verdana" pitchFamily="34" charset="0"/>
              </a:rPr>
              <a:t>tại</a:t>
            </a:r>
            <a:r>
              <a:rPr lang="en-US" sz="2200" dirty="0" smtClean="0">
                <a:latin typeface="Verdana" pitchFamily="34" charset="0"/>
              </a:rPr>
              <a:t> X &lt;</a:t>
            </a:r>
            <a:r>
              <a:rPr lang="en-US" sz="2200" dirty="0" smtClean="0">
                <a:solidFill>
                  <a:srgbClr val="00B050"/>
                </a:solidFill>
                <a:latin typeface="Verdana" pitchFamily="34" charset="0"/>
              </a:rPr>
              <a:t>/a&gt;</a:t>
            </a:r>
          </a:p>
          <a:p>
            <a:pPr marL="228600" indent="-228600">
              <a:lnSpc>
                <a:spcPct val="150000"/>
              </a:lnSpc>
            </a:pPr>
            <a:endParaRPr lang="en-US" sz="24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Phân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URL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3048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Bài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tập</a:t>
            </a:r>
            <a:r>
              <a:rPr lang="en-US" sz="2400" dirty="0" smtClean="0">
                <a:latin typeface="Verdana" pitchFamily="34" charset="0"/>
              </a:rPr>
              <a:t>:</a:t>
            </a:r>
            <a:endParaRPr lang="en-US" sz="2400" dirty="0">
              <a:latin typeface="Verdana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143000" y="914400"/>
            <a:ext cx="7086600" cy="4029075"/>
            <a:chOff x="1143000" y="1143000"/>
            <a:chExt cx="7086600" cy="4029075"/>
          </a:xfrm>
        </p:grpSpPr>
        <p:pic>
          <p:nvPicPr>
            <p:cNvPr id="5" name="Picture 4" descr="FolderURL6.jpg"/>
            <p:cNvPicPr>
              <a:picLocks noChangeAspect="1"/>
            </p:cNvPicPr>
            <p:nvPr/>
          </p:nvPicPr>
          <p:blipFill>
            <a:blip r:embed="rId2" cstate="print"/>
            <a:srcRect b="51117"/>
            <a:stretch>
              <a:fillRect/>
            </a:stretch>
          </p:blipFill>
          <p:spPr>
            <a:xfrm>
              <a:off x="1143000" y="1143000"/>
              <a:ext cx="3276600" cy="3733800"/>
            </a:xfrm>
            <a:prstGeom prst="rect">
              <a:avLst/>
            </a:prstGeom>
          </p:spPr>
        </p:pic>
        <p:pic>
          <p:nvPicPr>
            <p:cNvPr id="6" name="Picture 5" descr="FolderURL6.jpg"/>
            <p:cNvPicPr>
              <a:picLocks noChangeAspect="1"/>
            </p:cNvPicPr>
            <p:nvPr/>
          </p:nvPicPr>
          <p:blipFill>
            <a:blip r:embed="rId2" cstate="print"/>
            <a:srcRect t="48886"/>
            <a:stretch>
              <a:fillRect/>
            </a:stretch>
          </p:blipFill>
          <p:spPr>
            <a:xfrm>
              <a:off x="5029200" y="1676400"/>
              <a:ext cx="2933700" cy="3495675"/>
            </a:xfrm>
            <a:prstGeom prst="rect">
              <a:avLst/>
            </a:prstGeom>
          </p:spPr>
        </p:pic>
        <p:pic>
          <p:nvPicPr>
            <p:cNvPr id="7" name="Picture 6" descr="FolderURL6.jpg"/>
            <p:cNvPicPr>
              <a:picLocks noChangeAspect="1"/>
            </p:cNvPicPr>
            <p:nvPr/>
          </p:nvPicPr>
          <p:blipFill>
            <a:blip r:embed="rId2" cstate="print"/>
            <a:srcRect b="96010"/>
            <a:stretch>
              <a:fillRect/>
            </a:stretch>
          </p:blipFill>
          <p:spPr>
            <a:xfrm>
              <a:off x="4953000" y="1219200"/>
              <a:ext cx="3276600" cy="304800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0" y="4705350"/>
            <a:ext cx="9144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300" dirty="0" err="1" smtClean="0">
                <a:latin typeface="Verdana" pitchFamily="34" charset="0"/>
              </a:rPr>
              <a:t>Nội</a:t>
            </a:r>
            <a:r>
              <a:rPr lang="en-US" sz="2300" dirty="0" smtClean="0">
                <a:latin typeface="Verdana" pitchFamily="34" charset="0"/>
              </a:rPr>
              <a:t> dung </a:t>
            </a:r>
            <a:r>
              <a:rPr lang="en-US" sz="2300" dirty="0" err="1" smtClean="0">
                <a:latin typeface="Verdana" pitchFamily="34" charset="0"/>
              </a:rPr>
              <a:t>về</a:t>
            </a:r>
            <a:r>
              <a:rPr lang="en-US" sz="2300" dirty="0" smtClean="0">
                <a:latin typeface="Verdana" pitchFamily="34" charset="0"/>
              </a:rPr>
              <a:t>: </a:t>
            </a:r>
            <a:r>
              <a:rPr lang="en-US" sz="2300" dirty="0" err="1" smtClean="0">
                <a:latin typeface="Verdana" pitchFamily="34" charset="0"/>
              </a:rPr>
              <a:t>Phân</a:t>
            </a:r>
            <a:r>
              <a:rPr lang="en-US" sz="2300" dirty="0" smtClean="0">
                <a:latin typeface="Verdana" pitchFamily="34" charset="0"/>
              </a:rPr>
              <a:t> </a:t>
            </a:r>
            <a:r>
              <a:rPr lang="en-US" sz="2300" dirty="0" err="1" smtClean="0">
                <a:latin typeface="Verdana" pitchFamily="34" charset="0"/>
              </a:rPr>
              <a:t>loại</a:t>
            </a:r>
            <a:r>
              <a:rPr lang="en-US" sz="2300" dirty="0" smtClean="0">
                <a:latin typeface="Verdana" pitchFamily="34" charset="0"/>
              </a:rPr>
              <a:t> </a:t>
            </a:r>
            <a:r>
              <a:rPr lang="en-US" sz="2300" dirty="0" err="1" smtClean="0">
                <a:latin typeface="Verdana" pitchFamily="34" charset="0"/>
              </a:rPr>
              <a:t>các</a:t>
            </a:r>
            <a:r>
              <a:rPr lang="en-US" sz="2300" dirty="0" smtClean="0">
                <a:latin typeface="Verdana" pitchFamily="34" charset="0"/>
              </a:rPr>
              <a:t> URL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erdana" pitchFamily="34" charset="0"/>
              </a:rPr>
              <a:t>Reference from: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GV. </a:t>
            </a:r>
            <a:r>
              <a:rPr lang="vi-VN" sz="2300" dirty="0" smtClean="0">
                <a:solidFill>
                  <a:srgbClr val="0070C0"/>
                </a:solidFill>
                <a:latin typeface="Verdana" pitchFamily="34" charset="0"/>
              </a:rPr>
              <a:t>Trần Thị Bích Hạnh (2007)</a:t>
            </a:r>
            <a:endParaRPr lang="en-US" sz="2300" dirty="0" smtClean="0">
              <a:solidFill>
                <a:srgbClr val="0070C0"/>
              </a:solidFill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300" dirty="0" smtClean="0">
                <a:solidFill>
                  <a:srgbClr val="0070C0"/>
                </a:solidFill>
                <a:latin typeface="Verdana" pitchFamily="34" charset="0"/>
              </a:rPr>
              <a:t>Bài giảng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Môn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Lập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trình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và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thiết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300" dirty="0" err="1" smtClean="0">
                <a:solidFill>
                  <a:srgbClr val="0070C0"/>
                </a:solidFill>
                <a:latin typeface="Verdana" pitchFamily="34" charset="0"/>
              </a:rPr>
              <a:t>kế</a:t>
            </a: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 web, K.CNTT, ĐHKHTN</a:t>
            </a:r>
            <a:endParaRPr lang="en-US" sz="2300" dirty="0">
              <a:solidFill>
                <a:srgbClr val="0070C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Tag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kẻ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bảng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- Table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0" y="1447800"/>
          <a:ext cx="8839200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Tên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/ T. </a:t>
                      </a:r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tính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Mô</a:t>
                      </a:r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tả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&lt;table&gt; &lt;/table&gt;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Khởi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tạo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bảng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…&lt;/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Tạo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dòng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,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nằm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trong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&lt;table&gt;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…&lt;/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Tạo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 ô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tiêu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để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,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nằm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trong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2000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&lt;td&gt; …&lt;/td&gt;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Tạo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 ô,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&lt;td&gt;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phải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nằm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trong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Colspan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Thiết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lập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ô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có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độ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rộng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bằng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bao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nhiêu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cột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Rowspan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Thiết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lập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ô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có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độ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cao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bằng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bao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nhiêu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dòng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Background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Thiết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lập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ảnh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nền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cho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&lt;table&gt;, &lt;td&gt;,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Bgcolor</a:t>
                      </a:r>
                      <a:endParaRPr lang="en-US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Thiết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lập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màu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nền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cho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thẻ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&lt;table&gt;, &lt;td&gt;, &lt;</a:t>
                      </a:r>
                      <a:r>
                        <a:rPr lang="en-US" sz="2000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20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" y="5562600"/>
            <a:ext cx="2787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Ví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dụ</a:t>
            </a:r>
            <a:r>
              <a:rPr lang="en-US" sz="2400" dirty="0" smtClean="0">
                <a:latin typeface="Verdana" pitchFamily="34" charset="0"/>
              </a:rPr>
              <a:t> minh </a:t>
            </a:r>
            <a:r>
              <a:rPr lang="en-US" sz="2400" dirty="0" err="1" smtClean="0">
                <a:latin typeface="Verdana" pitchFamily="34" charset="0"/>
              </a:rPr>
              <a:t>hoạ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0" y="8382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err="1" smtClean="0">
                <a:latin typeface="Verdana" pitchFamily="34" charset="0"/>
              </a:rPr>
              <a:t>Tên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thẻ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tính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thẻ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Tag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kẻ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bảng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- Table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609600"/>
          <a:ext cx="8839200" cy="564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6248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Show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Code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 border = "1"&gt;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STT 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Ho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va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Ten 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&lt;td&gt;1&lt;/td&gt;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&lt;td&gt;Do Minh Tung&lt;/td&gt;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endParaRPr lang="en-US" sz="1600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&lt;td&gt;2&lt;/td&gt;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&lt;td&gt;Cao T. Phuong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Thanh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endParaRPr lang="en-US" sz="1600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&lt;td&gt;3&lt;/td&gt;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Phan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Kim Loan&lt;/td&gt;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&lt;/table&gt;</a:t>
                      </a:r>
                    </a:p>
                    <a:p>
                      <a:pPr algn="l"/>
                      <a:endParaRPr lang="en-US" sz="200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impleTable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057400"/>
            <a:ext cx="3079262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Colspan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Table Tag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609600"/>
          <a:ext cx="8839200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6248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Show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Code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 border = "1"&gt;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Name 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colspan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="2"&gt;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Cellphone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Phan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Kim Loan&lt;/td&gt;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	&lt;td&gt;88352100&lt;/td&gt;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             &lt;td&gt;86251160&lt;/td&gt;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		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&lt;/table&gt;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lspanTable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2362200"/>
            <a:ext cx="3494649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Rowspan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Table Tag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609600"/>
          <a:ext cx="88392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6248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Show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Code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 border = "1"&gt;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 First Name: 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	&lt;td&gt;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Phan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Thi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Kim Loan&lt;/td&gt;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            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rowspan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="2"&gt;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Cellphone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:&lt;/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th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   	&lt;td&gt;86251160&lt;/td&gt;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           &lt;td&gt;88352100&lt;/td&gt;	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&lt;/table&gt;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RowspanTable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3048000" cy="1255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Attribute Table Tag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609600"/>
          <a:ext cx="88392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Show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Code</a:t>
                      </a:r>
                      <a:endParaRPr lang="en-US" b="0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 border = "1" background="Candle.jpg"&gt;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&lt;td&gt;Puppy&lt;/td&gt;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	&lt;td&gt;Piggy&lt;/td&gt;		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&lt;td&gt;Kitty&lt;/td&gt;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             &lt;td&gt;Mummy&lt;/td&gt;	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&lt;/table&gt;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Bgcolor</a:t>
                      </a:r>
                      <a:endParaRPr lang="en-US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&lt;table border = "1"&gt;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 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bgcolor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="#CCFFFF"&gt;Puppy&lt;/td&gt;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            	&lt;td&gt;Piggy&lt;/td&gt;		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	&lt;td&gt;Kitty&lt;/td&gt;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            &lt;td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background = “C.jpg"&gt;Mummy&lt;/td&gt;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	&lt;/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tr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&gt;</a:t>
                      </a:r>
                    </a:p>
                    <a:p>
                      <a:pPr algn="l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&lt;/table&gt;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ackgroundTableTa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1" y="1447800"/>
            <a:ext cx="2286000" cy="1318054"/>
          </a:xfrm>
          <a:prstGeom prst="rect">
            <a:avLst/>
          </a:prstGeom>
        </p:spPr>
      </p:pic>
      <p:pic>
        <p:nvPicPr>
          <p:cNvPr id="7" name="Picture 6" descr="BackcolorTableTa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" y="3505200"/>
            <a:ext cx="2324100" cy="1386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Table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 descr="VdTable.jpg"/>
          <p:cNvPicPr>
            <a:picLocks noChangeAspect="1"/>
          </p:cNvPicPr>
          <p:nvPr/>
        </p:nvPicPr>
        <p:blipFill>
          <a:blip r:embed="rId2" cstate="print"/>
          <a:srcRect t="3825"/>
          <a:stretch>
            <a:fillRect/>
          </a:stretch>
        </p:blipFill>
        <p:spPr>
          <a:xfrm>
            <a:off x="176212" y="457200"/>
            <a:ext cx="8791575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5325070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smtClean="0">
                <a:latin typeface="Verdana" pitchFamily="34" charset="0"/>
              </a:rPr>
              <a:t>Picture reference from: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GV. </a:t>
            </a:r>
            <a:r>
              <a:rPr lang="vi-VN" dirty="0" smtClean="0">
                <a:solidFill>
                  <a:srgbClr val="0070C0"/>
                </a:solidFill>
                <a:latin typeface="Verdana" pitchFamily="34" charset="0"/>
              </a:rPr>
              <a:t>Trần Thị Bích Hạnh (2007)</a:t>
            </a:r>
            <a:endParaRPr lang="en-US" dirty="0" smtClean="0">
              <a:solidFill>
                <a:srgbClr val="0070C0"/>
              </a:solidFill>
              <a:latin typeface="Verdana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  <a:latin typeface="Verdana" pitchFamily="34" charset="0"/>
              </a:rPr>
              <a:t>Bài giảng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Môn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Lập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trình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và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thiết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Verdana" pitchFamily="34" charset="0"/>
              </a:rPr>
              <a:t>kế</a:t>
            </a:r>
            <a:r>
              <a:rPr lang="en-US" dirty="0" smtClean="0">
                <a:solidFill>
                  <a:srgbClr val="0070C0"/>
                </a:solidFill>
                <a:latin typeface="Verdana" pitchFamily="34" charset="0"/>
              </a:rPr>
              <a:t> web, K.CNTT, ĐHKHTN</a:t>
            </a:r>
            <a:endParaRPr lang="en-US" dirty="0">
              <a:solidFill>
                <a:srgbClr val="0070C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85800" lvl="1" indent="-228600" algn="ctr">
              <a:lnSpc>
                <a:spcPct val="150000"/>
              </a:lnSpc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Table</a:t>
            </a:r>
            <a:endParaRPr lang="en-US" sz="2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Picture 4" descr="VdTabl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775" y="742950"/>
            <a:ext cx="8934450" cy="53721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57200"/>
            <a:ext cx="8534400" cy="8925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  <a:hlinkClick r:id="rId2"/>
              </a:rPr>
              <a:t>http://www.w3schools.com/html/</a:t>
            </a:r>
            <a:endParaRPr lang="en-US" sz="28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  <a:hlinkClick r:id="rId3"/>
              </a:rPr>
              <a:t>http://www.tizag.com/htmlT/</a:t>
            </a:r>
            <a:endParaRPr lang="en-US" sz="28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  <a:hlinkClick r:id="rId4"/>
              </a:rPr>
              <a:t>http://www.webdesign.org/web/html-and-css/tutorials/</a:t>
            </a:r>
            <a:endParaRPr lang="en-US" sz="28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Lisa </a:t>
            </a:r>
            <a:r>
              <a:rPr lang="en-US" sz="2800" dirty="0" err="1" smtClean="0">
                <a:latin typeface="Verdana" pitchFamily="34" charset="0"/>
              </a:rPr>
              <a:t>Fiedor</a:t>
            </a:r>
            <a:r>
              <a:rPr lang="en-US" sz="2800" dirty="0" smtClean="0">
                <a:latin typeface="Verdana" pitchFamily="34" charset="0"/>
              </a:rPr>
              <a:t>, HTML Basics, DELTA Instructional Services, </a:t>
            </a:r>
            <a:r>
              <a:rPr lang="en-US" sz="2800" dirty="0" smtClean="0">
                <a:latin typeface="Verdana" pitchFamily="34" charset="0"/>
                <a:hlinkClick r:id="rId5"/>
              </a:rPr>
              <a:t>http://delta.ncsu.edu</a:t>
            </a:r>
            <a:r>
              <a:rPr lang="en-US" sz="2800" dirty="0" smtClean="0">
                <a:latin typeface="Verdana" pitchFamily="34" charset="0"/>
              </a:rPr>
              <a:t>, 2007</a:t>
            </a: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Bài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tập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smtClean="0">
                <a:latin typeface="Verdana" pitchFamily="34" charset="0"/>
                <a:hlinkClick r:id="rId6"/>
              </a:rPr>
              <a:t>http://access.k12.wv.us/webpages/tab3.htm</a:t>
            </a: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vi-VN" sz="2800" dirty="0" smtClean="0">
                <a:solidFill>
                  <a:schemeClr val="bg1"/>
                </a:solidFill>
              </a:rPr>
              <a:t>Giới thiệu 1 số website tham khảo làm đồ án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33400"/>
            <a:ext cx="838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Bán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sách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2"/>
              </a:rPr>
              <a:t>http://www.vinabook.com/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3"/>
              </a:rPr>
              <a:t>http://www.minhkhai.com.vn/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4"/>
              </a:rPr>
              <a:t>http://www.xbook.com.vn/</a:t>
            </a: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Quảng cáo phim, cho thuê đĩa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5"/>
              </a:rPr>
              <a:t>http://thuedia.com/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6"/>
              </a:rPr>
              <a:t>http://thuedvd.com/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7"/>
              </a:rPr>
              <a:t>http://movie.zing.vn/</a:t>
            </a: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vi-VN" sz="2800" dirty="0" smtClean="0">
                <a:solidFill>
                  <a:schemeClr val="bg1"/>
                </a:solidFill>
              </a:rPr>
              <a:t>Giới thiệu 1 số website tham khảo làm đồ án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413058"/>
            <a:ext cx="8153400" cy="6140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Bán</a:t>
            </a:r>
            <a:r>
              <a:rPr lang="en-US" sz="2800" dirty="0" smtClean="0">
                <a:latin typeface="Verdana" pitchFamily="34" charset="0"/>
              </a:rPr>
              <a:t> game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2"/>
              </a:rPr>
              <a:t>http://www.haloshop.vn/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3"/>
              </a:rPr>
              <a:t>http://www.hotgameshop.net/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4"/>
              </a:rPr>
              <a:t>http://trochoidientu.com/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5"/>
              </a:rPr>
              <a:t>http://www.gamespot.com/</a:t>
            </a: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Bán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máy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tính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6"/>
              </a:rPr>
              <a:t>http://www.vitinhphongvu.com/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7"/>
              </a:rPr>
              <a:t>http://www.muabanlaptop.com.vn/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8"/>
              </a:rPr>
              <a:t>http://www.saigonlaptops.com/</a:t>
            </a:r>
            <a:endParaRPr lang="en-US" sz="28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vi-VN" sz="2800" dirty="0" smtClean="0">
                <a:solidFill>
                  <a:schemeClr val="bg1"/>
                </a:solidFill>
              </a:rPr>
              <a:t>Giới thiệu 1 số website tham khảo làm đồ án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914400"/>
            <a:ext cx="838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Bán điện thoại di dộng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2"/>
              </a:rPr>
              <a:t>http://www.muabandtdd.com/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  <a:hlinkClick r:id="rId3"/>
              </a:rPr>
              <a:t>http://www.thegioididong.com/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endParaRPr lang="en-US" sz="2800" dirty="0" smtClean="0">
              <a:latin typeface="Verdana" pitchFamily="34" charset="0"/>
            </a:endParaRPr>
          </a:p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tương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tự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khác</a:t>
            </a:r>
            <a:endParaRPr lang="en-US" sz="2800" dirty="0" smtClean="0">
              <a:latin typeface="Verdana" pitchFamily="34" charset="0"/>
            </a:endParaRPr>
          </a:p>
          <a:p>
            <a:pPr marL="457200" lvl="2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…..</a:t>
            </a:r>
            <a:endParaRPr lang="vi-VN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thực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hành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HTML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340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Bài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tập</a:t>
            </a:r>
            <a:r>
              <a:rPr lang="en-US" sz="2800" dirty="0" smtClean="0">
                <a:latin typeface="Verdana" pitchFamily="34" charset="0"/>
              </a:rPr>
              <a:t>: HTML </a:t>
            </a:r>
            <a:r>
              <a:rPr lang="en-US" sz="2800" dirty="0" err="1" smtClean="0">
                <a:latin typeface="Verdana" pitchFamily="34" charset="0"/>
              </a:rPr>
              <a:t>cơ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bản</a:t>
            </a:r>
            <a:r>
              <a:rPr lang="en-US" sz="2800" dirty="0" smtClean="0">
                <a:latin typeface="Verdana" pitchFamily="34" charset="0"/>
              </a:rPr>
              <a:t>, Introduction</a:t>
            </a:r>
          </a:p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Thời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gian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giao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Cuối</a:t>
            </a:r>
            <a:r>
              <a:rPr lang="en-US" sz="2800" dirty="0" smtClean="0">
                <a:latin typeface="Verdana" pitchFamily="34" charset="0"/>
              </a:rPr>
              <a:t> Lecture04 </a:t>
            </a:r>
          </a:p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Thời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gian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làm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việc</a:t>
            </a:r>
            <a:r>
              <a:rPr lang="en-US" sz="2800" dirty="0" smtClean="0">
                <a:latin typeface="Verdana" pitchFamily="34" charset="0"/>
              </a:rPr>
              <a:t>: 1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endParaRPr lang="en-US" sz="2800" dirty="0" smtClean="0">
              <a:latin typeface="Verdana" pitchFamily="34" charset="0"/>
            </a:endParaRPr>
          </a:p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Yêu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cầu</a:t>
            </a:r>
            <a:r>
              <a:rPr lang="en-US" sz="2800" dirty="0" smtClean="0">
                <a:latin typeface="Verdana" pitchFamily="34" charset="0"/>
              </a:rPr>
              <a:t>: </a:t>
            </a:r>
          </a:p>
          <a:p>
            <a:pPr marL="625475" lvl="2" indent="-16827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Viết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ít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nhất</a:t>
            </a:r>
            <a:r>
              <a:rPr lang="en-US" sz="2800" dirty="0" smtClean="0">
                <a:latin typeface="Verdana" pitchFamily="34" charset="0"/>
              </a:rPr>
              <a:t> 4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*.html (1 homepage)</a:t>
            </a:r>
          </a:p>
          <a:p>
            <a:pPr marL="625475" lvl="2" indent="-16827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Giới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thiệu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thông</a:t>
            </a:r>
            <a:r>
              <a:rPr lang="en-US" sz="2800" dirty="0" smtClean="0">
                <a:latin typeface="Verdana" pitchFamily="34" charset="0"/>
              </a:rPr>
              <a:t> tin </a:t>
            </a:r>
            <a:r>
              <a:rPr lang="en-US" sz="2800" dirty="0" err="1" smtClean="0">
                <a:latin typeface="Verdana" pitchFamily="34" charset="0"/>
              </a:rPr>
              <a:t>cá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nhân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sở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thích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liên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quan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chủ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đề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tuỳ</a:t>
            </a:r>
            <a:r>
              <a:rPr lang="en-US" sz="2800" dirty="0" smtClean="0">
                <a:latin typeface="Verdana" pitchFamily="34" charset="0"/>
              </a:rPr>
              <a:t> ý.</a:t>
            </a:r>
          </a:p>
          <a:p>
            <a:pPr marL="625475" lvl="2" indent="-16827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phải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liên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với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nhau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sử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dụng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tất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cả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tag </a:t>
            </a:r>
            <a:r>
              <a:rPr lang="en-US" sz="2800" dirty="0" err="1" smtClean="0">
                <a:latin typeface="Verdana" pitchFamily="34" charset="0"/>
              </a:rPr>
              <a:t>đã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học</a:t>
            </a:r>
            <a:r>
              <a:rPr lang="en-US" sz="2800" dirty="0" smtClean="0">
                <a:latin typeface="Verdana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4 - Ngôn ngữ HTML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uts:outSpaceData xmlns:outs="http://schemas.microsoft.com/office/2009/outspace/metadata">
  <outs:relatedDates>
    <outs:relatedDate>
      <outs:type>3</outs:type>
      <outs:displayName>Last Modified</outs:displayName>
      <outs:dateTime>2010-01-27T03:03:36Z</outs:dateTime>
      <outs:isPinned>true</outs:isPinned>
    </outs:relatedDate>
    <outs:relatedDate>
      <outs:type>2</outs:type>
      <outs:displayName>Created</outs:displayName>
      <outs:dateTime>2009-01-24T03:00:41Z</outs:dateTime>
      <outs:isPinned>true</outs:isPinned>
    </outs:relatedDate>
    <outs:relatedDate>
      <outs:type>4</outs:type>
      <outs:displayName>Last Printed</outs:displayName>
      <outs:dateTime/>
      <outs:isPinned>true</outs:isPinned>
    </outs:relatedDate>
  </outs:relatedDates>
  <outs:relatedDocuments>
    <outs:relatedDocument>
      <outs:type>2</outs:type>
      <outs:displayName>Other documents in current folder</outs:displayName>
      <outs:uri/>
      <outs:isPinned>true</outs:isPinned>
    </outs:relatedDocument>
  </outs:relatedDocuments>
  <outs:relatedPeople>
    <outs:relatedPeopleItem>
      <outs:category>Author</outs:category>
      <outs:people>
        <outs:relatedPerson>
          <outs:displayName>LoanPhan</outs:displayName>
          <outs:accountName/>
        </outs:relatedPerson>
      </outs:people>
      <outs:source>0</outs:source>
      <outs:isPinned>true</outs:isPinned>
    </outs:relatedPeopleItem>
    <outs:relatedPeopleItem>
      <outs:category>Last modified by</outs:category>
      <outs:people>
        <outs:relatedPerson>
          <outs:displayName>Loan Phan</outs:displayName>
          <outs:accountName/>
        </outs:relatedPerson>
      </outs:people>
      <outs:source>0</outs:source>
      <outs:isPinned>true</outs:isPinned>
    </outs:relatedPeopleItem>
    <outs:relatedPeopleItem>
      <outs:category>Manager</outs:category>
      <outs:people/>
      <outs:source>0</outs:source>
      <outs:isPinned>false</outs:isPinned>
    </outs:relatedPeopleItem>
  </outs:relatedPeople>
  <propertyMetadataList xmlns="http://schemas.microsoft.com/office/2009/outspace/metadata">
    <propertyMetadata>
      <type>0</type>
      <propertyId>2228224</propertyId>
      <propertyName/>
      <isPinned>true</isPinned>
    </propertyMetadata>
    <propertyMetadata>
      <type>0</type>
      <propertyId>1114115</propertyId>
      <propertyName/>
      <isPinned>true</isPinned>
    </propertyMetadata>
    <propertyMetadata>
      <type>0</type>
      <propertyId>1114117</propertyId>
      <propertyName/>
      <isPinned>true</isPinned>
    </propertyMetadata>
    <propertyMetadata>
      <type>0</type>
      <propertyId>589825</propertyId>
      <propertyName/>
      <isPinned>false</isPinned>
    </propertyMetadata>
    <propertyMetadata>
      <type>0</type>
      <propertyId>1114116</propertyId>
      <propertyName/>
      <isPinned>false</isPinned>
    </propertyMetadata>
    <propertyMetadata>
      <type>0</type>
      <propertyId>14</propertyId>
      <propertyName/>
      <isPinned>true</isPinned>
    </propertyMetadata>
    <propertyMetadata>
      <type>0</type>
      <propertyId>8</propertyId>
      <propertyName/>
      <isPinned>true</isPinned>
    </propertyMetadata>
    <propertyMetadata>
      <type>0</type>
      <propertyId>6</propertyId>
      <propertyName/>
      <isPinned>false</isPinned>
    </propertyMetadata>
    <propertyMetadata>
      <type>0</type>
      <propertyId>1114118</propertyId>
      <propertyName/>
      <isPinned>false</isPinned>
    </propertyMetadata>
    <propertyMetadata>
      <type>0</type>
      <propertyId>1179649</propertyId>
      <propertyName/>
      <isPinned>false</isPinned>
    </propertyMetadata>
    <propertyMetadata>
      <type>0</type>
      <propertyId>655365</propertyId>
      <propertyName/>
      <isPinned>false</isPinned>
    </propertyMetadata>
    <propertyMetadata>
      <type>0</type>
      <propertyId>1</propertyId>
      <propertyName/>
      <isPinned>false</isPinned>
    </propertyMetadata>
    <propertyMetadata>
      <type>0</type>
      <propertyId>0</propertyId>
      <propertyName/>
      <isPinned>true</isPinned>
    </propertyMetadata>
    <propertyMetadata>
      <type>0</type>
      <propertyId>13</propertyId>
      <propertyName/>
      <isPinned>false</isPinned>
    </propertyMetadata>
    <propertyMetadata>
      <type>0</type>
      <propertyId>1179653</propertyId>
      <propertyName/>
      <isPinned>false</isPinned>
    </propertyMetadata>
    <propertyMetadata>
      <type>0</type>
      <propertyId>22</propertyId>
      <propertyName/>
      <isPinned>false</isPinned>
    </propertyMetadata>
  </propertyMetadataList>
  <outs:corruptMetadataWasLost/>
</outs:outSpaceData>
</file>

<file path=customXml/itemProps1.xml><?xml version="1.0" encoding="utf-8"?>
<ds:datastoreItem xmlns:ds="http://schemas.openxmlformats.org/officeDocument/2006/customXml" ds:itemID="{2DF832E6-8EE4-4C17-BC53-57B861845BC4}">
  <ds:schemaRefs>
    <ds:schemaRef ds:uri="http://schemas.microsoft.com/office/2009/outspace/meta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6936</TotalTime>
  <Words>2527</Words>
  <Application>Microsoft Office PowerPoint</Application>
  <PresentationFormat>On-screen Show (4:3)</PresentationFormat>
  <Paragraphs>495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 Gon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admin</cp:lastModifiedBy>
  <cp:revision>453</cp:revision>
  <cp:lastPrinted>2012-06-07T01:58:23Z</cp:lastPrinted>
  <dcterms:created xsi:type="dcterms:W3CDTF">2010-10-15T05:51:32Z</dcterms:created>
  <dcterms:modified xsi:type="dcterms:W3CDTF">2018-08-10T09:28:27Z</dcterms:modified>
</cp:coreProperties>
</file>