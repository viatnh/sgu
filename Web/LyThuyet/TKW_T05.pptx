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08" r:id="rId1"/>
    <p:sldMasterId id="2147483650" r:id="rId2"/>
    <p:sldMasterId id="2147483720" r:id="rId3"/>
  </p:sldMasterIdLst>
  <p:notesMasterIdLst>
    <p:notesMasterId r:id="rId38"/>
  </p:notesMasterIdLst>
  <p:handoutMasterIdLst>
    <p:handoutMasterId r:id="rId39"/>
  </p:handoutMasterIdLst>
  <p:sldIdLst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91" r:id="rId29"/>
    <p:sldId id="282" r:id="rId30"/>
    <p:sldId id="283" r:id="rId31"/>
    <p:sldId id="290" r:id="rId32"/>
    <p:sldId id="284" r:id="rId33"/>
    <p:sldId id="285" r:id="rId34"/>
    <p:sldId id="287" r:id="rId35"/>
    <p:sldId id="293" r:id="rId36"/>
    <p:sldId id="292" r:id="rId37"/>
  </p:sldIdLst>
  <p:sldSz cx="9144000" cy="6858000" type="screen4x3"/>
  <p:notesSz cx="6858000" cy="9144000"/>
  <p:defaultTextStyle>
    <a:defPPr>
      <a:defRPr lang="en-GB"/>
    </a:defPPr>
    <a:lvl1pPr algn="l" defTabSz="457200" rtl="0" fontAlgn="base">
      <a:spcBef>
        <a:spcPct val="0"/>
      </a:spcBef>
      <a:spcAft>
        <a:spcPct val="0"/>
      </a:spcAft>
      <a:buClr>
        <a:srgbClr val="000000"/>
      </a:buClr>
      <a:buSzPct val="100000"/>
      <a:buFont typeface="Calibri" pitchFamily="32" charset="0"/>
      <a:defRPr kern="1200">
        <a:solidFill>
          <a:schemeClr val="bg1"/>
        </a:solidFill>
        <a:latin typeface="Calibri" pitchFamily="32" charset="0"/>
        <a:ea typeface="+mn-ea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buClr>
        <a:srgbClr val="000000"/>
      </a:buClr>
      <a:buSzPct val="100000"/>
      <a:buFont typeface="Calibri" pitchFamily="32" charset="0"/>
      <a:defRPr kern="1200">
        <a:solidFill>
          <a:schemeClr val="bg1"/>
        </a:solidFill>
        <a:latin typeface="Calibri" pitchFamily="32" charset="0"/>
        <a:ea typeface="+mn-ea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buClr>
        <a:srgbClr val="000000"/>
      </a:buClr>
      <a:buSzPct val="100000"/>
      <a:buFont typeface="Calibri" pitchFamily="32" charset="0"/>
      <a:defRPr kern="1200">
        <a:solidFill>
          <a:schemeClr val="bg1"/>
        </a:solidFill>
        <a:latin typeface="Calibri" pitchFamily="32" charset="0"/>
        <a:ea typeface="+mn-ea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buClr>
        <a:srgbClr val="000000"/>
      </a:buClr>
      <a:buSzPct val="100000"/>
      <a:buFont typeface="Calibri" pitchFamily="32" charset="0"/>
      <a:defRPr kern="1200">
        <a:solidFill>
          <a:schemeClr val="bg1"/>
        </a:solidFill>
        <a:latin typeface="Calibri" pitchFamily="32" charset="0"/>
        <a:ea typeface="+mn-ea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buClr>
        <a:srgbClr val="000000"/>
      </a:buClr>
      <a:buSzPct val="100000"/>
      <a:buFont typeface="Calibri" pitchFamily="32" charset="0"/>
      <a:defRPr kern="1200">
        <a:solidFill>
          <a:schemeClr val="bg1"/>
        </a:solidFill>
        <a:latin typeface="Calibri" pitchFamily="3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scaleToFitPaper="1" frameSlides="1"/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B2210A-AC07-4EAC-9882-34675B7609D3}" type="datetimeFigureOut">
              <a:rPr lang="en-US" smtClean="0"/>
              <a:pPr/>
              <a:t>8/10/2018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3C6FD-D47C-4440-ABE4-D512678A9A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365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AutoShape 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0" y="0"/>
            <a:ext cx="2971800" cy="4603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3884613" y="0"/>
            <a:ext cx="2970212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buSzPct val="45000"/>
              <a:buFont typeface="Wingdings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endParaRPr lang="en-US"/>
          </a:p>
        </p:txBody>
      </p:sp>
      <p:sp>
        <p:nvSpPr>
          <p:cNvPr id="6148" name="Rectangle 4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6149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4813" cy="41132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mtClean="0"/>
          </a:p>
        </p:txBody>
      </p:sp>
      <p:sp>
        <p:nvSpPr>
          <p:cNvPr id="6150" name="Text Box 6"/>
          <p:cNvSpPr txBox="1">
            <a:spLocks noChangeArrowheads="1"/>
          </p:cNvSpPr>
          <p:nvPr/>
        </p:nvSpPr>
        <p:spPr bwMode="auto">
          <a:xfrm>
            <a:off x="0" y="8683625"/>
            <a:ext cx="2971800" cy="4603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buSzPct val="45000"/>
              <a:buFont typeface="Wingdings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fld id="{31857D02-1DB9-48EB-A85A-AB9C52E4A3A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8268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89FC931-0B6A-4D50-B6CF-1BBD33709D0E}" type="slidenum">
              <a:rPr lang="en-US"/>
              <a:pPr/>
              <a:t>1</a:t>
            </a:fld>
            <a:endParaRPr lang="en-US"/>
          </a:p>
        </p:txBody>
      </p:sp>
      <p:sp>
        <p:nvSpPr>
          <p:cNvPr id="4300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9504312-6CE1-41AF-803B-29BF3BA7941D}" type="slidenum">
              <a:rPr lang="en-US"/>
              <a:pPr/>
              <a:t>2</a:t>
            </a:fld>
            <a:endParaRPr lang="en-US"/>
          </a:p>
        </p:txBody>
      </p:sp>
      <p:sp>
        <p:nvSpPr>
          <p:cNvPr id="4403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349EB55-0FF4-4276-91B6-96584A481ACA}" type="slidenum">
              <a:rPr lang="en-US"/>
              <a:pPr/>
              <a:t>3</a:t>
            </a:fld>
            <a:endParaRPr lang="en-US"/>
          </a:p>
        </p:txBody>
      </p:sp>
      <p:sp>
        <p:nvSpPr>
          <p:cNvPr id="4505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31884722-9976-4B6F-A7D8-333C2B59832D}" type="slidenum">
              <a:rPr lang="en-US"/>
              <a:pPr/>
              <a:t>4</a:t>
            </a:fld>
            <a:endParaRPr lang="en-US"/>
          </a:p>
        </p:txBody>
      </p:sp>
      <p:sp>
        <p:nvSpPr>
          <p:cNvPr id="4608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65F0701-53C0-4E07-975D-666339CB33F3}" type="slidenum">
              <a:rPr lang="en-US"/>
              <a:pPr/>
              <a:t>5</a:t>
            </a:fld>
            <a:endParaRPr lang="en-US"/>
          </a:p>
        </p:txBody>
      </p:sp>
      <p:sp>
        <p:nvSpPr>
          <p:cNvPr id="47105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710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07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8286878-A181-4836-84E9-5AB99F82F076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 algn="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5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34A56D36-32CF-4DD0-BE9B-1A8E0B515099}" type="slidenum">
              <a:rPr lang="en-US"/>
              <a:pPr/>
              <a:t>6</a:t>
            </a:fld>
            <a:endParaRPr lang="en-US"/>
          </a:p>
        </p:txBody>
      </p:sp>
      <p:sp>
        <p:nvSpPr>
          <p:cNvPr id="48129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813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31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8DC748F-AEB6-4EB4-9049-CA28E4ABDDE7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 algn="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6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FAF1B5E9-07AC-4220-9D13-F9F604A06CAC}" type="slidenum">
              <a:rPr lang="en-US"/>
              <a:pPr/>
              <a:t>7</a:t>
            </a:fld>
            <a:endParaRPr lang="en-US"/>
          </a:p>
        </p:txBody>
      </p:sp>
      <p:sp>
        <p:nvSpPr>
          <p:cNvPr id="49153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15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55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00E1B3F-00A0-425D-BB18-ADCD50B8F815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 algn="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7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A2A10F22-7CD0-41D8-A776-1F89F3863011}" type="slidenum">
              <a:rPr lang="en-US"/>
              <a:pPr/>
              <a:t>8</a:t>
            </a:fld>
            <a:endParaRPr lang="en-US"/>
          </a:p>
        </p:txBody>
      </p:sp>
      <p:sp>
        <p:nvSpPr>
          <p:cNvPr id="50177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17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7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1DEAF54-1B3D-4E01-A7A7-C47CB96339D2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 algn="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8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9587ADD9-A359-4682-8DE3-0783CB34EF99}" type="slidenum">
              <a:rPr lang="en-US"/>
              <a:pPr/>
              <a:t>9</a:t>
            </a:fld>
            <a:endParaRPr lang="en-US"/>
          </a:p>
        </p:txBody>
      </p:sp>
      <p:sp>
        <p:nvSpPr>
          <p:cNvPr id="51201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20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03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AEDC8A4-770B-4B1E-BBCB-760C50A708F2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 algn="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9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7678664-0F33-4DC0-BCBC-2A358EF389F1}" type="slidenum">
              <a:rPr lang="en-US"/>
              <a:pPr/>
              <a:t>10</a:t>
            </a:fld>
            <a:endParaRPr lang="en-US"/>
          </a:p>
        </p:txBody>
      </p:sp>
      <p:sp>
        <p:nvSpPr>
          <p:cNvPr id="52225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27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F6A9E9F-45EB-4CF0-9E7E-E471A61A22AA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 algn="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10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F6B2D217-B0B1-4C09-A25C-10D063B9A529}" type="slidenum">
              <a:rPr lang="en-US"/>
              <a:pPr/>
              <a:t>11</a:t>
            </a:fld>
            <a:endParaRPr lang="en-US"/>
          </a:p>
        </p:txBody>
      </p:sp>
      <p:sp>
        <p:nvSpPr>
          <p:cNvPr id="53249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25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51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3E4E923-0CD4-4E7A-9B2C-BFDFE562C870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 algn="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11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EB55199-3EEF-4E47-BCC0-1749825249F4}" type="slidenum">
              <a:rPr lang="en-US"/>
              <a:pPr/>
              <a:t>12</a:t>
            </a:fld>
            <a:endParaRPr lang="en-US"/>
          </a:p>
        </p:txBody>
      </p:sp>
      <p:sp>
        <p:nvSpPr>
          <p:cNvPr id="54273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27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275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D2EA3C7-94CF-4AB3-A960-C46235FE27DB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 algn="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12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49C9C8D-3EFC-4101-B782-5A5A79EF360D}" type="slidenum">
              <a:rPr lang="en-US"/>
              <a:pPr/>
              <a:t>13</a:t>
            </a:fld>
            <a:endParaRPr lang="en-US"/>
          </a:p>
        </p:txBody>
      </p:sp>
      <p:sp>
        <p:nvSpPr>
          <p:cNvPr id="55297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29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29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9FE9C92-8C8F-413A-9E52-25E88AE0704D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 algn="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13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61BD4C2-80FA-4959-8D32-D15E389AA48A}" type="slidenum">
              <a:rPr lang="en-US"/>
              <a:pPr/>
              <a:t>14</a:t>
            </a:fld>
            <a:endParaRPr lang="en-US"/>
          </a:p>
        </p:txBody>
      </p:sp>
      <p:sp>
        <p:nvSpPr>
          <p:cNvPr id="56321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632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23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259B272-D833-452F-AAFF-F9D8E0F4111B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 algn="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14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C39F4C2-F87A-4CDF-8B8A-F2B3C1595F86}" type="slidenum">
              <a:rPr lang="en-US"/>
              <a:pPr/>
              <a:t>15</a:t>
            </a:fld>
            <a:endParaRPr lang="en-US"/>
          </a:p>
        </p:txBody>
      </p:sp>
      <p:sp>
        <p:nvSpPr>
          <p:cNvPr id="57345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4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47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49487CA-8366-46CD-8F05-3987FF701E65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 algn="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15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BFE5A67-6325-4382-9DF8-B0E0B0B3F826}" type="slidenum">
              <a:rPr lang="en-US"/>
              <a:pPr/>
              <a:t>16</a:t>
            </a:fld>
            <a:endParaRPr lang="en-US"/>
          </a:p>
        </p:txBody>
      </p:sp>
      <p:sp>
        <p:nvSpPr>
          <p:cNvPr id="58369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837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71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3789034-EC3C-41AA-A97E-8E873E3B8787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 algn="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16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C2DEABCB-3220-4C13-A9C4-CD91954A534E}" type="slidenum">
              <a:rPr lang="en-US"/>
              <a:pPr/>
              <a:t>17</a:t>
            </a:fld>
            <a:endParaRPr lang="en-US"/>
          </a:p>
        </p:txBody>
      </p:sp>
      <p:sp>
        <p:nvSpPr>
          <p:cNvPr id="59393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939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4623101-9408-48FC-AED4-9ED74016B3DC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 algn="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17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E6E3C98-E07A-4F69-9427-FDB439BB35B2}" type="slidenum">
              <a:rPr lang="en-US"/>
              <a:pPr/>
              <a:t>18</a:t>
            </a:fld>
            <a:endParaRPr lang="en-US"/>
          </a:p>
        </p:txBody>
      </p:sp>
      <p:sp>
        <p:nvSpPr>
          <p:cNvPr id="60417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041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041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C85E89C-7D6B-45CB-B5DD-DE6B2D56457E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 algn="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18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04DF46F-EC55-4559-8A72-26743D093517}" type="slidenum">
              <a:rPr lang="en-US"/>
              <a:pPr/>
              <a:t>19</a:t>
            </a:fld>
            <a:endParaRPr lang="en-US"/>
          </a:p>
        </p:txBody>
      </p:sp>
      <p:sp>
        <p:nvSpPr>
          <p:cNvPr id="61441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14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43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1E00367-654C-4A22-8F24-E72EA0CCFA8A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 algn="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19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181F644-C859-4A3D-8034-546C2B7C7666}" type="slidenum">
              <a:rPr lang="en-US"/>
              <a:pPr/>
              <a:t>20</a:t>
            </a:fld>
            <a:endParaRPr lang="en-US"/>
          </a:p>
        </p:txBody>
      </p:sp>
      <p:sp>
        <p:nvSpPr>
          <p:cNvPr id="62465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4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2467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26EB6A7-2365-41EC-9027-F89B1A254007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 algn="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20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CC5A472-0A3C-4D7A-AE98-98CA53366733}" type="slidenum">
              <a:rPr lang="en-US"/>
              <a:pPr/>
              <a:t>21</a:t>
            </a:fld>
            <a:endParaRPr lang="en-US"/>
          </a:p>
        </p:txBody>
      </p:sp>
      <p:sp>
        <p:nvSpPr>
          <p:cNvPr id="63489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49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3491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06AE2B9-4719-4BEB-967B-45C01B8FAE01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 algn="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21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E86AAFC-5809-4E8D-B124-0D387D36CE73}" type="slidenum">
              <a:rPr lang="en-US"/>
              <a:pPr/>
              <a:t>22</a:t>
            </a:fld>
            <a:endParaRPr lang="en-US"/>
          </a:p>
        </p:txBody>
      </p:sp>
      <p:sp>
        <p:nvSpPr>
          <p:cNvPr id="64513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51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4515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FA3B37A-6F0A-4F80-8F27-370AB146BF8C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 algn="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22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C1D083B-C586-4A61-8FCF-94980CC9DB92}" type="slidenum">
              <a:rPr lang="en-US"/>
              <a:pPr/>
              <a:t>23</a:t>
            </a:fld>
            <a:endParaRPr lang="en-US"/>
          </a:p>
        </p:txBody>
      </p:sp>
      <p:sp>
        <p:nvSpPr>
          <p:cNvPr id="65537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53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3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F568497-B1CD-486C-A62B-540585793138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 algn="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23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1591348-1930-4DEB-B917-C353ECCF94BC}" type="slidenum">
              <a:rPr lang="en-US"/>
              <a:pPr/>
              <a:t>24</a:t>
            </a:fld>
            <a:endParaRPr lang="en-US"/>
          </a:p>
        </p:txBody>
      </p:sp>
      <p:sp>
        <p:nvSpPr>
          <p:cNvPr id="66561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56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63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F45E5AD-47B8-4F22-ADDC-138EB257EF16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 algn="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24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A268806-C27B-42D2-B524-873EA11FAF3D}" type="slidenum">
              <a:rPr lang="en-US"/>
              <a:pPr/>
              <a:t>25</a:t>
            </a:fld>
            <a:endParaRPr lang="en-US"/>
          </a:p>
        </p:txBody>
      </p:sp>
      <p:sp>
        <p:nvSpPr>
          <p:cNvPr id="67585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758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7587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4A80A67-0081-4B8B-AA54-E806B8903039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 algn="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25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C6E46DB-56B3-4836-BF0F-A7FF916B22FE}" type="slidenum">
              <a:rPr lang="en-US"/>
              <a:pPr/>
              <a:t>27</a:t>
            </a:fld>
            <a:endParaRPr lang="en-US"/>
          </a:p>
        </p:txBody>
      </p:sp>
      <p:sp>
        <p:nvSpPr>
          <p:cNvPr id="68609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61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8611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51498E6-C070-4006-96EA-612202BB0A24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 algn="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27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C02E82D5-A887-4F2F-B7D1-E0BD789013D8}" type="slidenum">
              <a:rPr lang="en-US"/>
              <a:pPr/>
              <a:t>28</a:t>
            </a:fld>
            <a:endParaRPr lang="en-US"/>
          </a:p>
        </p:txBody>
      </p:sp>
      <p:sp>
        <p:nvSpPr>
          <p:cNvPr id="69633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963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9635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6909781-16A3-4614-A55A-5E0E3D899596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 algn="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28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381A366-91BD-4F03-9C63-F399828CA73D}" type="slidenum">
              <a:rPr lang="en-US"/>
              <a:pPr/>
              <a:t>30</a:t>
            </a:fld>
            <a:endParaRPr lang="en-US"/>
          </a:p>
        </p:txBody>
      </p:sp>
      <p:sp>
        <p:nvSpPr>
          <p:cNvPr id="70657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065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0659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F04AB47-0B73-4BB5-8CBB-2B928DE29E8D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 algn="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30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B588E15-2AD5-4844-BC25-843B3F8B69DA}" type="slidenum">
              <a:rPr lang="en-US"/>
              <a:pPr/>
              <a:t>31</a:t>
            </a:fld>
            <a:endParaRPr lang="en-US"/>
          </a:p>
        </p:txBody>
      </p:sp>
      <p:sp>
        <p:nvSpPr>
          <p:cNvPr id="71681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168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683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F66DB13-D8BB-4D6F-8219-4E47FA7C3C10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 algn="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31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AFBBF614-57A1-43E5-B5E0-B2271E7ECFFF}" type="slidenum">
              <a:rPr lang="en-US"/>
              <a:pPr/>
              <a:t>32</a:t>
            </a:fld>
            <a:endParaRPr lang="en-US"/>
          </a:p>
        </p:txBody>
      </p:sp>
      <p:sp>
        <p:nvSpPr>
          <p:cNvPr id="7372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373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A54FF-C151-48F0-9A34-4454F72CE7B9}" type="datetimeFigureOut">
              <a:rPr lang="en-US" smtClean="0"/>
              <a:t>8/10/2018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50D6F-A851-47F3-9C81-20EDB4E0A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649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A54FF-C151-48F0-9A34-4454F72CE7B9}" type="datetimeFigureOut">
              <a:rPr lang="en-US" smtClean="0"/>
              <a:t>8/10/2018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50D6F-A851-47F3-9C81-20EDB4E0A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618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A54FF-C151-48F0-9A34-4454F72CE7B9}" type="datetimeFigureOut">
              <a:rPr lang="en-US" smtClean="0"/>
              <a:t>8/10/2018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50D6F-A851-47F3-9C81-20EDB4E0A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740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A54FF-C151-48F0-9A34-4454F72CE7B9}" type="datetimeFigureOut">
              <a:rPr lang="en-US" smtClean="0"/>
              <a:t>8/10/2018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50D6F-A851-47F3-9C81-20EDB4E0A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30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A54FF-C151-48F0-9A34-4454F72CE7B9}" type="datetimeFigureOut">
              <a:rPr lang="en-US" smtClean="0"/>
              <a:t>8/10/2018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50D6F-A851-47F3-9C81-20EDB4E0A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827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A54FF-C151-48F0-9A34-4454F72CE7B9}" type="datetimeFigureOut">
              <a:rPr lang="en-US" smtClean="0"/>
              <a:t>8/10/2018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50D6F-A851-47F3-9C81-20EDB4E0A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544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A54FF-C151-48F0-9A34-4454F72CE7B9}" type="datetimeFigureOut">
              <a:rPr lang="en-US" smtClean="0"/>
              <a:t>8/10/2018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50D6F-A851-47F3-9C81-20EDB4E0A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3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A54FF-C151-48F0-9A34-4454F72CE7B9}" type="datetimeFigureOut">
              <a:rPr lang="en-US" smtClean="0"/>
              <a:t>8/10/2018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50D6F-A851-47F3-9C81-20EDB4E0A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769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A54FF-C151-48F0-9A34-4454F72CE7B9}" type="datetimeFigureOut">
              <a:rPr lang="en-US" smtClean="0"/>
              <a:t>8/10/2018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50D6F-A851-47F3-9C81-20EDB4E0A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287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A54FF-C151-48F0-9A34-4454F72CE7B9}" type="datetimeFigureOut">
              <a:rPr lang="en-US" smtClean="0"/>
              <a:t>8/10/2018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50D6F-A851-47F3-9C81-20EDB4E0A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615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A54FF-C151-48F0-9A34-4454F72CE7B9}" type="datetimeFigureOut">
              <a:rPr lang="en-US" smtClean="0"/>
              <a:t>8/10/2018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50D6F-A851-47F3-9C81-20EDB4E0A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585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659BF-6875-4381-9630-8C5FB5E885CC}" type="datetimeFigureOut">
              <a:rPr lang="en-US" smtClean="0"/>
              <a:t>8/10/2018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9C1A2-18FE-4F5D-B215-130DE6A39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013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659BF-6875-4381-9630-8C5FB5E885CC}" type="datetimeFigureOut">
              <a:rPr lang="en-US" smtClean="0"/>
              <a:t>8/10/2018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9C1A2-18FE-4F5D-B215-130DE6A397F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2"/>
          <p:cNvSpPr txBox="1">
            <a:spLocks noChangeArrowheads="1"/>
          </p:cNvSpPr>
          <p:nvPr userDrawn="1"/>
        </p:nvSpPr>
        <p:spPr bwMode="auto">
          <a:xfrm>
            <a:off x="25400" y="4343400"/>
            <a:ext cx="99822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6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Thank you !</a:t>
            </a:r>
            <a:endParaRPr kumimoji="0" lang="de-DE" sz="66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8098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659BF-6875-4381-9630-8C5FB5E885CC}" type="datetimeFigureOut">
              <a:rPr lang="en-US" smtClean="0"/>
              <a:t>8/10/2018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9C1A2-18FE-4F5D-B215-130DE6A39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1922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659BF-6875-4381-9630-8C5FB5E885CC}" type="datetimeFigureOut">
              <a:rPr lang="en-US" smtClean="0"/>
              <a:t>8/10/2018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9C1A2-18FE-4F5D-B215-130DE6A39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8011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659BF-6875-4381-9630-8C5FB5E885CC}" type="datetimeFigureOut">
              <a:rPr lang="en-US" smtClean="0"/>
              <a:t>8/10/2018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9C1A2-18FE-4F5D-B215-130DE6A39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063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5188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659BF-6875-4381-9630-8C5FB5E885CC}" type="datetimeFigureOut">
              <a:rPr lang="en-US" smtClean="0"/>
              <a:t>8/10/2018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9C1A2-18FE-4F5D-B215-130DE6A397F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2"/>
          <p:cNvSpPr txBox="1">
            <a:spLocks noChangeArrowheads="1"/>
          </p:cNvSpPr>
          <p:nvPr userDrawn="1"/>
        </p:nvSpPr>
        <p:spPr bwMode="auto">
          <a:xfrm>
            <a:off x="-152400" y="2971800"/>
            <a:ext cx="99822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6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Thank you !</a:t>
            </a:r>
            <a:endParaRPr kumimoji="0" lang="de-DE" sz="66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899635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659BF-6875-4381-9630-8C5FB5E885CC}" type="datetimeFigureOut">
              <a:rPr lang="en-US" smtClean="0"/>
              <a:t>8/10/2018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9C1A2-18FE-4F5D-B215-130DE6A39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2752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659BF-6875-4381-9630-8C5FB5E885CC}" type="datetimeFigureOut">
              <a:rPr lang="en-US" smtClean="0"/>
              <a:t>8/10/2018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9C1A2-18FE-4F5D-B215-130DE6A39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9998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659BF-6875-4381-9630-8C5FB5E885CC}" type="datetimeFigureOut">
              <a:rPr lang="en-US" smtClean="0"/>
              <a:t>8/10/2018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9C1A2-18FE-4F5D-B215-130DE6A39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1855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659BF-6875-4381-9630-8C5FB5E885CC}" type="datetimeFigureOut">
              <a:rPr lang="en-US" smtClean="0"/>
              <a:t>8/10/2018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9C1A2-18FE-4F5D-B215-130DE6A39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1458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659BF-6875-4381-9630-8C5FB5E885CC}" type="datetimeFigureOut">
              <a:rPr lang="en-US" smtClean="0"/>
              <a:t>8/10/2018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9C1A2-18FE-4F5D-B215-130DE6A39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74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5A54FF-C151-48F0-9A34-4454F72CE7B9}" type="datetimeFigureOut">
              <a:rPr lang="en-US" smtClean="0"/>
              <a:t>8/10/2018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150D6F-A851-47F3-9C81-20EDB4E0A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147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0" y="6457950"/>
            <a:ext cx="5486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>
              <a:buClr>
                <a:srgbClr val="FFFFFF"/>
              </a:buCl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e-DE" dirty="0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5</a:t>
            </a:r>
            <a:r>
              <a:rPr lang="de-DE" dirty="0" smtClean="0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de-DE" dirty="0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– </a:t>
            </a:r>
            <a:r>
              <a:rPr lang="de-DE" dirty="0" smtClean="0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HTML FORM</a:t>
            </a:r>
            <a:endParaRPr lang="de-DE" dirty="0">
              <a:solidFill>
                <a:srgbClr val="FFFFFF"/>
              </a:solidFill>
              <a:latin typeface="Verdana" pitchFamily="32" charset="0"/>
              <a:ea typeface="DejaVu Sans" charset="0"/>
              <a:cs typeface="DejaVu Sans" charset="0"/>
            </a:endParaRPr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8534400" y="6400800"/>
            <a:ext cx="762000" cy="381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>
              <a:buClr>
                <a:srgbClr val="FFFFFF"/>
              </a:buCl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77D17ED-5A52-4E04-9DF7-18383220526B}" type="slidenum">
              <a:rPr lang="de-DE" sz="2000" b="1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pPr>
                <a:buClr>
                  <a:srgbClr val="FFFFFF"/>
                </a:buClr>
                <a:buFont typeface="Verdan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‹#›</a:t>
            </a:fld>
            <a:endParaRPr lang="de-DE" sz="2000" b="1">
              <a:solidFill>
                <a:srgbClr val="FFFFFF"/>
              </a:solidFill>
              <a:latin typeface="Verdana" pitchFamily="32" charset="0"/>
              <a:ea typeface="DejaVu Sans" charset="0"/>
              <a:cs typeface="DejaVu Sans" charset="0"/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8588"/>
            <a:ext cx="8228013" cy="14335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title text format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8013" cy="45243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outline text format</a:t>
            </a:r>
          </a:p>
          <a:p>
            <a:pPr lvl="1"/>
            <a:r>
              <a:rPr lang="en-GB" smtClean="0"/>
              <a:t>Second Outline Level</a:t>
            </a:r>
          </a:p>
          <a:p>
            <a:pPr lvl="2"/>
            <a:r>
              <a:rPr lang="en-GB" smtClean="0"/>
              <a:t>Third Outline Level</a:t>
            </a:r>
          </a:p>
          <a:p>
            <a:pPr lvl="3"/>
            <a:r>
              <a:rPr lang="en-GB" smtClean="0"/>
              <a:t>Fourth Outline Level</a:t>
            </a:r>
          </a:p>
          <a:p>
            <a:pPr lvl="4"/>
            <a:r>
              <a:rPr lang="en-GB" smtClean="0"/>
              <a:t>Fifth Outline Level</a:t>
            </a:r>
          </a:p>
          <a:p>
            <a:pPr lvl="4"/>
            <a:r>
              <a:rPr lang="en-GB" smtClean="0"/>
              <a:t>Sixth Outline Level</a:t>
            </a:r>
          </a:p>
          <a:p>
            <a:pPr lvl="4"/>
            <a:r>
              <a:rPr lang="en-GB" smtClean="0"/>
              <a:t>Seventh Outline Level</a:t>
            </a:r>
          </a:p>
          <a:p>
            <a:pPr lvl="4"/>
            <a:r>
              <a:rPr lang="en-GB" smtClean="0"/>
              <a:t>Eighth Outline Level</a:t>
            </a:r>
          </a:p>
          <a:p>
            <a:pPr lvl="4"/>
            <a:r>
              <a:rPr lang="en-GB" smtClean="0"/>
              <a:t>Ninth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81" r:id="rId3"/>
  </p:sldLayoutIdLst>
  <p:hf sldNum="0" hdr="0" dt="0"/>
  <p:txStyles>
    <p:titleStyle>
      <a:lvl1pPr algn="ctr" defTabSz="457200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Calibri" pitchFamily="32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57200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Calibri" pitchFamily="32" charset="0"/>
        <a:defRPr sz="4400">
          <a:solidFill>
            <a:srgbClr val="000000"/>
          </a:solidFill>
          <a:latin typeface="Calibri" pitchFamily="32" charset="0"/>
          <a:ea typeface="DejaVu Sans" charset="0"/>
          <a:cs typeface="DejaVu Sans" charset="0"/>
        </a:defRPr>
      </a:lvl2pPr>
      <a:lvl3pPr algn="ctr" defTabSz="457200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Calibri" pitchFamily="32" charset="0"/>
        <a:defRPr sz="4400">
          <a:solidFill>
            <a:srgbClr val="000000"/>
          </a:solidFill>
          <a:latin typeface="Calibri" pitchFamily="32" charset="0"/>
          <a:ea typeface="DejaVu Sans" charset="0"/>
          <a:cs typeface="DejaVu Sans" charset="0"/>
        </a:defRPr>
      </a:lvl3pPr>
      <a:lvl4pPr algn="ctr" defTabSz="457200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Calibri" pitchFamily="32" charset="0"/>
        <a:defRPr sz="4400">
          <a:solidFill>
            <a:srgbClr val="000000"/>
          </a:solidFill>
          <a:latin typeface="Calibri" pitchFamily="32" charset="0"/>
          <a:ea typeface="DejaVu Sans" charset="0"/>
          <a:cs typeface="DejaVu Sans" charset="0"/>
        </a:defRPr>
      </a:lvl4pPr>
      <a:lvl5pPr algn="ctr" defTabSz="457200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Calibri" pitchFamily="32" charset="0"/>
        <a:defRPr sz="4400">
          <a:solidFill>
            <a:srgbClr val="000000"/>
          </a:solidFill>
          <a:latin typeface="Calibri" pitchFamily="32" charset="0"/>
          <a:ea typeface="DejaVu Sans" charset="0"/>
          <a:cs typeface="DejaVu Sans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Calibri" pitchFamily="32" charset="0"/>
        <a:defRPr sz="4400">
          <a:solidFill>
            <a:srgbClr val="000000"/>
          </a:solidFill>
          <a:latin typeface="Calibri" pitchFamily="32" charset="0"/>
          <a:ea typeface="DejaVu Sans" charset="0"/>
          <a:cs typeface="DejaVu Sans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Calibri" pitchFamily="32" charset="0"/>
        <a:defRPr sz="4400">
          <a:solidFill>
            <a:srgbClr val="000000"/>
          </a:solidFill>
          <a:latin typeface="Calibri" pitchFamily="32" charset="0"/>
          <a:ea typeface="DejaVu Sans" charset="0"/>
          <a:cs typeface="DejaVu Sans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Calibri" pitchFamily="32" charset="0"/>
        <a:defRPr sz="4400">
          <a:solidFill>
            <a:srgbClr val="000000"/>
          </a:solidFill>
          <a:latin typeface="Calibri" pitchFamily="32" charset="0"/>
          <a:ea typeface="DejaVu Sans" charset="0"/>
          <a:cs typeface="DejaVu Sans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Calibri" pitchFamily="32" charset="0"/>
        <a:defRPr sz="4400">
          <a:solidFill>
            <a:srgbClr val="000000"/>
          </a:solidFill>
          <a:latin typeface="Calibri" pitchFamily="32" charset="0"/>
          <a:ea typeface="DejaVu Sans" charset="0"/>
          <a:cs typeface="DejaVu Sans" charset="0"/>
        </a:defRPr>
      </a:lvl9pPr>
    </p:titleStyle>
    <p:bodyStyle>
      <a:lvl1pPr marL="341313" indent="-341313" algn="l" defTabSz="457200" rtl="0" fontAlgn="base">
        <a:spcBef>
          <a:spcPts val="800"/>
        </a:spcBef>
        <a:spcAft>
          <a:spcPct val="0"/>
        </a:spcAft>
        <a:buClr>
          <a:srgbClr val="000000"/>
        </a:buClr>
        <a:buSzPct val="100000"/>
        <a:buFont typeface="Arial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1363" indent="-284163" algn="l" defTabSz="457200" rtl="0" fontAlgn="base">
        <a:spcBef>
          <a:spcPts val="700"/>
        </a:spcBef>
        <a:spcAft>
          <a:spcPct val="0"/>
        </a:spcAft>
        <a:buClr>
          <a:srgbClr val="000000"/>
        </a:buClr>
        <a:buSzPct val="100000"/>
        <a:buFont typeface="Arial" charset="0"/>
        <a:buChar char="–"/>
        <a:defRPr sz="28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fontAlgn="base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charset="0"/>
        <a:buChar char="•"/>
        <a:defRPr sz="24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Arial" charset="0"/>
        <a:buChar char="–"/>
        <a:defRPr sz="20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Arial" charset="0"/>
        <a:buChar char="»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57200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Arial" charset="0"/>
        <a:buChar char="»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57200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Arial" charset="0"/>
        <a:buChar char="»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57200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Arial" charset="0"/>
        <a:buChar char="»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57200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Arial" charset="0"/>
        <a:buChar char="»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659BF-6875-4381-9630-8C5FB5E885CC}" type="datetimeFigureOut">
              <a:rPr lang="en-US" smtClean="0"/>
              <a:t>8/10/2018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59C1A2-18FE-4F5D-B215-130DE6A39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5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5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7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9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1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1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46800" rIns="0" bIns="46800" anchor="ctr"/>
          <a:lstStyle/>
          <a:p>
            <a:pPr algn="ctr">
              <a:buClr>
                <a:srgbClr val="FFFFFF"/>
              </a:buCl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e-DE" sz="2800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Nội dung bài học trước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457200" y="609600"/>
            <a:ext cx="8382000" cy="5578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marL="627063" indent="-627063" algn="just">
              <a:lnSpc>
                <a:spcPct val="150000"/>
              </a:lnSpc>
              <a:buFont typeface="Calibri" pitchFamily="32" charset="0"/>
              <a:buAutoNum type="arabicPeriod"/>
              <a:tabLst>
                <a:tab pos="627063" algn="l"/>
                <a:tab pos="1541463" algn="l"/>
                <a:tab pos="2455863" algn="l"/>
                <a:tab pos="3370263" algn="l"/>
                <a:tab pos="4284663" algn="l"/>
                <a:tab pos="5199063" algn="l"/>
                <a:tab pos="6113463" algn="l"/>
                <a:tab pos="7027863" algn="l"/>
                <a:tab pos="7942263" algn="l"/>
                <a:tab pos="8856663" algn="l"/>
                <a:tab pos="9771063" algn="l"/>
                <a:tab pos="10685463" algn="l"/>
              </a:tabLst>
            </a:pPr>
            <a:r>
              <a:rPr lang="en-US" sz="40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Giới thiệu về HTML</a:t>
            </a:r>
          </a:p>
          <a:p>
            <a:pPr marL="627063" indent="-627063" algn="just">
              <a:lnSpc>
                <a:spcPct val="150000"/>
              </a:lnSpc>
              <a:buFont typeface="Calibri" pitchFamily="32" charset="0"/>
              <a:buAutoNum type="arabicPeriod"/>
              <a:tabLst>
                <a:tab pos="627063" algn="l"/>
                <a:tab pos="1541463" algn="l"/>
                <a:tab pos="2455863" algn="l"/>
                <a:tab pos="3370263" algn="l"/>
                <a:tab pos="4284663" algn="l"/>
                <a:tab pos="5199063" algn="l"/>
                <a:tab pos="6113463" algn="l"/>
                <a:tab pos="7027863" algn="l"/>
                <a:tab pos="7942263" algn="l"/>
                <a:tab pos="8856663" algn="l"/>
                <a:tab pos="9771063" algn="l"/>
                <a:tab pos="10685463" algn="l"/>
              </a:tabLst>
            </a:pPr>
            <a:r>
              <a:rPr lang="en-US" sz="40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Cấu trúc 1 tài liệu HTML</a:t>
            </a:r>
          </a:p>
          <a:p>
            <a:pPr marL="627063" indent="-627063" algn="just">
              <a:lnSpc>
                <a:spcPct val="150000"/>
              </a:lnSpc>
              <a:buFont typeface="Calibri" pitchFamily="32" charset="0"/>
              <a:buAutoNum type="arabicPeriod"/>
              <a:tabLst>
                <a:tab pos="627063" algn="l"/>
                <a:tab pos="1541463" algn="l"/>
                <a:tab pos="2455863" algn="l"/>
                <a:tab pos="3370263" algn="l"/>
                <a:tab pos="4284663" algn="l"/>
                <a:tab pos="5199063" algn="l"/>
                <a:tab pos="6113463" algn="l"/>
                <a:tab pos="7027863" algn="l"/>
                <a:tab pos="7942263" algn="l"/>
                <a:tab pos="8856663" algn="l"/>
                <a:tab pos="9771063" algn="l"/>
                <a:tab pos="10685463" algn="l"/>
              </a:tabLst>
            </a:pPr>
            <a:r>
              <a:rPr lang="en-US" sz="40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Các tag (thẻ) HTML</a:t>
            </a:r>
          </a:p>
          <a:p>
            <a:pPr marL="627063" indent="-627063" algn="just">
              <a:lnSpc>
                <a:spcPct val="150000"/>
              </a:lnSpc>
              <a:buFont typeface="Calibri" pitchFamily="32" charset="0"/>
              <a:buAutoNum type="arabicPeriod"/>
              <a:tabLst>
                <a:tab pos="627063" algn="l"/>
                <a:tab pos="1541463" algn="l"/>
                <a:tab pos="2455863" algn="l"/>
                <a:tab pos="3370263" algn="l"/>
                <a:tab pos="4284663" algn="l"/>
                <a:tab pos="5199063" algn="l"/>
                <a:tab pos="6113463" algn="l"/>
                <a:tab pos="7027863" algn="l"/>
                <a:tab pos="7942263" algn="l"/>
                <a:tab pos="8856663" algn="l"/>
                <a:tab pos="9771063" algn="l"/>
                <a:tab pos="10685463" algn="l"/>
              </a:tabLst>
            </a:pPr>
            <a:r>
              <a:rPr lang="en-US" sz="40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Hướng dẫn thực hành HTML</a:t>
            </a:r>
          </a:p>
          <a:p>
            <a:pPr marL="627063" indent="-627063" algn="just">
              <a:lnSpc>
                <a:spcPct val="150000"/>
              </a:lnSpc>
              <a:buFont typeface="Calibri" pitchFamily="32" charset="0"/>
              <a:buAutoNum type="arabicPeriod"/>
              <a:tabLst>
                <a:tab pos="627063" algn="l"/>
                <a:tab pos="1541463" algn="l"/>
                <a:tab pos="2455863" algn="l"/>
                <a:tab pos="3370263" algn="l"/>
                <a:tab pos="4284663" algn="l"/>
                <a:tab pos="5199063" algn="l"/>
                <a:tab pos="6113463" algn="l"/>
                <a:tab pos="7027863" algn="l"/>
                <a:tab pos="7942263" algn="l"/>
                <a:tab pos="8856663" algn="l"/>
                <a:tab pos="9771063" algn="l"/>
                <a:tab pos="10685463" algn="l"/>
              </a:tabLst>
            </a:pPr>
            <a:r>
              <a:rPr lang="en-US" sz="40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Gợi ý chọn đề tài cho đồ án</a:t>
            </a:r>
          </a:p>
          <a:p>
            <a:pPr marL="627063" indent="-627063">
              <a:lnSpc>
                <a:spcPct val="150000"/>
              </a:lnSpc>
              <a:tabLst>
                <a:tab pos="627063" algn="l"/>
                <a:tab pos="1541463" algn="l"/>
                <a:tab pos="2455863" algn="l"/>
                <a:tab pos="3370263" algn="l"/>
                <a:tab pos="4284663" algn="l"/>
                <a:tab pos="5199063" algn="l"/>
                <a:tab pos="6113463" algn="l"/>
                <a:tab pos="7027863" algn="l"/>
                <a:tab pos="7942263" algn="l"/>
                <a:tab pos="8856663" algn="l"/>
                <a:tab pos="9771063" algn="l"/>
                <a:tab pos="10685463" algn="l"/>
              </a:tabLst>
            </a:pPr>
            <a:endParaRPr lang="en-US" sz="400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61800" y="6609077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ext Box 1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46800" rIns="0" bIns="46800" anchor="ctr"/>
          <a:lstStyle/>
          <a:p>
            <a:pPr algn="ctr">
              <a:buClr>
                <a:srgbClr val="FFFFFF"/>
              </a:buCl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e-DE" sz="2800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Nội dung</a:t>
            </a:r>
          </a:p>
        </p:txBody>
      </p:sp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457200" y="609600"/>
            <a:ext cx="8382000" cy="37496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marL="627063" indent="-627063" algn="just">
              <a:lnSpc>
                <a:spcPct val="150000"/>
              </a:lnSpc>
              <a:buFont typeface="Calibri" pitchFamily="32" charset="0"/>
              <a:buAutoNum type="arabicPeriod"/>
              <a:tabLst>
                <a:tab pos="627063" algn="l"/>
                <a:tab pos="1541463" algn="l"/>
                <a:tab pos="2455863" algn="l"/>
                <a:tab pos="3370263" algn="l"/>
                <a:tab pos="4284663" algn="l"/>
                <a:tab pos="5199063" algn="l"/>
                <a:tab pos="6113463" algn="l"/>
                <a:tab pos="7027863" algn="l"/>
                <a:tab pos="7942263" algn="l"/>
                <a:tab pos="8856663" algn="l"/>
                <a:tab pos="9771063" algn="l"/>
                <a:tab pos="10685463" algn="l"/>
              </a:tabLst>
            </a:pPr>
            <a:r>
              <a:rPr lang="en-US" sz="40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Khái</a:t>
            </a:r>
            <a:r>
              <a:rPr lang="en-US" sz="40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niệm</a:t>
            </a:r>
            <a:r>
              <a:rPr lang="en-US" sz="40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và</a:t>
            </a:r>
            <a:r>
              <a:rPr lang="en-US" sz="40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mục</a:t>
            </a:r>
            <a:r>
              <a:rPr lang="en-US" sz="40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đích</a:t>
            </a:r>
            <a:r>
              <a:rPr lang="en-US" sz="40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Form</a:t>
            </a:r>
          </a:p>
          <a:p>
            <a:pPr marL="627063" indent="-627063" algn="just">
              <a:lnSpc>
                <a:spcPct val="150000"/>
              </a:lnSpc>
              <a:buFont typeface="Calibri" pitchFamily="32" charset="0"/>
              <a:buAutoNum type="arabicPeriod"/>
              <a:tabLst>
                <a:tab pos="627063" algn="l"/>
                <a:tab pos="1541463" algn="l"/>
                <a:tab pos="2455863" algn="l"/>
                <a:tab pos="3370263" algn="l"/>
                <a:tab pos="4284663" algn="l"/>
                <a:tab pos="5199063" algn="l"/>
                <a:tab pos="6113463" algn="l"/>
                <a:tab pos="7027863" algn="l"/>
                <a:tab pos="7942263" algn="l"/>
                <a:tab pos="8856663" algn="l"/>
                <a:tab pos="9771063" algn="l"/>
                <a:tab pos="10685463" algn="l"/>
              </a:tabLst>
            </a:pPr>
            <a:r>
              <a:rPr lang="en-US" sz="40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Các</a:t>
            </a:r>
            <a:r>
              <a:rPr lang="en-US" sz="40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đối</a:t>
            </a:r>
            <a:r>
              <a:rPr lang="en-US" sz="40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tượng</a:t>
            </a:r>
            <a:r>
              <a:rPr lang="en-US" sz="40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Form Fields</a:t>
            </a:r>
          </a:p>
          <a:p>
            <a:pPr marL="627063" indent="-627063" algn="just">
              <a:lnSpc>
                <a:spcPct val="150000"/>
              </a:lnSpc>
              <a:buFont typeface="Calibri" pitchFamily="32" charset="0"/>
              <a:buAutoNum type="arabicPeriod"/>
              <a:tabLst>
                <a:tab pos="627063" algn="l"/>
                <a:tab pos="1541463" algn="l"/>
                <a:tab pos="2455863" algn="l"/>
                <a:tab pos="3370263" algn="l"/>
                <a:tab pos="4284663" algn="l"/>
                <a:tab pos="5199063" algn="l"/>
                <a:tab pos="6113463" algn="l"/>
                <a:tab pos="7027863" algn="l"/>
                <a:tab pos="7942263" algn="l"/>
                <a:tab pos="8856663" algn="l"/>
                <a:tab pos="9771063" algn="l"/>
                <a:tab pos="10685463" algn="l"/>
              </a:tabLst>
            </a:pPr>
            <a:r>
              <a:rPr lang="en-US" sz="40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Phương</a:t>
            </a:r>
            <a:r>
              <a:rPr lang="en-US" sz="40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thức</a:t>
            </a:r>
            <a:r>
              <a:rPr lang="en-US" sz="40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GET/POST</a:t>
            </a:r>
          </a:p>
          <a:p>
            <a:pPr marL="627063" indent="-627063" algn="just">
              <a:lnSpc>
                <a:spcPct val="150000"/>
              </a:lnSpc>
              <a:buFont typeface="Calibri" pitchFamily="32" charset="0"/>
              <a:buAutoNum type="arabicPeriod"/>
              <a:tabLst>
                <a:tab pos="627063" algn="l"/>
                <a:tab pos="1541463" algn="l"/>
                <a:tab pos="2455863" algn="l"/>
                <a:tab pos="3370263" algn="l"/>
                <a:tab pos="4284663" algn="l"/>
                <a:tab pos="5199063" algn="l"/>
                <a:tab pos="6113463" algn="l"/>
                <a:tab pos="7027863" algn="l"/>
                <a:tab pos="7942263" algn="l"/>
                <a:tab pos="8856663" algn="l"/>
                <a:tab pos="9771063" algn="l"/>
                <a:tab pos="10685463" algn="l"/>
              </a:tabLst>
            </a:pPr>
            <a:r>
              <a:rPr lang="en-US" sz="40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Tag Marquee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46800" rIns="0" bIns="46800" anchor="ctr"/>
          <a:lstStyle/>
          <a:p>
            <a:pPr algn="ctr">
              <a:buClr>
                <a:srgbClr val="FFFFFF"/>
              </a:buCl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e-DE" sz="2800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Khái niệm và mục đích của Form</a:t>
            </a:r>
          </a:p>
        </p:txBody>
      </p:sp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0" y="533400"/>
            <a:ext cx="9144000" cy="53054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marL="239713" indent="-239713" algn="just">
              <a:lnSpc>
                <a:spcPct val="150000"/>
              </a:lnSpc>
              <a:buFont typeface="Wingdings" charset="2"/>
              <a:buChar char="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Cho phép người dùng website nhập dữ liệu</a:t>
            </a:r>
          </a:p>
          <a:p>
            <a:pPr marL="239713" indent="-239713" algn="just">
              <a:lnSpc>
                <a:spcPct val="150000"/>
              </a:lnSpc>
              <a:buFont typeface="Wingdings" charset="2"/>
              <a:buChar char="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vi-VN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Giúp gởi yêu cầu của người dùng đến trang xử lý trong</a:t>
            </a: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ứng dụng web</a:t>
            </a:r>
          </a:p>
          <a:p>
            <a:pPr marL="239713" indent="-239713" algn="just">
              <a:lnSpc>
                <a:spcPct val="150000"/>
              </a:lnSpc>
              <a:buFont typeface="Wingdings" charset="2"/>
              <a:buChar char="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Form nhập liệu được quy định trong thẻ </a:t>
            </a:r>
          </a:p>
          <a:p>
            <a:pPr marL="239713" indent="-239713" algn="ctr">
              <a:lnSpc>
                <a:spcPct val="150000"/>
              </a:lnSpc>
              <a:buClr>
                <a:srgbClr val="0070C0"/>
              </a:buClr>
              <a:buFont typeface="Verdana" pitchFamily="32" charset="0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400">
                <a:solidFill>
                  <a:srgbClr val="0070C0"/>
                </a:solidFill>
                <a:latin typeface="Verdana" pitchFamily="32" charset="0"/>
                <a:ea typeface="DejaVu Sans" charset="0"/>
                <a:cs typeface="DejaVu Sans" charset="0"/>
              </a:rPr>
              <a:t>&lt;Form&gt; &lt;/Form&gt;</a:t>
            </a:r>
          </a:p>
          <a:p>
            <a:pPr marL="239713" indent="-239713" algn="just">
              <a:lnSpc>
                <a:spcPct val="150000"/>
              </a:lnSpc>
              <a:buFont typeface="Wingdings" charset="2"/>
              <a:buChar char="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vi-VN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Những thành phần nhập liệu được gọi là </a:t>
            </a:r>
            <a:r>
              <a:rPr lang="vi-VN" sz="2400">
                <a:solidFill>
                  <a:srgbClr val="0070C0"/>
                </a:solidFill>
                <a:latin typeface="Verdana" pitchFamily="32" charset="0"/>
                <a:ea typeface="DejaVu Sans" charset="0"/>
                <a:cs typeface="DejaVu Sans" charset="0"/>
              </a:rPr>
              <a:t>Form Field</a:t>
            </a:r>
          </a:p>
          <a:p>
            <a:pPr lvl="1">
              <a:lnSpc>
                <a:spcPct val="150000"/>
              </a:lnSpc>
              <a:buFont typeface="Verdana" pitchFamily="32" charset="0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– text field</a:t>
            </a:r>
          </a:p>
          <a:p>
            <a:pPr lvl="1">
              <a:lnSpc>
                <a:spcPct val="150000"/>
              </a:lnSpc>
              <a:buFont typeface="Verdana" pitchFamily="32" charset="0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– password field</a:t>
            </a:r>
          </a:p>
          <a:p>
            <a:pPr lvl="1">
              <a:lnSpc>
                <a:spcPct val="150000"/>
              </a:lnSpc>
              <a:buFont typeface="Verdana" pitchFamily="32" charset="0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– multiple-line text field</a:t>
            </a:r>
          </a:p>
          <a:p>
            <a:pPr marL="239713" indent="-239713"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>
                <a:solidFill>
                  <a:srgbClr val="000000"/>
                </a:solidFill>
                <a:ea typeface="DejaVu Sans" charset="0"/>
                <a:cs typeface="DejaVu Sans" charset="0"/>
              </a:rPr>
              <a:t>– ……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46800" rIns="0" bIns="46800" anchor="ctr"/>
          <a:lstStyle/>
          <a:p>
            <a:pPr algn="ctr">
              <a:buClr>
                <a:srgbClr val="FFFFFF"/>
              </a:buCl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e-DE" sz="2800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Khái niệm và mục đích của Form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/>
          <a:srcRect b="1781"/>
          <a:stretch>
            <a:fillRect/>
          </a:stretch>
        </p:blipFill>
        <p:spPr bwMode="auto">
          <a:xfrm>
            <a:off x="257175" y="493713"/>
            <a:ext cx="8610600" cy="5830887"/>
          </a:xfrm>
          <a:prstGeom prst="rect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Text Box 1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46800" rIns="0" bIns="46800" anchor="ctr"/>
          <a:lstStyle/>
          <a:p>
            <a:pPr algn="ctr">
              <a:buClr>
                <a:srgbClr val="FFFFFF"/>
              </a:buCl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e-DE" sz="2800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Tag Form</a:t>
            </a:r>
          </a:p>
        </p:txBody>
      </p:sp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0" y="457200"/>
            <a:ext cx="9144000" cy="59467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marL="239713" indent="-239713" algn="just">
              <a:lnSpc>
                <a:spcPct val="150000"/>
              </a:lnSpc>
              <a:buFont typeface="Wingdings" charset="2"/>
              <a:buChar char="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Qui định Tag Form: </a:t>
            </a:r>
            <a:r>
              <a:rPr lang="en-US" sz="2400">
                <a:solidFill>
                  <a:srgbClr val="0070C0"/>
                </a:solidFill>
                <a:latin typeface="Verdana" pitchFamily="32" charset="0"/>
                <a:ea typeface="DejaVu Sans" charset="0"/>
                <a:cs typeface="DejaVu Sans" charset="0"/>
              </a:rPr>
              <a:t>&lt;form&gt;&lt;/form&gt;</a:t>
            </a:r>
          </a:p>
          <a:p>
            <a:pPr marL="239713" indent="-239713" algn="just">
              <a:lnSpc>
                <a:spcPct val="150000"/>
              </a:lnSpc>
              <a:buFont typeface="Wingdings" charset="2"/>
              <a:buChar char="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Các thành phần nhập liệu (Form Fields) là các thẻ HTML được đặt trong thẻ Form.</a:t>
            </a:r>
          </a:p>
          <a:p>
            <a:pPr marL="239713" indent="-239713" algn="just">
              <a:lnSpc>
                <a:spcPct val="150000"/>
              </a:lnSpc>
              <a:buFont typeface="Wingdings" charset="2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endParaRPr lang="en-US" sz="240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239713" indent="-239713" algn="just">
              <a:lnSpc>
                <a:spcPct val="150000"/>
              </a:lnSpc>
              <a:buFont typeface="Wingdings" charset="2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endParaRPr lang="en-US" sz="240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239713" indent="-239713" algn="just">
              <a:lnSpc>
                <a:spcPct val="150000"/>
              </a:lnSpc>
              <a:buFont typeface="Wingdings" charset="2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endParaRPr lang="en-US" sz="240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239713" indent="-239713" algn="just">
              <a:buFont typeface="Wingdings" charset="2"/>
              <a:buChar char="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Các thuộc tính của Form:</a:t>
            </a:r>
          </a:p>
          <a:p>
            <a:pPr marL="239713" indent="-239713" algn="just">
              <a:lnSpc>
                <a:spcPct val="150000"/>
              </a:lnSpc>
              <a:buClr>
                <a:srgbClr val="E46C0A"/>
              </a:buClr>
              <a:buFont typeface="Wingdings" charset="2"/>
              <a:buChar char="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4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Name </a:t>
            </a: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: tên Form</a:t>
            </a:r>
          </a:p>
          <a:p>
            <a:pPr marL="239713" indent="-239713" algn="just">
              <a:lnSpc>
                <a:spcPct val="150000"/>
              </a:lnSpc>
              <a:buClr>
                <a:srgbClr val="E46C0A"/>
              </a:buClr>
              <a:buFont typeface="Wingdings" charset="2"/>
              <a:buChar char="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4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Action</a:t>
            </a: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: chỉ định trang web nhận xử lý dữ liệu từ Form khi có sự kiện click vào button </a:t>
            </a:r>
            <a:r>
              <a:rPr lang="en-US" sz="2400">
                <a:solidFill>
                  <a:srgbClr val="0070C0"/>
                </a:solidFill>
                <a:latin typeface="Verdana" pitchFamily="32" charset="0"/>
                <a:ea typeface="DejaVu Sans" charset="0"/>
                <a:cs typeface="DejaVu Sans" charset="0"/>
              </a:rPr>
              <a:t>Submit</a:t>
            </a: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.</a:t>
            </a:r>
          </a:p>
          <a:p>
            <a:pPr marL="239713" indent="-239713" algn="just">
              <a:lnSpc>
                <a:spcPct val="150000"/>
              </a:lnSpc>
              <a:buClr>
                <a:srgbClr val="E46C0A"/>
              </a:buClr>
              <a:buFont typeface="Wingdings" charset="2"/>
              <a:buChar char="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4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Method</a:t>
            </a: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: Xác định phương thức chuyển DL </a:t>
            </a:r>
            <a:r>
              <a:rPr lang="en-US" sz="2400">
                <a:solidFill>
                  <a:srgbClr val="0070C0"/>
                </a:solidFill>
                <a:latin typeface="Verdana" pitchFamily="32" charset="0"/>
                <a:ea typeface="DejaVu Sans" charset="0"/>
                <a:cs typeface="DejaVu Sans" charset="0"/>
              </a:rPr>
              <a:t>(GET/POST)‏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304800" y="2133600"/>
            <a:ext cx="8534400" cy="1524000"/>
          </a:xfrm>
          <a:prstGeom prst="rect">
            <a:avLst/>
          </a:prstGeom>
          <a:solidFill>
            <a:srgbClr val="D7E4BD">
              <a:alpha val="31999"/>
            </a:srgbClr>
          </a:solidFill>
          <a:ln w="25560">
            <a:solidFill>
              <a:srgbClr val="385D8A"/>
            </a:solidFill>
            <a:miter lim="800000"/>
            <a:headEnd/>
            <a:tailEnd/>
          </a:ln>
          <a:effectLst/>
        </p:spPr>
        <p:txBody>
          <a:bodyPr lIns="90000" tIns="46800" rIns="90000" bIns="46800" anchor="ctr"/>
          <a:lstStyle/>
          <a:p>
            <a:pPr marL="696913" lvl="1" indent="-239713" algn="just">
              <a:lnSpc>
                <a:spcPct val="150000"/>
              </a:lnSpc>
              <a:spcBef>
                <a:spcPts val="600"/>
              </a:spcBef>
              <a:buClr>
                <a:srgbClr val="E46C0A"/>
              </a:buClr>
              <a:buFont typeface="Verdana" pitchFamily="32" charset="0"/>
              <a:buNone/>
              <a:tabLst>
                <a:tab pos="696913" algn="l"/>
                <a:tab pos="1611313" algn="l"/>
                <a:tab pos="2525713" algn="l"/>
                <a:tab pos="3440113" algn="l"/>
                <a:tab pos="4354513" algn="l"/>
                <a:tab pos="5268913" algn="l"/>
                <a:tab pos="6183313" algn="l"/>
                <a:tab pos="7097713" algn="l"/>
                <a:tab pos="8012113" algn="l"/>
                <a:tab pos="8926513" algn="l"/>
                <a:tab pos="9840913" algn="l"/>
                <a:tab pos="10755313" algn="l"/>
              </a:tabLst>
            </a:pPr>
            <a:r>
              <a:rPr lang="en-US" sz="22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&lt;Form  Name =</a:t>
            </a:r>
            <a:r>
              <a:rPr lang="en-US" sz="22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"Introduction" </a:t>
            </a:r>
            <a:r>
              <a:rPr lang="en-US" sz="22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action=</a:t>
            </a:r>
            <a:r>
              <a:rPr lang="en-US" sz="22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"" </a:t>
            </a:r>
            <a:r>
              <a:rPr lang="en-US" sz="22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method=</a:t>
            </a:r>
            <a:r>
              <a:rPr lang="en-US" sz="22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""&gt;</a:t>
            </a:r>
          </a:p>
          <a:p>
            <a:pPr marL="696913" lvl="1" indent="-239713" algn="just">
              <a:lnSpc>
                <a:spcPct val="150000"/>
              </a:lnSpc>
              <a:buFont typeface="Verdana" pitchFamily="32" charset="0"/>
              <a:buNone/>
              <a:tabLst>
                <a:tab pos="696913" algn="l"/>
                <a:tab pos="1611313" algn="l"/>
                <a:tab pos="2525713" algn="l"/>
                <a:tab pos="3440113" algn="l"/>
                <a:tab pos="4354513" algn="l"/>
                <a:tab pos="5268913" algn="l"/>
                <a:tab pos="6183313" algn="l"/>
                <a:tab pos="7097713" algn="l"/>
                <a:tab pos="8012113" algn="l"/>
                <a:tab pos="8926513" algn="l"/>
                <a:tab pos="9840913" algn="l"/>
                <a:tab pos="10755313" algn="l"/>
              </a:tabLst>
            </a:pPr>
            <a:r>
              <a:rPr lang="en-US" sz="22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   </a:t>
            </a:r>
            <a:r>
              <a:rPr lang="en-US" sz="2200">
                <a:solidFill>
                  <a:srgbClr val="00B050"/>
                </a:solidFill>
                <a:latin typeface="Verdana" pitchFamily="32" charset="0"/>
                <a:ea typeface="DejaVu Sans" charset="0"/>
                <a:cs typeface="DejaVu Sans" charset="0"/>
              </a:rPr>
              <a:t>	&lt;!-- Các thành phần của Form --&gt;</a:t>
            </a:r>
          </a:p>
          <a:p>
            <a:pPr marL="696913" lvl="1" indent="-239713" algn="just">
              <a:lnSpc>
                <a:spcPct val="150000"/>
              </a:lnSpc>
              <a:buClr>
                <a:srgbClr val="E46C0A"/>
              </a:buClr>
              <a:buFont typeface="Verdana" pitchFamily="32" charset="0"/>
              <a:buNone/>
              <a:tabLst>
                <a:tab pos="696913" algn="l"/>
                <a:tab pos="1611313" algn="l"/>
                <a:tab pos="2525713" algn="l"/>
                <a:tab pos="3440113" algn="l"/>
                <a:tab pos="4354513" algn="l"/>
                <a:tab pos="5268913" algn="l"/>
                <a:tab pos="6183313" algn="l"/>
                <a:tab pos="7097713" algn="l"/>
                <a:tab pos="8012113" algn="l"/>
                <a:tab pos="8926513" algn="l"/>
                <a:tab pos="9840913" algn="l"/>
                <a:tab pos="10755313" algn="l"/>
              </a:tabLst>
            </a:pPr>
            <a:r>
              <a:rPr lang="en-US" sz="22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&lt;/Form&gt;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ext Box 1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46800" rIns="0" bIns="46800" anchor="ctr"/>
          <a:lstStyle/>
          <a:p>
            <a:pPr algn="ctr">
              <a:buClr>
                <a:srgbClr val="FFFFFF"/>
              </a:buCl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e-DE" sz="2800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Ví dụ Tag Form</a:t>
            </a:r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457200"/>
            <a:ext cx="9144000" cy="6429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marL="239713" indent="-239713" algn="just">
              <a:lnSpc>
                <a:spcPct val="150000"/>
              </a:lnSpc>
              <a:buClr>
                <a:srgbClr val="31859C"/>
              </a:buClr>
              <a:buFont typeface="Wingdings" charset="2"/>
              <a:buChar char="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400">
                <a:solidFill>
                  <a:srgbClr val="31859C"/>
                </a:solidFill>
                <a:latin typeface="Verdana" pitchFamily="32" charset="0"/>
                <a:ea typeface="DejaVu Sans" charset="0"/>
                <a:cs typeface="DejaVu Sans" charset="0"/>
              </a:rPr>
              <a:t>DangNhap.html</a:t>
            </a:r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0" y="1095375"/>
            <a:ext cx="7239000" cy="4975225"/>
          </a:xfrm>
          <a:prstGeom prst="rect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ext Box 1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46800" rIns="0" bIns="46800" anchor="ctr"/>
          <a:lstStyle/>
          <a:p>
            <a:pPr algn="ctr">
              <a:buClr>
                <a:srgbClr val="FFFFFF"/>
              </a:buCl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e-DE" sz="2800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Form Fields</a:t>
            </a:r>
          </a:p>
        </p:txBody>
      </p:sp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304800" y="457200"/>
            <a:ext cx="8839200" cy="57959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marL="239713" indent="-239713" algn="just">
              <a:lnSpc>
                <a:spcPct val="130000"/>
              </a:lnSpc>
              <a:buFont typeface="Wingdings" charset="2"/>
              <a:buChar char="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Text field</a:t>
            </a:r>
          </a:p>
          <a:p>
            <a:pPr marL="239713" indent="-239713" algn="just">
              <a:lnSpc>
                <a:spcPct val="130000"/>
              </a:lnSpc>
              <a:buFont typeface="Wingdings" charset="2"/>
              <a:buChar char="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Password field</a:t>
            </a:r>
          </a:p>
          <a:p>
            <a:pPr marL="239713" indent="-239713" algn="just">
              <a:lnSpc>
                <a:spcPct val="130000"/>
              </a:lnSpc>
              <a:buFont typeface="Wingdings" charset="2"/>
              <a:buChar char="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Multiple-line text field</a:t>
            </a:r>
          </a:p>
          <a:p>
            <a:pPr marL="239713" indent="-239713" algn="just">
              <a:lnSpc>
                <a:spcPct val="130000"/>
              </a:lnSpc>
              <a:buFont typeface="Wingdings" charset="2"/>
              <a:buChar char="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Hidden text field</a:t>
            </a:r>
          </a:p>
          <a:p>
            <a:pPr marL="239713" indent="-239713" algn="just">
              <a:lnSpc>
                <a:spcPct val="130000"/>
              </a:lnSpc>
              <a:buFont typeface="Wingdings" charset="2"/>
              <a:buChar char="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Check box</a:t>
            </a:r>
          </a:p>
          <a:p>
            <a:pPr marL="239713" indent="-239713" algn="just">
              <a:lnSpc>
                <a:spcPct val="130000"/>
              </a:lnSpc>
              <a:buFont typeface="Wingdings" charset="2"/>
              <a:buChar char="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Radio button</a:t>
            </a:r>
          </a:p>
          <a:p>
            <a:pPr marL="239713" indent="-239713" algn="just">
              <a:lnSpc>
                <a:spcPct val="130000"/>
              </a:lnSpc>
              <a:buFont typeface="Wingdings" charset="2"/>
              <a:buChar char="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File Form control</a:t>
            </a:r>
          </a:p>
          <a:p>
            <a:pPr marL="239713" indent="-239713" algn="just">
              <a:lnSpc>
                <a:spcPct val="130000"/>
              </a:lnSpc>
              <a:buFont typeface="Wingdings" charset="2"/>
              <a:buChar char="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Submit button, Reset button, Generalized button</a:t>
            </a:r>
          </a:p>
          <a:p>
            <a:pPr marL="239713" indent="-239713" algn="just">
              <a:lnSpc>
                <a:spcPct val="130000"/>
              </a:lnSpc>
              <a:buFont typeface="Wingdings" charset="2"/>
              <a:buChar char="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Label</a:t>
            </a:r>
          </a:p>
          <a:p>
            <a:pPr marL="239713" indent="-239713" algn="just">
              <a:lnSpc>
                <a:spcPct val="130000"/>
              </a:lnSpc>
              <a:buFont typeface="Wingdings" charset="2"/>
              <a:buChar char="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Pull-down menu</a:t>
            </a:r>
          </a:p>
          <a:p>
            <a:pPr marL="239713" indent="-239713" algn="just">
              <a:lnSpc>
                <a:spcPct val="130000"/>
              </a:lnSpc>
              <a:buFont typeface="Wingdings" charset="2"/>
              <a:buChar char="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Scrolled list</a:t>
            </a:r>
          </a:p>
          <a:p>
            <a:pPr marL="239713" indent="-239713" algn="just">
              <a:lnSpc>
                <a:spcPct val="130000"/>
              </a:lnSpc>
              <a:buFont typeface="Wingdings" charset="2"/>
              <a:buChar char="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Field set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Box 1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46800" rIns="0" bIns="46800" anchor="ctr"/>
          <a:lstStyle/>
          <a:p>
            <a:pPr algn="ctr">
              <a:buClr>
                <a:srgbClr val="FFFFFF"/>
              </a:buCl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e-DE" sz="2800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Form Fields – Text Field</a:t>
            </a:r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457200"/>
            <a:ext cx="9144000" cy="73787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marL="239713" indent="-239713" algn="just">
              <a:lnSpc>
                <a:spcPct val="150000"/>
              </a:lnSpc>
              <a:buFont typeface="Wingdings" charset="2"/>
              <a:buChar char="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Dùng để nhập một dòng văn bản</a:t>
            </a:r>
          </a:p>
          <a:p>
            <a:pPr marL="239713" indent="-239713" algn="just">
              <a:lnSpc>
                <a:spcPct val="150000"/>
              </a:lnSpc>
              <a:buFont typeface="Wingdings" charset="2"/>
              <a:buChar char="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Cú pháp:</a:t>
            </a:r>
          </a:p>
          <a:p>
            <a:pPr marL="239713" indent="-239713" algn="just">
              <a:lnSpc>
                <a:spcPct val="150000"/>
              </a:lnSpc>
              <a:buFont typeface="Wingdings" charset="2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endParaRPr lang="en-US" sz="240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239713" indent="-239713" algn="just">
              <a:lnSpc>
                <a:spcPct val="150000"/>
              </a:lnSpc>
              <a:buFont typeface="Wingdings" charset="2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endParaRPr lang="en-US" sz="240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239713" indent="-239713" algn="just">
              <a:lnSpc>
                <a:spcPct val="150000"/>
              </a:lnSpc>
              <a:buFont typeface="Wingdings" charset="2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endParaRPr lang="en-US" sz="240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239713" indent="-239713" algn="just">
              <a:lnSpc>
                <a:spcPct val="150000"/>
              </a:lnSpc>
              <a:spcBef>
                <a:spcPts val="1200"/>
              </a:spcBef>
              <a:buFont typeface="Wingdings" charset="2"/>
              <a:buChar char="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Ví dụ:</a:t>
            </a:r>
          </a:p>
          <a:p>
            <a:pPr marL="239713" indent="-239713" algn="just">
              <a:lnSpc>
                <a:spcPct val="150000"/>
              </a:lnSpc>
              <a:buFont typeface="Wingdings" charset="2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endParaRPr lang="en-US" sz="240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239713" indent="-239713" algn="just">
              <a:lnSpc>
                <a:spcPct val="150000"/>
              </a:lnSpc>
              <a:buFont typeface="Wingdings" charset="2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endParaRPr lang="en-US" sz="240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239713" indent="-239713" algn="just">
              <a:lnSpc>
                <a:spcPct val="150000"/>
              </a:lnSpc>
              <a:buFont typeface="Wingdings" charset="2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endParaRPr lang="en-US" sz="240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239713" indent="-239713" algn="just">
              <a:lnSpc>
                <a:spcPct val="150000"/>
              </a:lnSpc>
              <a:buFont typeface="Wingdings" charset="2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endParaRPr lang="en-US" sz="240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239713" indent="-239713" algn="just">
              <a:lnSpc>
                <a:spcPct val="150000"/>
              </a:lnSpc>
              <a:buFont typeface="Wingdings" charset="2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endParaRPr lang="en-US" sz="240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239713" indent="-239713" algn="just">
              <a:lnSpc>
                <a:spcPct val="150000"/>
              </a:lnSpc>
              <a:buFont typeface="Wingdings" charset="2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endParaRPr lang="en-US" sz="240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239713" indent="-239713" algn="just">
              <a:lnSpc>
                <a:spcPct val="150000"/>
              </a:lnSpc>
              <a:buFont typeface="Wingdings" charset="2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endParaRPr lang="en-US" sz="240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1828800" y="1179513"/>
            <a:ext cx="4495800" cy="25336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0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&lt;INPUT</a:t>
            </a:r>
          </a:p>
          <a:p>
            <a:pP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      </a:t>
            </a:r>
            <a:r>
              <a:rPr lang="en-US" sz="20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type	  	= </a:t>
            </a:r>
            <a:r>
              <a:rPr lang="en-US" sz="2000">
                <a:solidFill>
                  <a:srgbClr val="C00000"/>
                </a:solidFill>
                <a:latin typeface="Verdana" pitchFamily="32" charset="0"/>
                <a:ea typeface="DejaVu Sans" charset="0"/>
                <a:cs typeface="DejaVu Sans" charset="0"/>
              </a:rPr>
              <a:t>“TEXT"</a:t>
            </a:r>
          </a:p>
          <a:p>
            <a:pP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      </a:t>
            </a:r>
            <a:r>
              <a:rPr lang="en-US" sz="20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name	  	= </a:t>
            </a:r>
            <a:r>
              <a:rPr lang="en-US" sz="20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string</a:t>
            </a:r>
          </a:p>
          <a:p>
            <a:pPr>
              <a:buClr>
                <a:srgbClr val="E46C0A"/>
              </a:buCl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       size	  	= </a:t>
            </a:r>
            <a:r>
              <a:rPr lang="en-US" sz="20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variant</a:t>
            </a:r>
          </a:p>
          <a:p>
            <a:pP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      </a:t>
            </a:r>
            <a:r>
              <a:rPr lang="en-US" sz="20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maxlength 	= </a:t>
            </a:r>
            <a:r>
              <a:rPr lang="en-US" sz="20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long</a:t>
            </a:r>
          </a:p>
          <a:p>
            <a:pPr>
              <a:buClr>
                <a:srgbClr val="E46C0A"/>
              </a:buCl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       value	  	= </a:t>
            </a:r>
            <a:r>
              <a:rPr lang="en-US" sz="20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string</a:t>
            </a:r>
          </a:p>
          <a:p>
            <a:pP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      ......	</a:t>
            </a:r>
          </a:p>
          <a:p>
            <a:pPr>
              <a:buClr>
                <a:srgbClr val="E46C0A"/>
              </a:buCl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 &gt;</a:t>
            </a:r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4008438"/>
            <a:ext cx="5562600" cy="2011362"/>
          </a:xfrm>
          <a:prstGeom prst="rect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</p:pic>
      <p:grpSp>
        <p:nvGrpSpPr>
          <p:cNvPr id="15365" name="Group 5"/>
          <p:cNvGrpSpPr>
            <a:grpSpLocks/>
          </p:cNvGrpSpPr>
          <p:nvPr/>
        </p:nvGrpSpPr>
        <p:grpSpPr bwMode="auto">
          <a:xfrm>
            <a:off x="3733800" y="3962400"/>
            <a:ext cx="5373688" cy="1365250"/>
            <a:chOff x="2352" y="2496"/>
            <a:chExt cx="3385" cy="860"/>
          </a:xfrm>
        </p:grpSpPr>
        <p:grpSp>
          <p:nvGrpSpPr>
            <p:cNvPr id="15366" name="Group 6"/>
            <p:cNvGrpSpPr>
              <a:grpSpLocks/>
            </p:cNvGrpSpPr>
            <p:nvPr/>
          </p:nvGrpSpPr>
          <p:grpSpPr bwMode="auto">
            <a:xfrm>
              <a:off x="2352" y="2701"/>
              <a:ext cx="3385" cy="431"/>
              <a:chOff x="2352" y="2701"/>
              <a:chExt cx="3385" cy="431"/>
            </a:xfrm>
          </p:grpSpPr>
          <p:grpSp>
            <p:nvGrpSpPr>
              <p:cNvPr id="15367" name="Group 7"/>
              <p:cNvGrpSpPr>
                <a:grpSpLocks/>
              </p:cNvGrpSpPr>
              <p:nvPr/>
            </p:nvGrpSpPr>
            <p:grpSpPr bwMode="auto">
              <a:xfrm>
                <a:off x="2352" y="2701"/>
                <a:ext cx="3385" cy="431"/>
                <a:chOff x="2352" y="2701"/>
                <a:chExt cx="3385" cy="431"/>
              </a:xfrm>
            </p:grpSpPr>
            <p:pic>
              <p:nvPicPr>
                <p:cNvPr id="15368" name="Picture 8"/>
                <p:cNvPicPr>
                  <a:picLocks noChangeAspect="1" noChangeArrowheads="1"/>
                </p:cNvPicPr>
                <p:nvPr/>
              </p:nvPicPr>
              <p:blipFill>
                <a:blip r:embed="rId4"/>
                <a:srcRect/>
                <a:stretch>
                  <a:fillRect/>
                </a:stretch>
              </p:blipFill>
              <p:spPr bwMode="auto">
                <a:xfrm>
                  <a:off x="3264" y="2701"/>
                  <a:ext cx="2474" cy="432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  <a:effectLst/>
              </p:spPr>
            </p:pic>
            <p:sp>
              <p:nvSpPr>
                <p:cNvPr id="15369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2352" y="2798"/>
                  <a:ext cx="960" cy="270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lIns="90000" tIns="46800" rIns="90000" bIns="46800">
                  <a:spAutoFit/>
                </a:bodyPr>
                <a:lstStyle/>
                <a:p>
                  <a:pPr>
                    <a:buFont typeface="Verdana" pitchFamily="32" charset="0"/>
                    <a:buNone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2200">
                      <a:solidFill>
                        <a:srgbClr val="000000"/>
                      </a:solidFill>
                      <a:latin typeface="Verdana" pitchFamily="32" charset="0"/>
                      <a:ea typeface="DejaVu Sans" charset="0"/>
                      <a:cs typeface="DejaVu Sans" charset="0"/>
                    </a:rPr>
                    <a:t>Text field</a:t>
                  </a:r>
                </a:p>
              </p:txBody>
            </p:sp>
          </p:grpSp>
          <p:sp>
            <p:nvSpPr>
              <p:cNvPr id="15370" name="Text Box 10"/>
              <p:cNvSpPr txBox="1">
                <a:spLocks noChangeArrowheads="1"/>
              </p:cNvSpPr>
              <p:nvPr/>
            </p:nvSpPr>
            <p:spPr bwMode="auto">
              <a:xfrm>
                <a:off x="5083" y="2794"/>
                <a:ext cx="353" cy="251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>
                <a:spAutoFit/>
              </a:bodyPr>
              <a:lstStyle/>
              <a:p>
                <a: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>
                    <a:solidFill>
                      <a:srgbClr val="000000"/>
                    </a:solidFill>
                    <a:ea typeface="DejaVu Sans" charset="0"/>
                    <a:cs typeface="DejaVu Sans" charset="0"/>
                  </a:rPr>
                  <a:t> </a:t>
                </a:r>
                <a:r>
                  <a:rPr lang="en-US" sz="200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DejaVu Sans" charset="0"/>
                    <a:cs typeface="DejaVu Sans" charset="0"/>
                  </a:rPr>
                  <a:t>!!!</a:t>
                </a:r>
              </a:p>
            </p:txBody>
          </p:sp>
        </p:grpSp>
        <p:cxnSp>
          <p:nvCxnSpPr>
            <p:cNvPr id="15371" name="AutoShape 11"/>
            <p:cNvCxnSpPr>
              <a:cxnSpLocks noChangeShapeType="1"/>
            </p:cNvCxnSpPr>
            <p:nvPr/>
          </p:nvCxnSpPr>
          <p:spPr bwMode="auto">
            <a:xfrm>
              <a:off x="3290" y="2701"/>
              <a:ext cx="1872" cy="1"/>
            </a:xfrm>
            <a:prstGeom prst="straightConnector1">
              <a:avLst/>
            </a:prstGeom>
            <a:noFill/>
            <a:ln w="25560">
              <a:solidFill>
                <a:srgbClr val="C00000"/>
              </a:solidFill>
              <a:prstDash val="sysDot"/>
              <a:miter lim="800000"/>
              <a:headEnd type="triangle" w="med" len="med"/>
              <a:tailEnd type="triangle" w="med" len="med"/>
            </a:ln>
            <a:effectLst/>
          </p:spPr>
        </p:cxnSp>
        <p:cxnSp>
          <p:nvCxnSpPr>
            <p:cNvPr id="15372" name="AutoShape 12"/>
            <p:cNvCxnSpPr>
              <a:cxnSpLocks noChangeShapeType="1"/>
            </p:cNvCxnSpPr>
            <p:nvPr/>
          </p:nvCxnSpPr>
          <p:spPr bwMode="auto">
            <a:xfrm>
              <a:off x="3290" y="3133"/>
              <a:ext cx="2256" cy="1"/>
            </a:xfrm>
            <a:prstGeom prst="straightConnector1">
              <a:avLst/>
            </a:prstGeom>
            <a:noFill/>
            <a:ln w="25560">
              <a:solidFill>
                <a:srgbClr val="C00000"/>
              </a:solidFill>
              <a:prstDash val="sysDot"/>
              <a:miter lim="800000"/>
              <a:headEnd type="triangle" w="med" len="med"/>
              <a:tailEnd type="triangle" w="med" len="med"/>
            </a:ln>
            <a:effectLst/>
          </p:spPr>
        </p:cxnSp>
        <p:sp>
          <p:nvSpPr>
            <p:cNvPr id="15373" name="Text Box 13"/>
            <p:cNvSpPr txBox="1">
              <a:spLocks noChangeArrowheads="1"/>
            </p:cNvSpPr>
            <p:nvPr/>
          </p:nvSpPr>
          <p:spPr bwMode="auto">
            <a:xfrm>
              <a:off x="4042" y="2496"/>
              <a:ext cx="296" cy="23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buClr>
                  <a:srgbClr val="C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>
                  <a:solidFill>
                    <a:srgbClr val="C00000"/>
                  </a:solidFill>
                  <a:ea typeface="DejaVu Sans" charset="0"/>
                  <a:cs typeface="DejaVu Sans" charset="0"/>
                </a:rPr>
                <a:t>20</a:t>
              </a:r>
            </a:p>
          </p:txBody>
        </p:sp>
        <p:sp>
          <p:nvSpPr>
            <p:cNvPr id="15374" name="Text Box 14"/>
            <p:cNvSpPr txBox="1">
              <a:spLocks noChangeArrowheads="1"/>
            </p:cNvSpPr>
            <p:nvPr/>
          </p:nvSpPr>
          <p:spPr bwMode="auto">
            <a:xfrm>
              <a:off x="4378" y="3125"/>
              <a:ext cx="296" cy="23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buClr>
                  <a:srgbClr val="C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>
                  <a:solidFill>
                    <a:srgbClr val="C00000"/>
                  </a:solidFill>
                  <a:ea typeface="DejaVu Sans" charset="0"/>
                  <a:cs typeface="DejaVu Sans" charset="0"/>
                </a:rPr>
                <a:t>30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ext Box 1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46800" rIns="0" bIns="46800" anchor="ctr"/>
          <a:lstStyle/>
          <a:p>
            <a:pPr algn="ctr">
              <a:buClr>
                <a:srgbClr val="FFFFFF"/>
              </a:buCl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e-DE" sz="2800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Form Fields – Password Field</a:t>
            </a: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457200"/>
            <a:ext cx="9144000" cy="59467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marL="239713" indent="-239713" algn="just">
              <a:lnSpc>
                <a:spcPct val="150000"/>
              </a:lnSpc>
              <a:buFont typeface="Wingdings" charset="2"/>
              <a:buChar char="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Dùng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để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nhập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mật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khẩu</a:t>
            </a:r>
            <a:endParaRPr lang="en-US" sz="2400" dirty="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239713" indent="-239713" algn="just">
              <a:lnSpc>
                <a:spcPct val="150000"/>
              </a:lnSpc>
              <a:buFont typeface="Wingdings" charset="2"/>
              <a:buChar char="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Cú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pháp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:</a:t>
            </a:r>
          </a:p>
          <a:p>
            <a:pPr marL="239713" indent="-239713" algn="just">
              <a:lnSpc>
                <a:spcPct val="150000"/>
              </a:lnSpc>
              <a:buFont typeface="Wingdings" charset="2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endParaRPr lang="en-US" sz="2400" dirty="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239713" indent="-239713" algn="just">
              <a:lnSpc>
                <a:spcPct val="150000"/>
              </a:lnSpc>
              <a:buFont typeface="Wingdings" charset="2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endParaRPr lang="en-US" sz="2400" dirty="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239713" indent="-239713" algn="just">
              <a:lnSpc>
                <a:spcPct val="150000"/>
              </a:lnSpc>
              <a:buFont typeface="Wingdings" charset="2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endParaRPr lang="en-US" sz="2400" dirty="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239713" indent="-239713" algn="just">
              <a:lnSpc>
                <a:spcPct val="150000"/>
              </a:lnSpc>
              <a:buFont typeface="Wingdings" charset="2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endParaRPr lang="en-US" sz="2400" dirty="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239713" indent="-239713" algn="just">
              <a:buFont typeface="Wingdings" charset="2"/>
              <a:buChar char="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Ví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dụ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:</a:t>
            </a:r>
          </a:p>
          <a:p>
            <a:pPr marL="239713" indent="-239713" algn="just">
              <a:lnSpc>
                <a:spcPct val="150000"/>
              </a:lnSpc>
              <a:buFont typeface="Wingdings" charset="2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endParaRPr lang="en-US" sz="2400" dirty="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239713" indent="-239713" algn="just">
              <a:lnSpc>
                <a:spcPct val="150000"/>
              </a:lnSpc>
              <a:buFont typeface="Verdana" pitchFamily="32" charset="0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endParaRPr lang="en-US" sz="2400" dirty="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239713" indent="-239713" algn="just">
              <a:lnSpc>
                <a:spcPct val="150000"/>
              </a:lnSpc>
              <a:buFont typeface="Verdana" pitchFamily="32" charset="0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endParaRPr lang="en-US" sz="2400" dirty="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239713" indent="-239713" algn="just">
              <a:lnSpc>
                <a:spcPct val="150000"/>
              </a:lnSpc>
              <a:buFont typeface="Wingdings" charset="2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endParaRPr lang="en-US" sz="2400" dirty="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1752600" y="1143000"/>
            <a:ext cx="5715000" cy="25336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0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&lt;INPUT</a:t>
            </a:r>
          </a:p>
          <a:p>
            <a:pP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      </a:t>
            </a:r>
            <a:r>
              <a:rPr lang="en-US" sz="20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type	  	= </a:t>
            </a:r>
            <a:r>
              <a:rPr lang="en-US" sz="2000">
                <a:solidFill>
                  <a:srgbClr val="C00000"/>
                </a:solidFill>
                <a:latin typeface="Verdana" pitchFamily="32" charset="0"/>
                <a:ea typeface="DejaVu Sans" charset="0"/>
                <a:cs typeface="DejaVu Sans" charset="0"/>
              </a:rPr>
              <a:t>“PASSWORD"</a:t>
            </a:r>
          </a:p>
          <a:p>
            <a:pP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      </a:t>
            </a:r>
            <a:r>
              <a:rPr lang="en-US" sz="20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name	  	= </a:t>
            </a:r>
            <a:r>
              <a:rPr lang="en-US" sz="20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string</a:t>
            </a:r>
          </a:p>
          <a:p>
            <a:pPr>
              <a:buClr>
                <a:srgbClr val="E46C0A"/>
              </a:buCl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       size	  	= </a:t>
            </a:r>
            <a:r>
              <a:rPr lang="en-US" sz="20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variant</a:t>
            </a:r>
          </a:p>
          <a:p>
            <a:pP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      </a:t>
            </a:r>
            <a:r>
              <a:rPr lang="en-US" sz="20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maxlength 	= </a:t>
            </a:r>
            <a:r>
              <a:rPr lang="en-US" sz="20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long</a:t>
            </a:r>
          </a:p>
          <a:p>
            <a:pPr>
              <a:buClr>
                <a:srgbClr val="E46C0A"/>
              </a:buCl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       value	  	= </a:t>
            </a:r>
            <a:r>
              <a:rPr lang="en-US" sz="20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string</a:t>
            </a:r>
          </a:p>
          <a:p>
            <a:pP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      ......	</a:t>
            </a:r>
          </a:p>
          <a:p>
            <a:pPr>
              <a:buClr>
                <a:srgbClr val="E46C0A"/>
              </a:buCl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 &gt;</a:t>
            </a:r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49850" y="4495800"/>
            <a:ext cx="3232150" cy="914400"/>
          </a:xfrm>
          <a:prstGeom prst="rect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</p:pic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8600" y="4227513"/>
            <a:ext cx="4114800" cy="2097087"/>
          </a:xfrm>
          <a:prstGeom prst="rect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</p:pic>
      <p:cxnSp>
        <p:nvCxnSpPr>
          <p:cNvPr id="16390" name="AutoShape 6"/>
          <p:cNvCxnSpPr>
            <a:cxnSpLocks noChangeShapeType="1"/>
          </p:cNvCxnSpPr>
          <p:nvPr/>
        </p:nvCxnSpPr>
        <p:spPr bwMode="auto">
          <a:xfrm>
            <a:off x="3733800" y="4724400"/>
            <a:ext cx="1600200" cy="382588"/>
          </a:xfrm>
          <a:prstGeom prst="straightConnector1">
            <a:avLst/>
          </a:prstGeom>
          <a:noFill/>
          <a:ln w="25560">
            <a:solidFill>
              <a:srgbClr val="C00000"/>
            </a:solidFill>
            <a:prstDash val="sysDot"/>
            <a:miter lim="800000"/>
            <a:headEnd/>
            <a:tailEnd type="triangle" w="med" len="med"/>
          </a:ln>
          <a:effectLst/>
        </p:spPr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ext Box 1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46800" rIns="0" bIns="46800" anchor="ctr"/>
          <a:lstStyle/>
          <a:p>
            <a:pPr algn="ctr">
              <a:buClr>
                <a:srgbClr val="FFFFFF"/>
              </a:buCl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e-DE" sz="2800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Form Fields – Hidden Text Field</a:t>
            </a:r>
          </a:p>
        </p:txBody>
      </p:sp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0" y="457200"/>
            <a:ext cx="9144000" cy="67532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marL="239713" indent="-239713" algn="just">
              <a:lnSpc>
                <a:spcPct val="150000"/>
              </a:lnSpc>
              <a:buFont typeface="Wingdings" charset="2"/>
              <a:buChar char="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Dùng để truyền 1 giá trị của thuộc tính value khi Form được submit. Hidden Text Field không hiển thị.</a:t>
            </a:r>
          </a:p>
          <a:p>
            <a:pPr marL="239713" indent="-239713" algn="just">
              <a:lnSpc>
                <a:spcPct val="150000"/>
              </a:lnSpc>
              <a:buFont typeface="Wingdings" charset="2"/>
              <a:buChar char="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Cú pháp:</a:t>
            </a:r>
          </a:p>
          <a:p>
            <a:pPr marL="239713" indent="-239713" algn="just">
              <a:lnSpc>
                <a:spcPct val="150000"/>
              </a:lnSpc>
              <a:buFont typeface="Wingdings" charset="2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endParaRPr lang="en-US" sz="240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239713" indent="-239713" algn="just">
              <a:lnSpc>
                <a:spcPct val="150000"/>
              </a:lnSpc>
              <a:buFont typeface="Wingdings" charset="2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endParaRPr lang="en-US" sz="240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239713" indent="-239713" algn="just">
              <a:lnSpc>
                <a:spcPct val="150000"/>
              </a:lnSpc>
              <a:buFont typeface="Wingdings" charset="2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endParaRPr lang="en-US" sz="240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239713" indent="-239713" algn="just">
              <a:lnSpc>
                <a:spcPct val="150000"/>
              </a:lnSpc>
              <a:buFont typeface="Wingdings" charset="2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endParaRPr lang="en-US" sz="240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239713" indent="-239713" algn="just">
              <a:lnSpc>
                <a:spcPct val="150000"/>
              </a:lnSpc>
              <a:spcBef>
                <a:spcPts val="600"/>
              </a:spcBef>
              <a:buFont typeface="Wingdings" charset="2"/>
              <a:buChar char="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Ví dụ</a:t>
            </a:r>
          </a:p>
          <a:p>
            <a:pPr marL="239713" indent="-239713" algn="just">
              <a:lnSpc>
                <a:spcPct val="150000"/>
              </a:lnSpc>
              <a:buFont typeface="Wingdings" charset="2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endParaRPr lang="en-US" sz="240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239713" indent="-239713" algn="just">
              <a:lnSpc>
                <a:spcPct val="150000"/>
              </a:lnSpc>
              <a:buFont typeface="Verdana" pitchFamily="32" charset="0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endParaRPr lang="en-US" sz="240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239713" indent="-239713" algn="just">
              <a:lnSpc>
                <a:spcPct val="150000"/>
              </a:lnSpc>
              <a:buFont typeface="Verdana" pitchFamily="32" charset="0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endParaRPr lang="en-US" sz="240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239713" indent="-239713" algn="just">
              <a:lnSpc>
                <a:spcPct val="150000"/>
              </a:lnSpc>
              <a:buFont typeface="Wingdings" charset="2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endParaRPr lang="en-US" sz="240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1447800" y="1862138"/>
            <a:ext cx="5334000" cy="28384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marL="239713">
              <a:buFont typeface="Verdana" pitchFamily="32" charset="0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0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  </a:t>
            </a:r>
            <a:r>
              <a:rPr lang="en-US" sz="20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&lt;INPUT</a:t>
            </a:r>
          </a:p>
          <a:p>
            <a:pPr lvl="1">
              <a:buFont typeface="Verdana" pitchFamily="32" charset="0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0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      </a:t>
            </a:r>
            <a:r>
              <a:rPr lang="en-US" sz="20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type	  	= </a:t>
            </a:r>
            <a:r>
              <a:rPr lang="en-US" sz="2000">
                <a:solidFill>
                  <a:srgbClr val="C00000"/>
                </a:solidFill>
                <a:latin typeface="Verdana" pitchFamily="32" charset="0"/>
                <a:ea typeface="DejaVu Sans" charset="0"/>
                <a:cs typeface="DejaVu Sans" charset="0"/>
              </a:rPr>
              <a:t>“HIDDEN"</a:t>
            </a:r>
          </a:p>
          <a:p>
            <a:pPr lvl="1">
              <a:buFont typeface="Verdana" pitchFamily="32" charset="0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0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      </a:t>
            </a:r>
            <a:r>
              <a:rPr lang="en-US" sz="20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name	  	= </a:t>
            </a:r>
            <a:r>
              <a:rPr lang="en-US" sz="20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string</a:t>
            </a:r>
          </a:p>
          <a:p>
            <a:pPr lvl="1">
              <a:buClr>
                <a:srgbClr val="E46C0A"/>
              </a:buClr>
              <a:buFont typeface="Verdana" pitchFamily="32" charset="0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0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       size	  	= </a:t>
            </a:r>
            <a:r>
              <a:rPr lang="en-US" sz="20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variant</a:t>
            </a:r>
          </a:p>
          <a:p>
            <a:pPr lvl="1">
              <a:buFont typeface="Verdana" pitchFamily="32" charset="0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0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      </a:t>
            </a:r>
            <a:r>
              <a:rPr lang="en-US" sz="20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maxlength 	= </a:t>
            </a:r>
            <a:r>
              <a:rPr lang="en-US" sz="20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long</a:t>
            </a:r>
          </a:p>
          <a:p>
            <a:pPr lvl="1">
              <a:buClr>
                <a:srgbClr val="E46C0A"/>
              </a:buClr>
              <a:buFont typeface="Verdana" pitchFamily="32" charset="0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0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       value	  	= </a:t>
            </a:r>
            <a:r>
              <a:rPr lang="en-US" sz="20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string</a:t>
            </a:r>
          </a:p>
          <a:p>
            <a:pPr lvl="1">
              <a:buFont typeface="Verdana" pitchFamily="32" charset="0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0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      ......	</a:t>
            </a:r>
          </a:p>
          <a:p>
            <a:pPr lvl="1">
              <a:buClr>
                <a:srgbClr val="E46C0A"/>
              </a:buClr>
              <a:buFont typeface="Verdana" pitchFamily="32" charset="0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0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&gt;</a:t>
            </a:r>
          </a:p>
          <a:p>
            <a:pPr lvl="1">
              <a:buFont typeface="Verdana" pitchFamily="32" charset="0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0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      </a:t>
            </a:r>
          </a:p>
        </p:txBody>
      </p:sp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00200" y="4572000"/>
            <a:ext cx="6705600" cy="1631950"/>
          </a:xfrm>
          <a:prstGeom prst="rect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ext Box 1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46800" rIns="0" bIns="46800" anchor="ctr"/>
          <a:lstStyle/>
          <a:p>
            <a:pPr algn="ctr">
              <a:buClr>
                <a:srgbClr val="FFFFFF"/>
              </a:buCl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e-DE" sz="2800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Form Fields – Multiline Field</a:t>
            </a:r>
          </a:p>
        </p:txBody>
      </p:sp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0" y="457200"/>
            <a:ext cx="9144000" cy="62055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marL="239713" indent="-239713" algn="just">
              <a:lnSpc>
                <a:spcPct val="150000"/>
              </a:lnSpc>
              <a:buFont typeface="Wingdings" charset="2"/>
              <a:buChar char="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Dùng để nhập văn bản nhiều dòng</a:t>
            </a:r>
          </a:p>
          <a:p>
            <a:pPr marL="239713" indent="-239713" algn="just">
              <a:lnSpc>
                <a:spcPct val="150000"/>
              </a:lnSpc>
              <a:buFont typeface="Wingdings" charset="2"/>
              <a:buChar char="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Cú pháp:</a:t>
            </a:r>
          </a:p>
          <a:p>
            <a:pPr marL="239713" indent="-239713" algn="just">
              <a:lnSpc>
                <a:spcPct val="150000"/>
              </a:lnSpc>
              <a:buFont typeface="Wingdings" charset="2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endParaRPr lang="en-US" sz="240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239713" indent="-239713" algn="just">
              <a:lnSpc>
                <a:spcPct val="150000"/>
              </a:lnSpc>
              <a:buFont typeface="Wingdings" charset="2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endParaRPr lang="en-US" sz="240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239713" indent="-239713" algn="just">
              <a:lnSpc>
                <a:spcPct val="150000"/>
              </a:lnSpc>
              <a:buFont typeface="Wingdings" charset="2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endParaRPr lang="en-US" sz="240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239713" indent="-239713" algn="just">
              <a:lnSpc>
                <a:spcPct val="150000"/>
              </a:lnSpc>
              <a:buFont typeface="Wingdings" charset="2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endParaRPr lang="en-US" sz="240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239713" indent="-239713" algn="just">
              <a:lnSpc>
                <a:spcPct val="150000"/>
              </a:lnSpc>
              <a:spcBef>
                <a:spcPts val="600"/>
              </a:spcBef>
              <a:buFont typeface="Wingdings" charset="2"/>
              <a:buChar char="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Ví dụ</a:t>
            </a:r>
          </a:p>
          <a:p>
            <a:pPr marL="239713" indent="-239713" algn="just">
              <a:lnSpc>
                <a:spcPct val="150000"/>
              </a:lnSpc>
              <a:buFont typeface="Wingdings" charset="2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endParaRPr lang="en-US" sz="240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239713" indent="-239713" algn="just">
              <a:lnSpc>
                <a:spcPct val="150000"/>
              </a:lnSpc>
              <a:buFont typeface="Verdana" pitchFamily="32" charset="0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endParaRPr lang="en-US" sz="240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239713" indent="-239713" algn="just">
              <a:lnSpc>
                <a:spcPct val="150000"/>
              </a:lnSpc>
              <a:buFont typeface="Verdana" pitchFamily="32" charset="0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endParaRPr lang="en-US" sz="240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239713" indent="-239713" algn="just">
              <a:lnSpc>
                <a:spcPct val="150000"/>
              </a:lnSpc>
              <a:buFont typeface="Wingdings" charset="2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endParaRPr lang="en-US" sz="240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381000" y="1600200"/>
            <a:ext cx="8763000" cy="22288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0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&lt;TEXTAREA</a:t>
            </a:r>
          </a:p>
          <a:p>
            <a:pPr lvl="1"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      </a:t>
            </a:r>
            <a:r>
              <a:rPr lang="en-US" sz="20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cols	  = </a:t>
            </a:r>
            <a:r>
              <a:rPr lang="en-US" sz="20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long</a:t>
            </a:r>
          </a:p>
          <a:p>
            <a:pPr lvl="1"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      </a:t>
            </a:r>
            <a:r>
              <a:rPr lang="en-US" sz="20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rows	  = </a:t>
            </a:r>
            <a:r>
              <a:rPr lang="en-US" sz="20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long</a:t>
            </a:r>
          </a:p>
          <a:p>
            <a:pPr lvl="1"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      </a:t>
            </a:r>
            <a:r>
              <a:rPr lang="en-US" sz="20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name	  = </a:t>
            </a:r>
            <a:r>
              <a:rPr lang="en-US" sz="20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string</a:t>
            </a:r>
          </a:p>
          <a:p>
            <a:pPr lvl="1">
              <a:buClr>
                <a:srgbClr val="E46C0A"/>
              </a:buCl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       wrap	  = </a:t>
            </a:r>
            <a:r>
              <a:rPr lang="en-US" sz="20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OFF | PHYSICAL | VIRTUAL </a:t>
            </a:r>
            <a:r>
              <a:rPr lang="en-US" sz="20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&gt;</a:t>
            </a:r>
          </a:p>
          <a:p>
            <a:pPr lvl="1"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      ......	</a:t>
            </a:r>
          </a:p>
          <a:p>
            <a:pPr>
              <a:buClr>
                <a:srgbClr val="E46C0A"/>
              </a:buCl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 &lt;/TEXTAREA&gt;</a:t>
            </a:r>
          </a:p>
        </p:txBody>
      </p:sp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" y="4495800"/>
            <a:ext cx="4694238" cy="1066800"/>
          </a:xfrm>
          <a:prstGeom prst="rect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</p:pic>
      <p:grpSp>
        <p:nvGrpSpPr>
          <p:cNvPr id="18437" name="Group 5"/>
          <p:cNvGrpSpPr>
            <a:grpSpLocks/>
          </p:cNvGrpSpPr>
          <p:nvPr/>
        </p:nvGrpSpPr>
        <p:grpSpPr bwMode="auto">
          <a:xfrm>
            <a:off x="5021264" y="3886201"/>
            <a:ext cx="3436938" cy="2197101"/>
            <a:chOff x="3163" y="2448"/>
            <a:chExt cx="2165" cy="1384"/>
          </a:xfrm>
        </p:grpSpPr>
        <p:pic>
          <p:nvPicPr>
            <p:cNvPr id="18438" name="Picture 6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359" y="2448"/>
              <a:ext cx="1969" cy="115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</p:pic>
        <p:cxnSp>
          <p:nvCxnSpPr>
            <p:cNvPr id="18439" name="AutoShape 7"/>
            <p:cNvCxnSpPr>
              <a:cxnSpLocks noChangeShapeType="1"/>
            </p:cNvCxnSpPr>
            <p:nvPr/>
          </p:nvCxnSpPr>
          <p:spPr bwMode="auto">
            <a:xfrm flipV="1">
              <a:off x="3408" y="3600"/>
              <a:ext cx="1440" cy="13"/>
            </a:xfrm>
            <a:prstGeom prst="straightConnector1">
              <a:avLst/>
            </a:prstGeom>
            <a:noFill/>
            <a:ln w="25560">
              <a:solidFill>
                <a:srgbClr val="C00000"/>
              </a:solidFill>
              <a:prstDash val="sysDot"/>
              <a:miter lim="800000"/>
              <a:headEnd type="triangle" w="med" len="med"/>
              <a:tailEnd type="triangle" w="med" len="med"/>
            </a:ln>
            <a:effectLst/>
          </p:spPr>
        </p:cxnSp>
        <p:sp>
          <p:nvSpPr>
            <p:cNvPr id="18440" name="Text Box 8"/>
            <p:cNvSpPr txBox="1">
              <a:spLocks noChangeArrowheads="1"/>
            </p:cNvSpPr>
            <p:nvPr/>
          </p:nvSpPr>
          <p:spPr bwMode="auto">
            <a:xfrm>
              <a:off x="4160" y="3600"/>
              <a:ext cx="296" cy="23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buClr>
                  <a:srgbClr val="C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>
                  <a:solidFill>
                    <a:srgbClr val="C00000"/>
                  </a:solidFill>
                  <a:ea typeface="DejaVu Sans" charset="0"/>
                  <a:cs typeface="DejaVu Sans" charset="0"/>
                </a:rPr>
                <a:t>20</a:t>
              </a:r>
            </a:p>
          </p:txBody>
        </p:sp>
        <p:cxnSp>
          <p:nvCxnSpPr>
            <p:cNvPr id="18441" name="AutoShape 9"/>
            <p:cNvCxnSpPr>
              <a:cxnSpLocks noChangeShapeType="1"/>
            </p:cNvCxnSpPr>
            <p:nvPr/>
          </p:nvCxnSpPr>
          <p:spPr bwMode="auto">
            <a:xfrm rot="5400000">
              <a:off x="2928" y="3167"/>
              <a:ext cx="769" cy="0"/>
            </a:xfrm>
            <a:prstGeom prst="straightConnector1">
              <a:avLst/>
            </a:prstGeom>
            <a:noFill/>
            <a:ln w="25560">
              <a:solidFill>
                <a:srgbClr val="C00000"/>
              </a:solidFill>
              <a:prstDash val="sysDot"/>
              <a:miter lim="800000"/>
              <a:headEnd type="triangle" w="med" len="med"/>
              <a:tailEnd type="triangle" w="med" len="med"/>
            </a:ln>
            <a:effectLst/>
          </p:spPr>
        </p:cxnSp>
        <p:sp>
          <p:nvSpPr>
            <p:cNvPr id="18442" name="Text Box 10"/>
            <p:cNvSpPr txBox="1">
              <a:spLocks noChangeArrowheads="1"/>
            </p:cNvSpPr>
            <p:nvPr/>
          </p:nvSpPr>
          <p:spPr bwMode="auto">
            <a:xfrm>
              <a:off x="3163" y="3024"/>
              <a:ext cx="205" cy="23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buClr>
                  <a:srgbClr val="C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>
                  <a:solidFill>
                    <a:srgbClr val="C00000"/>
                  </a:solidFill>
                  <a:ea typeface="DejaVu Sans" charset="0"/>
                  <a:cs typeface="DejaVu Sans" charset="0"/>
                </a:rPr>
                <a:t>5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ext Box 1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46800" rIns="0" bIns="46800" anchor="ctr"/>
          <a:lstStyle/>
          <a:p>
            <a:pPr algn="ctr">
              <a:buClr>
                <a:srgbClr val="FFFFFF"/>
              </a:buCl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e-DE" sz="2800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Form Fields – Pull-down Menu</a:t>
            </a:r>
          </a:p>
        </p:txBody>
      </p:sp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0" y="457200"/>
            <a:ext cx="9144000" cy="28368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marL="239713" indent="-239713" algn="just">
              <a:lnSpc>
                <a:spcPct val="150000"/>
              </a:lnSpc>
              <a:buFont typeface="Wingdings" charset="2"/>
              <a:buChar char="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Dùng để tạo ra một Combo box</a:t>
            </a:r>
          </a:p>
          <a:p>
            <a:pPr marL="239713" indent="-239713" algn="just">
              <a:lnSpc>
                <a:spcPct val="150000"/>
              </a:lnSpc>
              <a:buFont typeface="Wingdings" charset="2"/>
              <a:buChar char=""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Cú pháp:</a:t>
            </a:r>
          </a:p>
          <a:p>
            <a:pPr marL="239713" indent="-239713" algn="just">
              <a:lnSpc>
                <a:spcPct val="150000"/>
              </a:lnSpc>
              <a:buFont typeface="Verdana" pitchFamily="32" charset="0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endParaRPr lang="en-US" sz="240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239713" indent="-239713" algn="just">
              <a:lnSpc>
                <a:spcPct val="150000"/>
              </a:lnSpc>
              <a:buFont typeface="Verdana" pitchFamily="32" charset="0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endParaRPr lang="en-US" sz="240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239713" indent="-239713" algn="just">
              <a:lnSpc>
                <a:spcPct val="150000"/>
              </a:lnSpc>
              <a:buFont typeface="Wingdings" charset="2"/>
              <a:buNone/>
              <a:tabLst>
                <a:tab pos="239713" algn="l"/>
                <a:tab pos="1154113" algn="l"/>
                <a:tab pos="2068513" algn="l"/>
                <a:tab pos="2982913" algn="l"/>
                <a:tab pos="3897313" algn="l"/>
                <a:tab pos="4811713" algn="l"/>
                <a:tab pos="5726113" algn="l"/>
                <a:tab pos="6640513" algn="l"/>
                <a:tab pos="7554913" algn="l"/>
                <a:tab pos="8469313" algn="l"/>
                <a:tab pos="9383713" algn="l"/>
                <a:tab pos="10298113" algn="l"/>
              </a:tabLst>
            </a:pPr>
            <a:endParaRPr lang="en-US" sz="240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228600" y="1752600"/>
            <a:ext cx="8763000" cy="411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150000"/>
              </a:lnSpc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2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&lt;Select name=</a:t>
            </a:r>
            <a:r>
              <a:rPr lang="en-US" sz="2200">
                <a:solidFill>
                  <a:srgbClr val="0070C0"/>
                </a:solidFill>
                <a:latin typeface="Verdana" pitchFamily="32" charset="0"/>
                <a:ea typeface="DejaVu Sans" charset="0"/>
                <a:cs typeface="DejaVu Sans" charset="0"/>
              </a:rPr>
              <a:t>“…”</a:t>
            </a:r>
            <a:r>
              <a:rPr lang="en-US" sz="22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&gt;</a:t>
            </a:r>
          </a:p>
          <a:p>
            <a:pPr>
              <a:lnSpc>
                <a:spcPct val="150000"/>
              </a:lnSpc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	</a:t>
            </a:r>
            <a:r>
              <a:rPr lang="en-US" sz="22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&lt;optgroup label=</a:t>
            </a:r>
            <a:r>
              <a:rPr lang="en-US" sz="2200">
                <a:solidFill>
                  <a:srgbClr val="0070C0"/>
                </a:solidFill>
                <a:latin typeface="Verdana" pitchFamily="32" charset="0"/>
                <a:ea typeface="DejaVu Sans" charset="0"/>
                <a:cs typeface="DejaVu Sans" charset="0"/>
              </a:rPr>
              <a:t>“…”</a:t>
            </a:r>
            <a:r>
              <a:rPr lang="en-US" sz="22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&gt;</a:t>
            </a:r>
          </a:p>
          <a:p>
            <a:pPr>
              <a:lnSpc>
                <a:spcPct val="150000"/>
              </a:lnSpc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		</a:t>
            </a:r>
            <a:r>
              <a:rPr lang="en-US" sz="22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&lt;option </a:t>
            </a:r>
            <a:r>
              <a:rPr lang="en-US" sz="2200">
                <a:solidFill>
                  <a:srgbClr val="00B050"/>
                </a:solidFill>
                <a:latin typeface="Verdana" pitchFamily="32" charset="0"/>
                <a:ea typeface="DejaVu Sans" charset="0"/>
                <a:cs typeface="DejaVu Sans" charset="0"/>
              </a:rPr>
              <a:t>[selected] </a:t>
            </a:r>
            <a:r>
              <a:rPr lang="en-US" sz="22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value=</a:t>
            </a:r>
            <a:r>
              <a:rPr lang="en-US" sz="2200">
                <a:solidFill>
                  <a:srgbClr val="0070C0"/>
                </a:solidFill>
                <a:latin typeface="Verdana" pitchFamily="32" charset="0"/>
                <a:ea typeface="DejaVu Sans" charset="0"/>
                <a:cs typeface="DejaVu Sans" charset="0"/>
              </a:rPr>
              <a:t>“…” </a:t>
            </a:r>
            <a:r>
              <a:rPr lang="en-US" sz="22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&gt;</a:t>
            </a:r>
            <a:r>
              <a:rPr lang="en-US" sz="22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……</a:t>
            </a:r>
            <a:r>
              <a:rPr lang="en-US" sz="22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&lt;/option&gt;</a:t>
            </a:r>
          </a:p>
          <a:p>
            <a:pPr>
              <a:lnSpc>
                <a:spcPct val="150000"/>
              </a:lnSpc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			………</a:t>
            </a:r>
          </a:p>
          <a:p>
            <a:pPr>
              <a:lnSpc>
                <a:spcPct val="150000"/>
              </a:lnSpc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		</a:t>
            </a:r>
            <a:r>
              <a:rPr lang="en-US" sz="22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&lt;/optgroup&gt;</a:t>
            </a:r>
          </a:p>
          <a:p>
            <a:pPr>
              <a:lnSpc>
                <a:spcPct val="150000"/>
              </a:lnSpc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	</a:t>
            </a:r>
            <a:r>
              <a:rPr lang="en-US" sz="22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&lt;option </a:t>
            </a:r>
            <a:r>
              <a:rPr lang="en-US" sz="2200">
                <a:solidFill>
                  <a:srgbClr val="00B050"/>
                </a:solidFill>
                <a:latin typeface="Verdana" pitchFamily="32" charset="0"/>
                <a:ea typeface="DejaVu Sans" charset="0"/>
                <a:cs typeface="DejaVu Sans" charset="0"/>
              </a:rPr>
              <a:t>[selected] </a:t>
            </a:r>
            <a:r>
              <a:rPr lang="en-US" sz="22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value=</a:t>
            </a:r>
            <a:r>
              <a:rPr lang="en-US" sz="2200">
                <a:solidFill>
                  <a:srgbClr val="0070C0"/>
                </a:solidFill>
                <a:latin typeface="Verdana" pitchFamily="32" charset="0"/>
                <a:ea typeface="DejaVu Sans" charset="0"/>
                <a:cs typeface="DejaVu Sans" charset="0"/>
              </a:rPr>
              <a:t>“…” </a:t>
            </a:r>
            <a:r>
              <a:rPr lang="en-US" sz="22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&gt;</a:t>
            </a:r>
            <a:r>
              <a:rPr lang="en-US" sz="22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……</a:t>
            </a:r>
            <a:r>
              <a:rPr lang="en-US" sz="22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&lt;/option&gt;</a:t>
            </a:r>
          </a:p>
          <a:p>
            <a:pPr>
              <a:lnSpc>
                <a:spcPct val="150000"/>
              </a:lnSpc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	………</a:t>
            </a:r>
          </a:p>
          <a:p>
            <a:pPr>
              <a:lnSpc>
                <a:spcPct val="150000"/>
              </a:lnSpc>
              <a:buClr>
                <a:srgbClr val="E46C0A"/>
              </a:buCl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&lt;/select&gt;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ext Box 1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46800" rIns="0" bIns="46800" anchor="ctr"/>
          <a:lstStyle/>
          <a:p>
            <a:pPr algn="ctr">
              <a:buClr>
                <a:srgbClr val="FFFFFF"/>
              </a:buCl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e-DE" sz="2800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Form Fields – Pull-down Menu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1200150"/>
            <a:ext cx="7772400" cy="4667250"/>
          </a:xfrm>
          <a:prstGeom prst="rect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</p:pic>
      <p:grpSp>
        <p:nvGrpSpPr>
          <p:cNvPr id="20483" name="Group 3"/>
          <p:cNvGrpSpPr>
            <a:grpSpLocks/>
          </p:cNvGrpSpPr>
          <p:nvPr/>
        </p:nvGrpSpPr>
        <p:grpSpPr bwMode="auto">
          <a:xfrm>
            <a:off x="5943600" y="609600"/>
            <a:ext cx="3198813" cy="2817813"/>
            <a:chOff x="3744" y="384"/>
            <a:chExt cx="2015" cy="1775"/>
          </a:xfrm>
        </p:grpSpPr>
        <p:sp>
          <p:nvSpPr>
            <p:cNvPr id="20484" name="Rectangle 4"/>
            <p:cNvSpPr>
              <a:spLocks noChangeArrowheads="1"/>
            </p:cNvSpPr>
            <p:nvPr/>
          </p:nvSpPr>
          <p:spPr bwMode="auto">
            <a:xfrm>
              <a:off x="3744" y="384"/>
              <a:ext cx="1283" cy="1104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85" name="Rectangle 5"/>
            <p:cNvSpPr>
              <a:spLocks noChangeArrowheads="1"/>
            </p:cNvSpPr>
            <p:nvPr/>
          </p:nvSpPr>
          <p:spPr bwMode="auto">
            <a:xfrm>
              <a:off x="4477" y="1056"/>
              <a:ext cx="1283" cy="1104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20486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72200" y="609600"/>
            <a:ext cx="2819400" cy="22383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cxnSp>
        <p:nvCxnSpPr>
          <p:cNvPr id="20487" name="AutoShape 7"/>
          <p:cNvCxnSpPr>
            <a:cxnSpLocks noChangeShapeType="1"/>
          </p:cNvCxnSpPr>
          <p:nvPr/>
        </p:nvCxnSpPr>
        <p:spPr bwMode="auto">
          <a:xfrm flipV="1">
            <a:off x="3124200" y="1219200"/>
            <a:ext cx="4040188" cy="3581400"/>
          </a:xfrm>
          <a:prstGeom prst="straightConnector1">
            <a:avLst/>
          </a:prstGeom>
          <a:noFill/>
          <a:ln w="25560">
            <a:solidFill>
              <a:srgbClr val="C00000"/>
            </a:solidFill>
            <a:prstDash val="sysDot"/>
            <a:miter lim="800000"/>
            <a:headEnd/>
            <a:tailEnd type="triangle" w="med" len="med"/>
          </a:ln>
          <a:effectLst/>
        </p:spPr>
      </p:cxnSp>
      <p:sp>
        <p:nvSpPr>
          <p:cNvPr id="20488" name="Oval 8"/>
          <p:cNvSpPr>
            <a:spLocks noChangeArrowheads="1"/>
          </p:cNvSpPr>
          <p:nvPr/>
        </p:nvSpPr>
        <p:spPr bwMode="auto">
          <a:xfrm>
            <a:off x="2057400" y="4724400"/>
            <a:ext cx="1143000" cy="457200"/>
          </a:xfrm>
          <a:prstGeom prst="ellipse">
            <a:avLst/>
          </a:prstGeom>
          <a:noFill/>
          <a:ln w="25560">
            <a:solidFill>
              <a:srgbClr val="C00000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ext Box 1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46800" rIns="0" bIns="46800" anchor="ctr"/>
          <a:lstStyle/>
          <a:p>
            <a:pPr algn="ctr">
              <a:buClr>
                <a:srgbClr val="FFFFFF"/>
              </a:buCl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e-DE" sz="2800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Form Fields – Check box</a:t>
            </a:r>
          </a:p>
        </p:txBody>
      </p:sp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76200" y="381000"/>
            <a:ext cx="8153400" cy="39687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marL="334963" indent="-334963">
              <a:lnSpc>
                <a:spcPct val="150000"/>
              </a:lnSpc>
              <a:buFont typeface="Wingdings" charset="2"/>
              <a:buChar char=""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Cú pháp</a:t>
            </a:r>
          </a:p>
          <a:p>
            <a:pPr lvl="1">
              <a:lnSpc>
                <a:spcPct val="130000"/>
              </a:lnSpc>
              <a:buClr>
                <a:srgbClr val="E46C0A"/>
              </a:buClr>
              <a:buFont typeface="Verdana" pitchFamily="32" charset="0"/>
              <a:buNone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&lt;INPUT</a:t>
            </a:r>
          </a:p>
          <a:p>
            <a:pPr lvl="2">
              <a:lnSpc>
                <a:spcPct val="130000"/>
              </a:lnSpc>
              <a:buClr>
                <a:srgbClr val="E46C0A"/>
              </a:buClr>
              <a:buFont typeface="Verdana" pitchFamily="32" charset="0"/>
              <a:buNone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type   = </a:t>
            </a:r>
            <a:r>
              <a:rPr lang="en-US" sz="2400" i="1">
                <a:solidFill>
                  <a:srgbClr val="0070C0"/>
                </a:solidFill>
                <a:latin typeface="Verdana" pitchFamily="32" charset="0"/>
                <a:ea typeface="DejaVu Sans" charset="0"/>
                <a:cs typeface="DejaVu Sans" charset="0"/>
              </a:rPr>
              <a:t>“checkbox”</a:t>
            </a:r>
          </a:p>
          <a:p>
            <a:pPr lvl="2">
              <a:lnSpc>
                <a:spcPct val="130000"/>
              </a:lnSpc>
              <a:buClr>
                <a:srgbClr val="E46C0A"/>
              </a:buClr>
              <a:buFont typeface="Verdana" pitchFamily="32" charset="0"/>
              <a:buNone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name  = </a:t>
            </a:r>
            <a:r>
              <a:rPr lang="en-US" sz="2400" i="1">
                <a:solidFill>
                  <a:srgbClr val="0070C0"/>
                </a:solidFill>
                <a:latin typeface="Verdana" pitchFamily="32" charset="0"/>
                <a:ea typeface="DejaVu Sans" charset="0"/>
                <a:cs typeface="DejaVu Sans" charset="0"/>
              </a:rPr>
              <a:t>“text”</a:t>
            </a:r>
          </a:p>
          <a:p>
            <a:pPr lvl="2">
              <a:lnSpc>
                <a:spcPct val="130000"/>
              </a:lnSpc>
              <a:buClr>
                <a:srgbClr val="E46C0A"/>
              </a:buClr>
              <a:buFont typeface="Verdana" pitchFamily="32" charset="0"/>
              <a:buNone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value = </a:t>
            </a:r>
            <a:r>
              <a:rPr lang="en-US" sz="2400" i="1">
                <a:solidFill>
                  <a:srgbClr val="0070C0"/>
                </a:solidFill>
                <a:latin typeface="Verdana" pitchFamily="32" charset="0"/>
                <a:ea typeface="DejaVu Sans" charset="0"/>
                <a:cs typeface="DejaVu Sans" charset="0"/>
              </a:rPr>
              <a:t>“text”</a:t>
            </a:r>
          </a:p>
          <a:p>
            <a:pPr lvl="2">
              <a:lnSpc>
                <a:spcPct val="130000"/>
              </a:lnSpc>
              <a:buClr>
                <a:srgbClr val="00B050"/>
              </a:buClr>
              <a:buFont typeface="Verdana" pitchFamily="32" charset="0"/>
              <a:buNone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00B050"/>
                </a:solidFill>
                <a:latin typeface="Verdana" pitchFamily="32" charset="0"/>
                <a:ea typeface="DejaVu Sans" charset="0"/>
                <a:cs typeface="DejaVu Sans" charset="0"/>
              </a:rPr>
              <a:t>[checked]</a:t>
            </a:r>
          </a:p>
          <a:p>
            <a:pPr lvl="1">
              <a:lnSpc>
                <a:spcPct val="130000"/>
              </a:lnSpc>
              <a:buClr>
                <a:srgbClr val="E46C0A"/>
              </a:buClr>
              <a:buFont typeface="Verdana" pitchFamily="32" charset="0"/>
              <a:buNone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&gt;</a:t>
            </a:r>
          </a:p>
          <a:p>
            <a:pPr lvl="1">
              <a:lnSpc>
                <a:spcPct val="130000"/>
              </a:lnSpc>
              <a:buFont typeface="Wingdings" charset="2"/>
              <a:buChar char=""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Ví dụ: </a:t>
            </a:r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0" y="1828800"/>
            <a:ext cx="3527425" cy="1981200"/>
          </a:xfrm>
          <a:prstGeom prst="rect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</p:pic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8600" y="4267200"/>
            <a:ext cx="8153400" cy="2038350"/>
          </a:xfrm>
          <a:prstGeom prst="rect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</p:pic>
      <p:sp>
        <p:nvSpPr>
          <p:cNvPr id="21509" name="Oval 5"/>
          <p:cNvSpPr>
            <a:spLocks noChangeArrowheads="1"/>
          </p:cNvSpPr>
          <p:nvPr/>
        </p:nvSpPr>
        <p:spPr bwMode="auto">
          <a:xfrm>
            <a:off x="6781800" y="5257800"/>
            <a:ext cx="952500" cy="381000"/>
          </a:xfrm>
          <a:prstGeom prst="ellipse">
            <a:avLst/>
          </a:prstGeom>
          <a:noFill/>
          <a:ln w="25560">
            <a:solidFill>
              <a:srgbClr val="C00000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cxnSp>
        <p:nvCxnSpPr>
          <p:cNvPr id="21510" name="AutoShape 6"/>
          <p:cNvCxnSpPr>
            <a:cxnSpLocks noChangeShapeType="1"/>
          </p:cNvCxnSpPr>
          <p:nvPr/>
        </p:nvCxnSpPr>
        <p:spPr bwMode="auto">
          <a:xfrm rot="16200000" flipV="1">
            <a:off x="5638800" y="3657600"/>
            <a:ext cx="2057400" cy="1143000"/>
          </a:xfrm>
          <a:prstGeom prst="straightConnector1">
            <a:avLst/>
          </a:prstGeom>
          <a:noFill/>
          <a:ln w="25560">
            <a:solidFill>
              <a:srgbClr val="C00000"/>
            </a:solidFill>
            <a:prstDash val="sysDot"/>
            <a:miter lim="800000"/>
            <a:headEnd/>
            <a:tailEnd type="triangle" w="med" len="med"/>
          </a:ln>
          <a:effectLst/>
        </p:spPr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ext Box 1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46800" rIns="0" bIns="46800" anchor="ctr"/>
          <a:lstStyle/>
          <a:p>
            <a:pPr algn="ctr">
              <a:buClr>
                <a:srgbClr val="FFFFFF"/>
              </a:buCl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e-DE" sz="2800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Form Fields – Radio Button</a:t>
            </a:r>
          </a:p>
        </p:txBody>
      </p:sp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76200" y="595313"/>
            <a:ext cx="9067800" cy="44434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marL="334963" indent="-334963">
              <a:lnSpc>
                <a:spcPct val="150000"/>
              </a:lnSpc>
              <a:buFont typeface="Wingdings" charset="2"/>
              <a:buChar char=""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Cú pháp</a:t>
            </a:r>
          </a:p>
          <a:p>
            <a:pPr lvl="1">
              <a:lnSpc>
                <a:spcPct val="130000"/>
              </a:lnSpc>
              <a:buClr>
                <a:srgbClr val="E46C0A"/>
              </a:buClr>
              <a:buFont typeface="Verdana" pitchFamily="32" charset="0"/>
              <a:buNone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&lt;INPUT</a:t>
            </a:r>
          </a:p>
          <a:p>
            <a:pPr lvl="2">
              <a:lnSpc>
                <a:spcPct val="130000"/>
              </a:lnSpc>
              <a:buClr>
                <a:srgbClr val="E46C0A"/>
              </a:buClr>
              <a:buFont typeface="Verdana" pitchFamily="32" charset="0"/>
              <a:buNone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type   = </a:t>
            </a:r>
            <a:r>
              <a:rPr lang="en-US" sz="2400" i="1">
                <a:solidFill>
                  <a:srgbClr val="0070C0"/>
                </a:solidFill>
                <a:latin typeface="Verdana" pitchFamily="32" charset="0"/>
                <a:ea typeface="DejaVu Sans" charset="0"/>
                <a:cs typeface="DejaVu Sans" charset="0"/>
              </a:rPr>
              <a:t>“radio”</a:t>
            </a:r>
          </a:p>
          <a:p>
            <a:pPr lvl="2">
              <a:lnSpc>
                <a:spcPct val="130000"/>
              </a:lnSpc>
              <a:buClr>
                <a:srgbClr val="E46C0A"/>
              </a:buClr>
              <a:buFont typeface="Verdana" pitchFamily="32" charset="0"/>
              <a:buNone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name  = </a:t>
            </a:r>
            <a:r>
              <a:rPr lang="en-US" sz="2400" i="1">
                <a:solidFill>
                  <a:srgbClr val="0070C0"/>
                </a:solidFill>
                <a:latin typeface="Verdana" pitchFamily="32" charset="0"/>
                <a:ea typeface="DejaVu Sans" charset="0"/>
                <a:cs typeface="DejaVu Sans" charset="0"/>
              </a:rPr>
              <a:t>“text”</a:t>
            </a:r>
          </a:p>
          <a:p>
            <a:pPr lvl="2">
              <a:lnSpc>
                <a:spcPct val="130000"/>
              </a:lnSpc>
              <a:buClr>
                <a:srgbClr val="E46C0A"/>
              </a:buClr>
              <a:buFont typeface="Verdana" pitchFamily="32" charset="0"/>
              <a:buNone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value = </a:t>
            </a:r>
            <a:r>
              <a:rPr lang="en-US" sz="2400" i="1">
                <a:solidFill>
                  <a:srgbClr val="0070C0"/>
                </a:solidFill>
                <a:latin typeface="Verdana" pitchFamily="32" charset="0"/>
                <a:ea typeface="DejaVu Sans" charset="0"/>
                <a:cs typeface="DejaVu Sans" charset="0"/>
              </a:rPr>
              <a:t>“text”</a:t>
            </a:r>
          </a:p>
          <a:p>
            <a:pPr lvl="2">
              <a:lnSpc>
                <a:spcPct val="130000"/>
              </a:lnSpc>
              <a:buClr>
                <a:srgbClr val="00B050"/>
              </a:buClr>
              <a:buFont typeface="Verdana" pitchFamily="32" charset="0"/>
              <a:buNone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00B050"/>
                </a:solidFill>
                <a:latin typeface="Verdana" pitchFamily="32" charset="0"/>
                <a:ea typeface="DejaVu Sans" charset="0"/>
                <a:cs typeface="DejaVu Sans" charset="0"/>
              </a:rPr>
              <a:t>[checked]</a:t>
            </a:r>
          </a:p>
          <a:p>
            <a:pPr lvl="1">
              <a:lnSpc>
                <a:spcPct val="130000"/>
              </a:lnSpc>
              <a:buClr>
                <a:srgbClr val="E46C0A"/>
              </a:buClr>
              <a:buFont typeface="Verdana" pitchFamily="32" charset="0"/>
              <a:buNone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&gt;</a:t>
            </a:r>
          </a:p>
          <a:p>
            <a:pPr lvl="1">
              <a:lnSpc>
                <a:spcPct val="130000"/>
              </a:lnSpc>
              <a:buClr>
                <a:srgbClr val="E46C0A"/>
              </a:buClr>
              <a:buFont typeface="Wingdings" charset="2"/>
              <a:buNone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endParaRPr lang="en-US" sz="2400">
              <a:solidFill>
                <a:srgbClr val="E46C0A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lvl="1">
              <a:lnSpc>
                <a:spcPct val="130000"/>
              </a:lnSpc>
              <a:buClr>
                <a:srgbClr val="0070C0"/>
              </a:buClr>
              <a:buFont typeface="Wingdings" charset="2"/>
              <a:buChar char=""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 i="1">
                <a:solidFill>
                  <a:srgbClr val="0070C0"/>
                </a:solidFill>
                <a:latin typeface="Verdana" pitchFamily="32" charset="0"/>
                <a:ea typeface="DejaVu Sans" charset="0"/>
                <a:cs typeface="DejaVu Sans" charset="0"/>
              </a:rPr>
              <a:t>Chú ý khi sử dụng thuộc tính </a:t>
            </a:r>
            <a:r>
              <a:rPr lang="en-US" sz="2400" i="1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name</a:t>
            </a:r>
            <a:r>
              <a:rPr lang="en-US" sz="2400" i="1">
                <a:solidFill>
                  <a:srgbClr val="0070C0"/>
                </a:solidFill>
                <a:latin typeface="Verdana" pitchFamily="32" charset="0"/>
                <a:ea typeface="DejaVu Sans" charset="0"/>
                <a:cs typeface="DejaVu Sans" charset="0"/>
              </a:rPr>
              <a:t> của Radio Button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ext Box 1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46800" rIns="0" bIns="46800" anchor="ctr"/>
          <a:lstStyle/>
          <a:p>
            <a:pPr algn="ctr">
              <a:buClr>
                <a:srgbClr val="FFFFFF"/>
              </a:buCl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e-DE" sz="2800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Form Fields – Radio Button</a:t>
            </a: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76200" y="558800"/>
            <a:ext cx="8153400" cy="34210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marL="334963" lvl="1" indent="-334963">
              <a:lnSpc>
                <a:spcPct val="130000"/>
              </a:lnSpc>
              <a:buFont typeface="Wingdings" charset="2"/>
              <a:buChar char=""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Ví dụ 1:</a:t>
            </a:r>
          </a:p>
          <a:p>
            <a:pPr marL="334963" lvl="1" indent="-334963">
              <a:lnSpc>
                <a:spcPct val="130000"/>
              </a:lnSpc>
              <a:buFont typeface="Wingdings" charset="2"/>
              <a:buNone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endParaRPr lang="en-US" sz="240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334963" lvl="1" indent="-334963">
              <a:lnSpc>
                <a:spcPct val="130000"/>
              </a:lnSpc>
              <a:buFont typeface="Wingdings" charset="2"/>
              <a:buNone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endParaRPr lang="en-US" sz="240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334963" lvl="1" indent="-334963">
              <a:lnSpc>
                <a:spcPct val="130000"/>
              </a:lnSpc>
              <a:buFont typeface="Wingdings" charset="2"/>
              <a:buNone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endParaRPr lang="en-US" sz="240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334963" lvl="1" indent="-334963">
              <a:lnSpc>
                <a:spcPct val="130000"/>
              </a:lnSpc>
              <a:buFont typeface="Wingdings" charset="2"/>
              <a:buNone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endParaRPr lang="en-US" sz="240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334963" lvl="1" indent="-334963">
              <a:lnSpc>
                <a:spcPct val="130000"/>
              </a:lnSpc>
              <a:buFont typeface="Wingdings" charset="2"/>
              <a:buNone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endParaRPr lang="en-US" sz="240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334963" lvl="1" indent="-334963">
              <a:lnSpc>
                <a:spcPct val="130000"/>
              </a:lnSpc>
              <a:buFont typeface="Wingdings" charset="2"/>
              <a:buChar char=""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Ví dụ 2: </a:t>
            </a:r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8138" y="4046538"/>
            <a:ext cx="8196262" cy="2030412"/>
          </a:xfrm>
          <a:prstGeom prst="rect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</p:pic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81000" y="1135063"/>
            <a:ext cx="7932738" cy="2006600"/>
          </a:xfrm>
          <a:prstGeom prst="rect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</p:pic>
      <p:pic>
        <p:nvPicPr>
          <p:cNvPr id="23557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610350" y="3579813"/>
            <a:ext cx="2381250" cy="1076325"/>
          </a:xfrm>
          <a:prstGeom prst="rect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</p:pic>
      <p:pic>
        <p:nvPicPr>
          <p:cNvPr id="23558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553200" y="779463"/>
            <a:ext cx="2400300" cy="1028700"/>
          </a:xfrm>
          <a:prstGeom prst="rect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</p:pic>
      <p:sp>
        <p:nvSpPr>
          <p:cNvPr id="23559" name="Oval 7"/>
          <p:cNvSpPr>
            <a:spLocks noChangeArrowheads="1"/>
          </p:cNvSpPr>
          <p:nvPr/>
        </p:nvSpPr>
        <p:spPr bwMode="auto">
          <a:xfrm>
            <a:off x="4343400" y="1922463"/>
            <a:ext cx="952500" cy="609600"/>
          </a:xfrm>
          <a:prstGeom prst="ellipse">
            <a:avLst/>
          </a:prstGeom>
          <a:noFill/>
          <a:ln w="25560">
            <a:solidFill>
              <a:srgbClr val="C00000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cxnSp>
        <p:nvCxnSpPr>
          <p:cNvPr id="23560" name="AutoShape 8"/>
          <p:cNvCxnSpPr>
            <a:cxnSpLocks noChangeShapeType="1"/>
            <a:stCxn id="23559" idx="6"/>
          </p:cNvCxnSpPr>
          <p:nvPr/>
        </p:nvCxnSpPr>
        <p:spPr bwMode="auto">
          <a:xfrm flipV="1">
            <a:off x="5295900" y="1465263"/>
            <a:ext cx="1714500" cy="762000"/>
          </a:xfrm>
          <a:prstGeom prst="straightConnector1">
            <a:avLst/>
          </a:prstGeom>
          <a:noFill/>
          <a:ln w="25560">
            <a:solidFill>
              <a:srgbClr val="C00000"/>
            </a:solidFill>
            <a:prstDash val="sysDot"/>
            <a:miter lim="800000"/>
            <a:headEnd/>
            <a:tailEnd type="triangle" w="med" len="med"/>
          </a:ln>
          <a:effectLst/>
        </p:spPr>
      </p:cxnSp>
      <p:sp>
        <p:nvSpPr>
          <p:cNvPr id="23561" name="Oval 9"/>
          <p:cNvSpPr>
            <a:spLocks noChangeArrowheads="1"/>
          </p:cNvSpPr>
          <p:nvPr/>
        </p:nvSpPr>
        <p:spPr bwMode="auto">
          <a:xfrm>
            <a:off x="4305300" y="4827588"/>
            <a:ext cx="952500" cy="609600"/>
          </a:xfrm>
          <a:prstGeom prst="ellipse">
            <a:avLst/>
          </a:prstGeom>
          <a:noFill/>
          <a:ln w="25560">
            <a:solidFill>
              <a:srgbClr val="C00000"/>
            </a:solidFill>
            <a:prstDash val="sysDot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cxnSp>
        <p:nvCxnSpPr>
          <p:cNvPr id="23562" name="AutoShape 10"/>
          <p:cNvCxnSpPr>
            <a:cxnSpLocks noChangeShapeType="1"/>
            <a:stCxn id="23561" idx="6"/>
          </p:cNvCxnSpPr>
          <p:nvPr/>
        </p:nvCxnSpPr>
        <p:spPr bwMode="auto">
          <a:xfrm flipV="1">
            <a:off x="5257800" y="4370388"/>
            <a:ext cx="1716088" cy="762000"/>
          </a:xfrm>
          <a:prstGeom prst="straightConnector1">
            <a:avLst/>
          </a:prstGeom>
          <a:noFill/>
          <a:ln w="25560">
            <a:solidFill>
              <a:srgbClr val="C00000"/>
            </a:solidFill>
            <a:prstDash val="sysDot"/>
            <a:miter lim="800000"/>
            <a:headEnd/>
            <a:tailEnd type="triangle" w="med" len="med"/>
          </a:ln>
          <a:effectLst/>
        </p:spPr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ext Box 1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46800" rIns="0" bIns="46800" anchor="ctr"/>
          <a:lstStyle/>
          <a:p>
            <a:pPr algn="ctr">
              <a:buClr>
                <a:srgbClr val="FFFFFF"/>
              </a:buCl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e-DE" sz="2800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Form Fields – File Form Control</a:t>
            </a:r>
          </a:p>
        </p:txBody>
      </p:sp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76200" y="558800"/>
            <a:ext cx="9067800" cy="32623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marL="334963" lvl="1" indent="-334963">
              <a:lnSpc>
                <a:spcPct val="130000"/>
              </a:lnSpc>
              <a:buFont typeface="Wingdings" charset="2"/>
              <a:buChar char=""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Dùng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để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upload 1 file </a:t>
            </a: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lên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server</a:t>
            </a:r>
          </a:p>
          <a:p>
            <a:pPr marL="334963" lvl="1" indent="-334963">
              <a:lnSpc>
                <a:spcPct val="130000"/>
              </a:lnSpc>
              <a:buFont typeface="Wingdings" charset="2"/>
              <a:buChar char=""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Cú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pháp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: </a:t>
            </a:r>
          </a:p>
          <a:p>
            <a:pPr lvl="2">
              <a:lnSpc>
                <a:spcPct val="130000"/>
              </a:lnSpc>
              <a:buClr>
                <a:srgbClr val="E46C0A"/>
              </a:buClr>
              <a:buFont typeface="Verdana" pitchFamily="32" charset="0"/>
              <a:buNone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200" dirty="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&lt;Form  action=</a:t>
            </a:r>
            <a:r>
              <a:rPr lang="en-US" sz="2200" dirty="0">
                <a:solidFill>
                  <a:srgbClr val="0070C0"/>
                </a:solidFill>
                <a:latin typeface="Verdana" pitchFamily="32" charset="0"/>
                <a:ea typeface="DejaVu Sans" charset="0"/>
                <a:cs typeface="DejaVu Sans" charset="0"/>
              </a:rPr>
              <a:t>“…” </a:t>
            </a:r>
            <a:r>
              <a:rPr lang="en-US" sz="2200" dirty="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method=</a:t>
            </a:r>
            <a:r>
              <a:rPr lang="en-US" sz="2200" dirty="0">
                <a:solidFill>
                  <a:srgbClr val="0070C0"/>
                </a:solidFill>
                <a:latin typeface="Verdana" pitchFamily="32" charset="0"/>
                <a:ea typeface="DejaVu Sans" charset="0"/>
                <a:cs typeface="DejaVu Sans" charset="0"/>
              </a:rPr>
              <a:t>“post” </a:t>
            </a:r>
            <a:r>
              <a:rPr lang="en-US" sz="22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/>
            </a:r>
            <a:br>
              <a:rPr lang="en-US" sz="22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</a:br>
            <a:r>
              <a:rPr lang="en-US" sz="22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	   </a:t>
            </a:r>
            <a:r>
              <a:rPr lang="en-US" sz="2200" dirty="0" err="1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enctype</a:t>
            </a:r>
            <a:r>
              <a:rPr lang="en-US" sz="2200" dirty="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=</a:t>
            </a:r>
            <a:r>
              <a:rPr lang="en-US" sz="2200" dirty="0">
                <a:solidFill>
                  <a:srgbClr val="0070C0"/>
                </a:solidFill>
                <a:latin typeface="Verdana" pitchFamily="32" charset="0"/>
                <a:ea typeface="DejaVu Sans" charset="0"/>
                <a:cs typeface="DejaVu Sans" charset="0"/>
              </a:rPr>
              <a:t>“multipart/form-data” </a:t>
            </a:r>
            <a:r>
              <a:rPr lang="en-US" sz="22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 </a:t>
            </a:r>
            <a:r>
              <a:rPr lang="en-US" sz="2200" dirty="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name=</a:t>
            </a:r>
            <a:r>
              <a:rPr lang="en-US" sz="2200" dirty="0">
                <a:solidFill>
                  <a:srgbClr val="0070C0"/>
                </a:solidFill>
                <a:latin typeface="Verdana" pitchFamily="32" charset="0"/>
                <a:ea typeface="DejaVu Sans" charset="0"/>
                <a:cs typeface="DejaVu Sans" charset="0"/>
              </a:rPr>
              <a:t>“...”</a:t>
            </a:r>
            <a:r>
              <a:rPr lang="en-US" sz="2200" dirty="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&gt;</a:t>
            </a:r>
          </a:p>
          <a:p>
            <a:pPr lvl="2">
              <a:lnSpc>
                <a:spcPct val="130000"/>
              </a:lnSpc>
              <a:buFont typeface="Verdana" pitchFamily="32" charset="0"/>
              <a:buNone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2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	   </a:t>
            </a:r>
            <a:r>
              <a:rPr lang="en-US" sz="2200" dirty="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&lt;input type=</a:t>
            </a:r>
            <a:r>
              <a:rPr lang="en-US" sz="2200" dirty="0">
                <a:solidFill>
                  <a:srgbClr val="0070C0"/>
                </a:solidFill>
                <a:latin typeface="Verdana" pitchFamily="32" charset="0"/>
                <a:ea typeface="DejaVu Sans" charset="0"/>
                <a:cs typeface="DejaVu Sans" charset="0"/>
              </a:rPr>
              <a:t>“FILE”</a:t>
            </a:r>
            <a:r>
              <a:rPr lang="en-US" sz="22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200" dirty="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name=</a:t>
            </a:r>
            <a:r>
              <a:rPr lang="en-US" sz="2200" dirty="0">
                <a:solidFill>
                  <a:srgbClr val="0070C0"/>
                </a:solidFill>
                <a:latin typeface="Verdana" pitchFamily="32" charset="0"/>
                <a:ea typeface="DejaVu Sans" charset="0"/>
                <a:cs typeface="DejaVu Sans" charset="0"/>
              </a:rPr>
              <a:t>“…”</a:t>
            </a:r>
            <a:r>
              <a:rPr lang="en-US" sz="2200" dirty="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&gt;</a:t>
            </a:r>
          </a:p>
          <a:p>
            <a:pPr lvl="2">
              <a:lnSpc>
                <a:spcPct val="130000"/>
              </a:lnSpc>
              <a:buClr>
                <a:srgbClr val="E46C0A"/>
              </a:buClr>
              <a:buFont typeface="Verdana" pitchFamily="32" charset="0"/>
              <a:buNone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200" dirty="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&lt;/Form&gt;</a:t>
            </a:r>
          </a:p>
          <a:p>
            <a:pPr marL="334963" lvl="1" indent="-334963">
              <a:lnSpc>
                <a:spcPct val="130000"/>
              </a:lnSpc>
              <a:buFont typeface="Wingdings" charset="2"/>
              <a:buChar char=""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Ví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dụ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:</a:t>
            </a:r>
          </a:p>
        </p:txBody>
      </p:sp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/>
          <a:srcRect t="19600"/>
          <a:stretch>
            <a:fillRect/>
          </a:stretch>
        </p:blipFill>
        <p:spPr bwMode="auto">
          <a:xfrm>
            <a:off x="5715000" y="3505200"/>
            <a:ext cx="3352800" cy="2813050"/>
          </a:xfrm>
          <a:prstGeom prst="rect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</p:pic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3886200"/>
            <a:ext cx="5326063" cy="2286000"/>
          </a:xfrm>
          <a:prstGeom prst="rect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</p:pic>
      <p:cxnSp>
        <p:nvCxnSpPr>
          <p:cNvPr id="24581" name="AutoShape 5"/>
          <p:cNvCxnSpPr>
            <a:cxnSpLocks noChangeShapeType="1"/>
          </p:cNvCxnSpPr>
          <p:nvPr/>
        </p:nvCxnSpPr>
        <p:spPr bwMode="auto">
          <a:xfrm flipH="1">
            <a:off x="6324600" y="3733800"/>
            <a:ext cx="457200" cy="304800"/>
          </a:xfrm>
          <a:prstGeom prst="straightConnector1">
            <a:avLst/>
          </a:prstGeom>
          <a:noFill/>
          <a:ln w="25560">
            <a:solidFill>
              <a:srgbClr val="C00000"/>
            </a:solidFill>
            <a:prstDash val="sysDot"/>
            <a:miter lim="800000"/>
            <a:headEnd/>
            <a:tailEnd type="triangle" w="med" len="med"/>
          </a:ln>
          <a:effectLst/>
        </p:spPr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ext Box 1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46800" rIns="0" bIns="46800" anchor="ctr"/>
          <a:lstStyle/>
          <a:p>
            <a:pPr algn="ctr">
              <a:buClr>
                <a:srgbClr val="FFFFFF"/>
              </a:buCl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e-DE" sz="2800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Form Fields – Submit button</a:t>
            </a:r>
          </a:p>
        </p:txBody>
      </p:sp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76200" y="558800"/>
            <a:ext cx="9067800" cy="27352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marL="334963" lvl="1" indent="-334963">
              <a:lnSpc>
                <a:spcPct val="130000"/>
              </a:lnSpc>
              <a:buFont typeface="Wingdings" charset="2"/>
              <a:buChar char=""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Nút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phát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lệnh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và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gởi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dữ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liệu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của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form </a:t>
            </a: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đến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trang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xử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lý</a:t>
            </a:r>
            <a:endParaRPr lang="en-US" sz="2400" dirty="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334963" lvl="1" indent="-334963">
              <a:lnSpc>
                <a:spcPct val="130000"/>
              </a:lnSpc>
              <a:buFont typeface="Wingdings" charset="2"/>
              <a:buChar char=""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Mỗi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Form </a:t>
            </a: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chỉ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có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1 </a:t>
            </a: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nút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submit</a:t>
            </a:r>
          </a:p>
          <a:p>
            <a:pPr marL="334963" lvl="1" indent="-334963">
              <a:lnSpc>
                <a:spcPct val="130000"/>
              </a:lnSpc>
              <a:buFont typeface="Wingdings" charset="2"/>
              <a:buChar char=""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Cú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pháp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: </a:t>
            </a:r>
          </a:p>
          <a:p>
            <a:pPr lvl="2"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buClr>
                <a:srgbClr val="E46C0A"/>
              </a:buClr>
              <a:buFont typeface="Verdana" pitchFamily="32" charset="0"/>
              <a:buNone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200" dirty="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&lt;input type=</a:t>
            </a:r>
            <a:r>
              <a:rPr lang="en-US" sz="2200" dirty="0">
                <a:solidFill>
                  <a:srgbClr val="0070C0"/>
                </a:solidFill>
                <a:latin typeface="Verdana" pitchFamily="32" charset="0"/>
                <a:ea typeface="DejaVu Sans" charset="0"/>
                <a:cs typeface="DejaVu Sans" charset="0"/>
              </a:rPr>
              <a:t>“SUBMIT”</a:t>
            </a:r>
            <a:r>
              <a:rPr lang="en-US" sz="22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200" dirty="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name=</a:t>
            </a:r>
            <a:r>
              <a:rPr lang="en-US" sz="2200" dirty="0">
                <a:solidFill>
                  <a:srgbClr val="0070C0"/>
                </a:solidFill>
                <a:latin typeface="Verdana" pitchFamily="32" charset="0"/>
                <a:ea typeface="DejaVu Sans" charset="0"/>
                <a:cs typeface="DejaVu Sans" charset="0"/>
              </a:rPr>
              <a:t>“…” </a:t>
            </a:r>
            <a:r>
              <a:rPr lang="en-US" sz="2200" dirty="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value =</a:t>
            </a:r>
            <a:r>
              <a:rPr lang="en-US" sz="2200" dirty="0">
                <a:solidFill>
                  <a:srgbClr val="0070C0"/>
                </a:solidFill>
                <a:latin typeface="Verdana" pitchFamily="32" charset="0"/>
                <a:ea typeface="DejaVu Sans" charset="0"/>
                <a:cs typeface="DejaVu Sans" charset="0"/>
              </a:rPr>
              <a:t>“…”</a:t>
            </a:r>
            <a:r>
              <a:rPr lang="en-US" sz="2200" dirty="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&gt;</a:t>
            </a:r>
          </a:p>
          <a:p>
            <a:pPr marL="334963" lvl="1" indent="-334963">
              <a:lnSpc>
                <a:spcPct val="130000"/>
              </a:lnSpc>
              <a:buFont typeface="Wingdings" charset="2"/>
              <a:buChar char=""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Ví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dụ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:</a:t>
            </a:r>
          </a:p>
        </p:txBody>
      </p:sp>
      <p:pic>
        <p:nvPicPr>
          <p:cNvPr id="6" name="Picture 5" descr="DrSubmitButt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276600"/>
            <a:ext cx="7391400" cy="232548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19675" y="5105400"/>
            <a:ext cx="3743325" cy="790575"/>
          </a:xfrm>
          <a:prstGeom prst="rect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ext Box 1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46800" rIns="0" bIns="46800" anchor="ctr"/>
          <a:lstStyle/>
          <a:p>
            <a:pPr algn="ctr">
              <a:buClr>
                <a:srgbClr val="FFFFFF"/>
              </a:buCl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e-DE" sz="2800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Form Fields – Reset button</a:t>
            </a:r>
          </a:p>
        </p:txBody>
      </p:sp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76200" y="558800"/>
            <a:ext cx="9067800" cy="27352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marL="334963" lvl="1" indent="-334963">
              <a:lnSpc>
                <a:spcPct val="130000"/>
              </a:lnSpc>
              <a:buFont typeface="Wingdings" charset="2"/>
              <a:buChar char=""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Dùng để trả lại giá trị mặc định cho các control khác trong Form.</a:t>
            </a:r>
          </a:p>
          <a:p>
            <a:pPr marL="334963" lvl="1" indent="-334963">
              <a:lnSpc>
                <a:spcPct val="130000"/>
              </a:lnSpc>
              <a:buFont typeface="Wingdings" charset="2"/>
              <a:buChar char=""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Cú pháp: </a:t>
            </a:r>
          </a:p>
          <a:p>
            <a:pPr lvl="2"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buClr>
                <a:srgbClr val="E46C0A"/>
              </a:buClr>
              <a:buFont typeface="Verdana" pitchFamily="32" charset="0"/>
              <a:buNone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2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&lt;input type=</a:t>
            </a:r>
            <a:r>
              <a:rPr lang="en-US" sz="2200">
                <a:solidFill>
                  <a:srgbClr val="0070C0"/>
                </a:solidFill>
                <a:latin typeface="Verdana" pitchFamily="32" charset="0"/>
                <a:ea typeface="DejaVu Sans" charset="0"/>
                <a:cs typeface="DejaVu Sans" charset="0"/>
              </a:rPr>
              <a:t>“RESET”</a:t>
            </a:r>
            <a:r>
              <a:rPr lang="en-US" sz="22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2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name=</a:t>
            </a:r>
            <a:r>
              <a:rPr lang="en-US" sz="2200">
                <a:solidFill>
                  <a:srgbClr val="0070C0"/>
                </a:solidFill>
                <a:latin typeface="Verdana" pitchFamily="32" charset="0"/>
                <a:ea typeface="DejaVu Sans" charset="0"/>
                <a:cs typeface="DejaVu Sans" charset="0"/>
              </a:rPr>
              <a:t>“…” </a:t>
            </a:r>
            <a:r>
              <a:rPr lang="en-US" sz="22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value =</a:t>
            </a:r>
            <a:r>
              <a:rPr lang="en-US" sz="2200">
                <a:solidFill>
                  <a:srgbClr val="0070C0"/>
                </a:solidFill>
                <a:latin typeface="Verdana" pitchFamily="32" charset="0"/>
                <a:ea typeface="DejaVu Sans" charset="0"/>
                <a:cs typeface="DejaVu Sans" charset="0"/>
              </a:rPr>
              <a:t>“…”</a:t>
            </a:r>
            <a:r>
              <a:rPr lang="en-US" sz="22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&gt;</a:t>
            </a:r>
          </a:p>
          <a:p>
            <a:pPr marL="334963" lvl="1" indent="-334963">
              <a:lnSpc>
                <a:spcPct val="130000"/>
              </a:lnSpc>
              <a:buFont typeface="Wingdings" charset="2"/>
              <a:buChar char=""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Ví dụ:</a:t>
            </a:r>
          </a:p>
        </p:txBody>
      </p:sp>
      <p:pic>
        <p:nvPicPr>
          <p:cNvPr id="6" name="Picture 5" descr="Rbutton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276600"/>
            <a:ext cx="7391400" cy="262727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19600" y="5334000"/>
            <a:ext cx="4343400" cy="882650"/>
          </a:xfrm>
          <a:prstGeom prst="rect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ext Box 1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46800" rIns="0" bIns="46800" anchor="ctr"/>
          <a:lstStyle/>
          <a:p>
            <a:pPr algn="ctr">
              <a:buClr>
                <a:srgbClr val="FFFFFF"/>
              </a:buCl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e-DE" sz="2800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Form Fields – Generalized button</a:t>
            </a:r>
          </a:p>
        </p:txBody>
      </p:sp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558800"/>
            <a:ext cx="9067800" cy="17653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marL="334963" lvl="1" indent="-334963">
              <a:lnSpc>
                <a:spcPct val="130000"/>
              </a:lnSpc>
              <a:buFont typeface="Wingdings" charset="2"/>
              <a:buChar char=""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Cú pháp: 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buClr>
                <a:srgbClr val="E46C0A"/>
              </a:buClr>
              <a:buFont typeface="Verdana" pitchFamily="32" charset="0"/>
              <a:buNone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1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&lt;input type=</a:t>
            </a:r>
            <a:r>
              <a:rPr lang="en-US" sz="2100">
                <a:solidFill>
                  <a:srgbClr val="0070C0"/>
                </a:solidFill>
                <a:latin typeface="Verdana" pitchFamily="32" charset="0"/>
                <a:ea typeface="DejaVu Sans" charset="0"/>
                <a:cs typeface="DejaVu Sans" charset="0"/>
              </a:rPr>
              <a:t>“BUTTON”</a:t>
            </a:r>
            <a:r>
              <a:rPr lang="en-US" sz="21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1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name=</a:t>
            </a:r>
            <a:r>
              <a:rPr lang="en-US" sz="2100">
                <a:solidFill>
                  <a:srgbClr val="0070C0"/>
                </a:solidFill>
                <a:latin typeface="Verdana" pitchFamily="32" charset="0"/>
                <a:ea typeface="DejaVu Sans" charset="0"/>
                <a:cs typeface="DejaVu Sans" charset="0"/>
              </a:rPr>
              <a:t>“…” </a:t>
            </a:r>
            <a:r>
              <a:rPr lang="en-US" sz="21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value =</a:t>
            </a:r>
            <a:r>
              <a:rPr lang="en-US" sz="2100">
                <a:solidFill>
                  <a:srgbClr val="0070C0"/>
                </a:solidFill>
                <a:latin typeface="Verdana" pitchFamily="32" charset="0"/>
                <a:ea typeface="DejaVu Sans" charset="0"/>
                <a:cs typeface="DejaVu Sans" charset="0"/>
              </a:rPr>
              <a:t>“…” </a:t>
            </a:r>
            <a:r>
              <a:rPr lang="en-US" sz="21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onclick =</a:t>
            </a:r>
            <a:r>
              <a:rPr lang="en-US" sz="2100">
                <a:solidFill>
                  <a:srgbClr val="0070C0"/>
                </a:solidFill>
                <a:latin typeface="Verdana" pitchFamily="32" charset="0"/>
                <a:ea typeface="DejaVu Sans" charset="0"/>
                <a:cs typeface="DejaVu Sans" charset="0"/>
              </a:rPr>
              <a:t> “script”</a:t>
            </a:r>
            <a:r>
              <a:rPr lang="en-US" sz="21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&gt;</a:t>
            </a:r>
          </a:p>
          <a:p>
            <a:pPr marL="334963" lvl="1" indent="-334963">
              <a:lnSpc>
                <a:spcPct val="130000"/>
              </a:lnSpc>
              <a:buFont typeface="Wingdings" charset="2"/>
              <a:buChar char=""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Ví dụ:</a:t>
            </a:r>
          </a:p>
        </p:txBody>
      </p:sp>
      <p:pic>
        <p:nvPicPr>
          <p:cNvPr id="7" name="Picture 6" descr="GeneralButtonD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2204506"/>
            <a:ext cx="7543800" cy="300431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4"/>
          <a:srcRect b="6534"/>
          <a:stretch>
            <a:fillRect/>
          </a:stretch>
        </p:blipFill>
        <p:spPr bwMode="auto">
          <a:xfrm>
            <a:off x="3352800" y="4419600"/>
            <a:ext cx="5610225" cy="1905000"/>
          </a:xfrm>
          <a:prstGeom prst="rect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</p:pic>
      <p:cxnSp>
        <p:nvCxnSpPr>
          <p:cNvPr id="27653" name="AutoShape 5"/>
          <p:cNvCxnSpPr>
            <a:cxnSpLocks noChangeShapeType="1"/>
          </p:cNvCxnSpPr>
          <p:nvPr/>
        </p:nvCxnSpPr>
        <p:spPr bwMode="auto">
          <a:xfrm flipH="1">
            <a:off x="5257800" y="4572000"/>
            <a:ext cx="1752600" cy="838200"/>
          </a:xfrm>
          <a:prstGeom prst="straightConnector1">
            <a:avLst/>
          </a:prstGeom>
          <a:noFill/>
          <a:ln w="25560">
            <a:solidFill>
              <a:srgbClr val="C00000"/>
            </a:solidFill>
            <a:prstDash val="sysDot"/>
            <a:miter lim="800000"/>
            <a:headEnd/>
            <a:tailEnd type="triangle" w="med" len="med"/>
          </a:ln>
          <a:effectLst/>
        </p:spPr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ext Box 1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46800" rIns="0" bIns="46800" anchor="ctr"/>
          <a:lstStyle/>
          <a:p>
            <a:pPr algn="ctr">
              <a:buClr>
                <a:srgbClr val="FFFFFF"/>
              </a:buCl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e-DE" sz="2800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Form Fields – Field Set</a:t>
            </a:r>
          </a:p>
        </p:txBody>
      </p:sp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76200" y="558800"/>
            <a:ext cx="9067800" cy="30210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marL="234950" lvl="1" indent="-234950">
              <a:lnSpc>
                <a:spcPct val="130000"/>
              </a:lnSpc>
              <a:buFont typeface="Wingdings" charset="2"/>
              <a:buChar char=""/>
              <a:tabLst>
                <a:tab pos="234950" algn="l"/>
                <a:tab pos="1149350" algn="l"/>
                <a:tab pos="2063750" algn="l"/>
                <a:tab pos="2978150" algn="l"/>
                <a:tab pos="3892550" algn="l"/>
                <a:tab pos="4806950" algn="l"/>
                <a:tab pos="5721350" algn="l"/>
                <a:tab pos="6635750" algn="l"/>
                <a:tab pos="7550150" algn="l"/>
                <a:tab pos="8464550" algn="l"/>
                <a:tab pos="9378950" algn="l"/>
                <a:tab pos="10293350" algn="l"/>
              </a:tabLst>
            </a:pP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Dùng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để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tạo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nhóm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các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thành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phần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nhập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liệu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.</a:t>
            </a:r>
          </a:p>
          <a:p>
            <a:pPr marL="234950" lvl="1" indent="-234950">
              <a:lnSpc>
                <a:spcPct val="130000"/>
              </a:lnSpc>
              <a:buFont typeface="Wingdings" charset="2"/>
              <a:buChar char=""/>
              <a:tabLst>
                <a:tab pos="234950" algn="l"/>
                <a:tab pos="1149350" algn="l"/>
                <a:tab pos="2063750" algn="l"/>
                <a:tab pos="2978150" algn="l"/>
                <a:tab pos="3892550" algn="l"/>
                <a:tab pos="4806950" algn="l"/>
                <a:tab pos="5721350" algn="l"/>
                <a:tab pos="6635750" algn="l"/>
                <a:tab pos="7550150" algn="l"/>
                <a:tab pos="8464550" algn="l"/>
                <a:tab pos="9378950" algn="l"/>
                <a:tab pos="10293350" algn="l"/>
              </a:tabLst>
            </a:pP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Cú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pháp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: </a:t>
            </a:r>
          </a:p>
          <a:p>
            <a:pPr lvl="2">
              <a:lnSpc>
                <a:spcPct val="130000"/>
              </a:lnSpc>
              <a:buClr>
                <a:srgbClr val="E46C0A"/>
              </a:buClr>
              <a:buFont typeface="Verdana" pitchFamily="32" charset="0"/>
              <a:buNone/>
              <a:tabLst>
                <a:tab pos="234950" algn="l"/>
                <a:tab pos="1149350" algn="l"/>
                <a:tab pos="2063750" algn="l"/>
                <a:tab pos="2978150" algn="l"/>
                <a:tab pos="3892550" algn="l"/>
                <a:tab pos="4806950" algn="l"/>
                <a:tab pos="5721350" algn="l"/>
                <a:tab pos="6635750" algn="l"/>
                <a:tab pos="7550150" algn="l"/>
                <a:tab pos="8464550" algn="l"/>
                <a:tab pos="9378950" algn="l"/>
                <a:tab pos="10293350" algn="l"/>
              </a:tabLst>
            </a:pPr>
            <a:r>
              <a:rPr lang="en-US" sz="2100" dirty="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&lt;FIELDSET </a:t>
            </a:r>
          </a:p>
          <a:p>
            <a:pPr lvl="2">
              <a:buClr>
                <a:srgbClr val="E46C0A"/>
              </a:buClr>
              <a:buFont typeface="Verdana" pitchFamily="32" charset="0"/>
              <a:buNone/>
              <a:tabLst>
                <a:tab pos="234950" algn="l"/>
                <a:tab pos="1149350" algn="l"/>
                <a:tab pos="2063750" algn="l"/>
                <a:tab pos="2978150" algn="l"/>
                <a:tab pos="3892550" algn="l"/>
                <a:tab pos="4806950" algn="l"/>
                <a:tab pos="5721350" algn="l"/>
                <a:tab pos="6635750" algn="l"/>
                <a:tab pos="7550150" algn="l"/>
                <a:tab pos="8464550" algn="l"/>
                <a:tab pos="9378950" algn="l"/>
                <a:tab pos="10293350" algn="l"/>
              </a:tabLst>
            </a:pPr>
            <a:r>
              <a:rPr lang="en-US" sz="2100" dirty="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	</a:t>
            </a:r>
            <a:r>
              <a:rPr lang="en-US" sz="22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200" dirty="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&lt;legend&gt;</a:t>
            </a:r>
            <a:r>
              <a:rPr lang="en-US" sz="2200" dirty="0" err="1">
                <a:solidFill>
                  <a:srgbClr val="0070C0"/>
                </a:solidFill>
                <a:latin typeface="Verdana" pitchFamily="32" charset="0"/>
                <a:ea typeface="DejaVu Sans" charset="0"/>
                <a:cs typeface="DejaVu Sans" charset="0"/>
              </a:rPr>
              <a:t>GroupBox’s</a:t>
            </a:r>
            <a:r>
              <a:rPr lang="en-US" sz="2200" dirty="0">
                <a:solidFill>
                  <a:srgbClr val="0070C0"/>
                </a:solidFill>
                <a:latin typeface="Verdana" pitchFamily="32" charset="0"/>
                <a:ea typeface="DejaVu Sans" charset="0"/>
                <a:cs typeface="DejaVu Sans" charset="0"/>
              </a:rPr>
              <a:t> Name</a:t>
            </a:r>
            <a:r>
              <a:rPr lang="en-US" sz="2200" dirty="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&lt;/legend&gt;</a:t>
            </a:r>
          </a:p>
          <a:p>
            <a:pPr lvl="2">
              <a:buFont typeface="Verdana" pitchFamily="32" charset="0"/>
              <a:buNone/>
              <a:tabLst>
                <a:tab pos="234950" algn="l"/>
                <a:tab pos="1149350" algn="l"/>
                <a:tab pos="2063750" algn="l"/>
                <a:tab pos="2978150" algn="l"/>
                <a:tab pos="3892550" algn="l"/>
                <a:tab pos="4806950" algn="l"/>
                <a:tab pos="5721350" algn="l"/>
                <a:tab pos="6635750" algn="l"/>
                <a:tab pos="7550150" algn="l"/>
                <a:tab pos="8464550" algn="l"/>
                <a:tab pos="9378950" algn="l"/>
                <a:tab pos="10293350" algn="l"/>
              </a:tabLst>
            </a:pPr>
            <a:r>
              <a:rPr lang="en-US" sz="22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	</a:t>
            </a:r>
            <a:r>
              <a:rPr lang="en-US" sz="2200" dirty="0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200" dirty="0" smtClean="0">
                <a:solidFill>
                  <a:srgbClr val="0070C0"/>
                </a:solidFill>
                <a:latin typeface="Verdana" pitchFamily="32" charset="0"/>
                <a:ea typeface="DejaVu Sans" charset="0"/>
                <a:cs typeface="DejaVu Sans" charset="0"/>
              </a:rPr>
              <a:t>&lt;</a:t>
            </a:r>
            <a:r>
              <a:rPr lang="en-US" sz="2200" dirty="0">
                <a:solidFill>
                  <a:srgbClr val="0070C0"/>
                </a:solidFill>
                <a:latin typeface="Verdana" pitchFamily="32" charset="0"/>
                <a:ea typeface="DejaVu Sans" charset="0"/>
                <a:cs typeface="DejaVu Sans" charset="0"/>
              </a:rPr>
              <a:t>input ……&gt;</a:t>
            </a:r>
          </a:p>
          <a:p>
            <a:pPr lvl="2">
              <a:lnSpc>
                <a:spcPct val="130000"/>
              </a:lnSpc>
              <a:buClr>
                <a:srgbClr val="E46C0A"/>
              </a:buClr>
              <a:buFont typeface="Verdana" pitchFamily="32" charset="0"/>
              <a:buNone/>
              <a:tabLst>
                <a:tab pos="234950" algn="l"/>
                <a:tab pos="1149350" algn="l"/>
                <a:tab pos="2063750" algn="l"/>
                <a:tab pos="2978150" algn="l"/>
                <a:tab pos="3892550" algn="l"/>
                <a:tab pos="4806950" algn="l"/>
                <a:tab pos="5721350" algn="l"/>
                <a:tab pos="6635750" algn="l"/>
                <a:tab pos="7550150" algn="l"/>
                <a:tab pos="8464550" algn="l"/>
                <a:tab pos="9378950" algn="l"/>
                <a:tab pos="10293350" algn="l"/>
              </a:tabLst>
            </a:pPr>
            <a:r>
              <a:rPr lang="en-US" sz="2100" dirty="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&lt;/FIELDSET&gt;</a:t>
            </a:r>
          </a:p>
          <a:p>
            <a:pPr marL="234950" lvl="1" indent="-234950">
              <a:lnSpc>
                <a:spcPct val="130000"/>
              </a:lnSpc>
              <a:buFont typeface="Wingdings" charset="2"/>
              <a:buChar char=""/>
              <a:tabLst>
                <a:tab pos="234950" algn="l"/>
                <a:tab pos="1149350" algn="l"/>
                <a:tab pos="2063750" algn="l"/>
                <a:tab pos="2978150" algn="l"/>
                <a:tab pos="3892550" algn="l"/>
                <a:tab pos="4806950" algn="l"/>
                <a:tab pos="5721350" algn="l"/>
                <a:tab pos="6635750" algn="l"/>
                <a:tab pos="7550150" algn="l"/>
                <a:tab pos="8464550" algn="l"/>
                <a:tab pos="9378950" algn="l"/>
                <a:tab pos="10293350" algn="l"/>
              </a:tabLst>
            </a:pP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Ví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dụ</a:t>
            </a: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:</a:t>
            </a:r>
          </a:p>
        </p:txBody>
      </p:sp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3722688"/>
            <a:ext cx="8382000" cy="2373312"/>
          </a:xfrm>
          <a:prstGeom prst="rect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</p:pic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400800" y="2971800"/>
            <a:ext cx="2400300" cy="1371600"/>
          </a:xfrm>
          <a:prstGeom prst="rect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ext Box 1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46800" rIns="0" bIns="46800" anchor="ctr"/>
          <a:lstStyle/>
          <a:p>
            <a:pPr algn="ctr">
              <a:buClr>
                <a:srgbClr val="FFFFFF"/>
              </a:buCl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e-DE" sz="2800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Form Fields – Label</a:t>
            </a:r>
          </a:p>
        </p:txBody>
      </p:sp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76200" y="558800"/>
            <a:ext cx="9067800" cy="35988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marL="334963" lvl="1" indent="-334963">
              <a:lnSpc>
                <a:spcPct val="130000"/>
              </a:lnSpc>
              <a:buFont typeface="Wingdings" charset="2"/>
              <a:buChar char=""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Dùng để gán nhãn cho một  Form Field</a:t>
            </a:r>
          </a:p>
          <a:p>
            <a:pPr marL="334963" lvl="1" indent="-334963">
              <a:lnSpc>
                <a:spcPct val="130000"/>
              </a:lnSpc>
              <a:buFont typeface="Wingdings" charset="2"/>
              <a:buChar char=""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Cú pháp: </a:t>
            </a:r>
          </a:p>
          <a:p>
            <a:pPr>
              <a:lnSpc>
                <a:spcPct val="130000"/>
              </a:lnSpc>
              <a:buClr>
                <a:srgbClr val="E46C0A"/>
              </a:buClr>
              <a:buFont typeface="Verdana" pitchFamily="32" charset="0"/>
              <a:buNone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1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&lt;LABEL </a:t>
            </a:r>
          </a:p>
          <a:p>
            <a:pPr>
              <a:lnSpc>
                <a:spcPct val="130000"/>
              </a:lnSpc>
              <a:buClr>
                <a:srgbClr val="E46C0A"/>
              </a:buClr>
              <a:buFont typeface="Verdana" pitchFamily="32" charset="0"/>
              <a:buNone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1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	for = </a:t>
            </a:r>
            <a:r>
              <a:rPr lang="en-US" sz="2100">
                <a:solidFill>
                  <a:srgbClr val="0070C0"/>
                </a:solidFill>
                <a:latin typeface="Verdana" pitchFamily="32" charset="0"/>
                <a:ea typeface="DejaVu Sans" charset="0"/>
                <a:cs typeface="DejaVu Sans" charset="0"/>
              </a:rPr>
              <a:t>IDString</a:t>
            </a:r>
          </a:p>
          <a:p>
            <a:pPr>
              <a:lnSpc>
                <a:spcPct val="130000"/>
              </a:lnSpc>
              <a:buClr>
                <a:srgbClr val="E46C0A"/>
              </a:buClr>
              <a:buFont typeface="Verdana" pitchFamily="32" charset="0"/>
              <a:buNone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1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	class = </a:t>
            </a:r>
            <a:r>
              <a:rPr lang="en-US" sz="2100">
                <a:solidFill>
                  <a:srgbClr val="0070C0"/>
                </a:solidFill>
                <a:latin typeface="Verdana" pitchFamily="32" charset="0"/>
                <a:ea typeface="DejaVu Sans" charset="0"/>
                <a:cs typeface="DejaVu Sans" charset="0"/>
              </a:rPr>
              <a:t>string</a:t>
            </a:r>
          </a:p>
          <a:p>
            <a:pPr>
              <a:lnSpc>
                <a:spcPct val="130000"/>
              </a:lnSpc>
              <a:buClr>
                <a:srgbClr val="E46C0A"/>
              </a:buClr>
              <a:buFont typeface="Verdana" pitchFamily="32" charset="0"/>
              <a:buNone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1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	stype = </a:t>
            </a:r>
            <a:r>
              <a:rPr lang="en-US" sz="2100">
                <a:solidFill>
                  <a:srgbClr val="0070C0"/>
                </a:solidFill>
                <a:latin typeface="Verdana" pitchFamily="32" charset="0"/>
                <a:ea typeface="DejaVu Sans" charset="0"/>
                <a:cs typeface="DejaVu Sans" charset="0"/>
              </a:rPr>
              <a:t>string</a:t>
            </a:r>
          </a:p>
          <a:p>
            <a:pPr>
              <a:lnSpc>
                <a:spcPct val="130000"/>
              </a:lnSpc>
              <a:buClr>
                <a:srgbClr val="E46C0A"/>
              </a:buClr>
              <a:buFont typeface="Verdana" pitchFamily="32" charset="0"/>
              <a:buNone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1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&gt;</a:t>
            </a:r>
          </a:p>
          <a:p>
            <a:pPr marL="334963" lvl="1" indent="-334963">
              <a:lnSpc>
                <a:spcPct val="130000"/>
              </a:lnSpc>
              <a:buFont typeface="Wingdings" charset="2"/>
              <a:buChar char=""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Ví dụ:</a:t>
            </a:r>
          </a:p>
        </p:txBody>
      </p:sp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4222750"/>
            <a:ext cx="7924800" cy="2085975"/>
          </a:xfrm>
          <a:prstGeom prst="rect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</p:pic>
      <p:pic>
        <p:nvPicPr>
          <p:cNvPr id="2970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53000" y="3429000"/>
            <a:ext cx="3797300" cy="990600"/>
          </a:xfrm>
          <a:prstGeom prst="rect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ext Box 1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46800" rIns="0" bIns="46800" anchor="ctr"/>
          <a:lstStyle/>
          <a:p>
            <a:pPr algn="ctr">
              <a:buClr>
                <a:srgbClr val="FFFFFF"/>
              </a:buCl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e-DE" sz="2800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Phương thức POST/GET – Link Parameters</a:t>
            </a:r>
          </a:p>
        </p:txBody>
      </p:sp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76200" y="558800"/>
            <a:ext cx="8686800" cy="4562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marL="334963" lvl="1" indent="-334963" algn="just">
              <a:lnSpc>
                <a:spcPct val="150000"/>
              </a:lnSpc>
              <a:buFont typeface="Wingdings" charset="2"/>
              <a:buChar char=""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Sau khi nút Submit được nhấn, tất cả dữ liệu người dùng nhập vào form sẽ được gửi đến trang xử lý (giá trị của thuộc tính “Action”).</a:t>
            </a:r>
          </a:p>
          <a:p>
            <a:pPr marL="334963" lvl="1" indent="-334963" algn="just">
              <a:lnSpc>
                <a:spcPct val="150000"/>
              </a:lnSpc>
              <a:buFont typeface="Wingdings" charset="2"/>
              <a:buChar char=""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Mỗi form field sẽ là một đối số trong dữ liệu gửi đến trang xử lý.</a:t>
            </a:r>
          </a:p>
          <a:p>
            <a:pPr marL="334963" lvl="1" indent="-334963" algn="just">
              <a:lnSpc>
                <a:spcPct val="150000"/>
              </a:lnSpc>
              <a:buFont typeface="Wingdings" charset="2"/>
              <a:buChar char=""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Gồm 2 phương thức </a:t>
            </a:r>
            <a:r>
              <a:rPr lang="en-US" sz="2400">
                <a:solidFill>
                  <a:srgbClr val="00B0F0"/>
                </a:solidFill>
                <a:latin typeface="Verdana" pitchFamily="32" charset="0"/>
                <a:ea typeface="DejaVu Sans" charset="0"/>
                <a:cs typeface="DejaVu Sans" charset="0"/>
              </a:rPr>
              <a:t>POST/GET </a:t>
            </a: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để chuyển dữ liệu đến trang xử lý.</a:t>
            </a:r>
          </a:p>
          <a:p>
            <a:pPr marL="334963" lvl="1" indent="-334963" algn="just">
              <a:lnSpc>
                <a:spcPct val="130000"/>
              </a:lnSpc>
              <a:spcBef>
                <a:spcPts val="1200"/>
              </a:spcBef>
              <a:buFont typeface="Wingdings" charset="2"/>
              <a:buNone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endParaRPr lang="en-US" sz="240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ext Box 1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46800" rIns="0" bIns="46800" anchor="ctr"/>
          <a:lstStyle/>
          <a:p>
            <a:pPr algn="ctr">
              <a:buClr>
                <a:srgbClr val="FFFFFF"/>
              </a:buCl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e-DE" sz="2800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Phương thức POST</a:t>
            </a:r>
          </a:p>
        </p:txBody>
      </p:sp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76200" y="558800"/>
            <a:ext cx="8686800" cy="48656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marL="334963" lvl="1" indent="-334963" algn="just">
              <a:lnSpc>
                <a:spcPct val="150000"/>
              </a:lnSpc>
              <a:buFont typeface="Wingdings" charset="2"/>
              <a:buChar char=""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Các đối số của Form được truyền “ngầm” bên dưới ( được gửi trong phần body của http request ).</a:t>
            </a:r>
          </a:p>
          <a:p>
            <a:pPr marL="334963" lvl="1" indent="-334963" algn="just">
              <a:lnSpc>
                <a:spcPct val="150000"/>
              </a:lnSpc>
              <a:spcBef>
                <a:spcPts val="1200"/>
              </a:spcBef>
              <a:buFont typeface="Wingdings" charset="2"/>
              <a:buChar char=""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Khối lượng dữ liệu và đối số được truyền đi của Form không phụ thuộc vào độ dài URL </a:t>
            </a:r>
            <a:r>
              <a:rPr lang="en-US" sz="2400">
                <a:solidFill>
                  <a:srgbClr val="000000"/>
                </a:solidFill>
                <a:latin typeface="Wingdings" charset="2"/>
                <a:ea typeface="DejaVu Sans" charset="0"/>
                <a:cs typeface="DejaVu Sans" charset="0"/>
              </a:rPr>
              <a:t></a:t>
            </a: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không bị hạn chế.</a:t>
            </a:r>
          </a:p>
          <a:p>
            <a:pPr marL="334963" lvl="1" indent="-334963" algn="just">
              <a:lnSpc>
                <a:spcPct val="150000"/>
              </a:lnSpc>
              <a:spcBef>
                <a:spcPts val="1200"/>
              </a:spcBef>
              <a:buFont typeface="Wingdings" charset="2"/>
              <a:buChar char=""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Ví dụ cụ thể là gửi file lên server (đính kèm file trong diễn đàn hoặc gửi thư)‏</a:t>
            </a:r>
          </a:p>
          <a:p>
            <a:pPr marL="334963" lvl="1" indent="-334963" algn="just">
              <a:lnSpc>
                <a:spcPct val="130000"/>
              </a:lnSpc>
              <a:spcBef>
                <a:spcPts val="1200"/>
              </a:spcBef>
              <a:buFont typeface="Wingdings" charset="2"/>
              <a:buNone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endParaRPr lang="en-US" sz="240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ext Box 1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46800" rIns="0" bIns="46800" anchor="ctr"/>
          <a:lstStyle/>
          <a:p>
            <a:pPr algn="ctr">
              <a:buClr>
                <a:srgbClr val="FFFFFF"/>
              </a:buCl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e-DE" sz="2800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Phương thức POST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228600" y="533400"/>
            <a:ext cx="1295400" cy="365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5000" rIns="90000" bIns="45000"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Ví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dụ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:</a:t>
            </a:r>
          </a:p>
        </p:txBody>
      </p:sp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152400" y="2971800"/>
            <a:ext cx="8839200" cy="22844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5000" rIns="90000" bIns="45000"/>
          <a:lstStyle/>
          <a:p>
            <a:pPr marL="171450" indent="-168275" algn="just">
              <a:lnSpc>
                <a:spcPct val="150000"/>
              </a:lnSpc>
              <a:buSzPct val="45000"/>
              <a:buFont typeface="Wingdings" charset="2"/>
              <a:buChar char=""/>
              <a:tabLst>
                <a:tab pos="2749550" algn="l"/>
                <a:tab pos="3663950" algn="l"/>
                <a:tab pos="4578350" algn="l"/>
                <a:tab pos="5492750" algn="l"/>
                <a:tab pos="6407150" algn="l"/>
                <a:tab pos="7321550" algn="l"/>
                <a:tab pos="8235950" algn="l"/>
                <a:tab pos="9150350" algn="l"/>
                <a:tab pos="10064750" algn="l"/>
              </a:tabLst>
            </a:pPr>
            <a:r>
              <a:rPr lang="en-US" sz="22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Sau</a:t>
            </a:r>
            <a:r>
              <a:rPr lang="en-US" sz="22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khi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nhấn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Submit,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dữ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liệu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user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nhập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vào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text field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FirstName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và</a:t>
            </a:r>
            <a:r>
              <a:rPr lang="en-US" sz="22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LastName</a:t>
            </a:r>
            <a:r>
              <a:rPr lang="en-US" sz="22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sẽ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được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gửi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đến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trang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process.php.</a:t>
            </a:r>
          </a:p>
          <a:p>
            <a:pPr marL="171450" indent="-168275" algn="just">
              <a:lnSpc>
                <a:spcPct val="150000"/>
              </a:lnSpc>
              <a:buSzPct val="45000"/>
              <a:buFont typeface="Wingdings" charset="2"/>
              <a:buChar char=""/>
              <a:tabLst>
                <a:tab pos="2749550" algn="l"/>
                <a:tab pos="3663950" algn="l"/>
                <a:tab pos="4578350" algn="l"/>
                <a:tab pos="5492750" algn="l"/>
                <a:tab pos="6407150" algn="l"/>
                <a:tab pos="7321550" algn="l"/>
                <a:tab pos="8235950" algn="l"/>
                <a:tab pos="9150350" algn="l"/>
                <a:tab pos="10064750" algn="l"/>
              </a:tabLst>
            </a:pPr>
            <a:r>
              <a:rPr lang="en-US" sz="22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Khi</a:t>
            </a:r>
            <a:r>
              <a:rPr lang="en-US" sz="22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trang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process.php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được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server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xử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lý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xong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và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hiển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thị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lại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trên</a:t>
            </a:r>
            <a:r>
              <a:rPr lang="en-US" sz="22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web 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browser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thì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address bar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của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browser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chỉ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thể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hiện</a:t>
            </a:r>
            <a:r>
              <a:rPr lang="en-US" sz="22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.</a:t>
            </a:r>
            <a:endParaRPr lang="en-US" sz="2200" dirty="0">
              <a:solidFill>
                <a:srgbClr val="000000"/>
              </a:solidFill>
              <a:latin typeface="Verdana" pitchFamily="34" charset="0"/>
              <a:ea typeface="DejaVu Sans" charset="0"/>
              <a:cs typeface="DejaVu Sans" charset="0"/>
            </a:endParaRPr>
          </a:p>
          <a:p>
            <a:pPr marL="6350" indent="-3175">
              <a:tabLst>
                <a:tab pos="6350" algn="l"/>
                <a:tab pos="920750" algn="l"/>
                <a:tab pos="1835150" algn="l"/>
                <a:tab pos="2749550" algn="l"/>
                <a:tab pos="3663950" algn="l"/>
                <a:tab pos="4578350" algn="l"/>
                <a:tab pos="5492750" algn="l"/>
                <a:tab pos="6407150" algn="l"/>
                <a:tab pos="7321550" algn="l"/>
                <a:tab pos="8235950" algn="l"/>
                <a:tab pos="9150350" algn="l"/>
                <a:tab pos="10064750" algn="l"/>
              </a:tabLst>
            </a:pPr>
            <a:endParaRPr lang="en-US" dirty="0">
              <a:solidFill>
                <a:srgbClr val="000000"/>
              </a:solidFill>
              <a:ea typeface="DejaVu Sans" charset="0"/>
              <a:cs typeface="DejaVu Sans" charset="0"/>
            </a:endParaRPr>
          </a:p>
          <a:p>
            <a:pPr marL="6350" indent="-3175" algn="ctr">
              <a:tabLst>
                <a:tab pos="6350" algn="l"/>
                <a:tab pos="920750" algn="l"/>
                <a:tab pos="1835150" algn="l"/>
                <a:tab pos="2749550" algn="l"/>
                <a:tab pos="3663950" algn="l"/>
                <a:tab pos="4578350" algn="l"/>
                <a:tab pos="5492750" algn="l"/>
                <a:tab pos="6407150" algn="l"/>
                <a:tab pos="7321550" algn="l"/>
                <a:tab pos="8235950" algn="l"/>
                <a:tab pos="9150350" algn="l"/>
                <a:tab pos="10064750" algn="l"/>
              </a:tabLst>
            </a:pPr>
            <a:endParaRPr lang="en-US" dirty="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32773" name="Freeform 5"/>
          <p:cNvSpPr>
            <a:spLocks/>
          </p:cNvSpPr>
          <p:nvPr/>
        </p:nvSpPr>
        <p:spPr bwMode="auto">
          <a:xfrm>
            <a:off x="5867400" y="2133600"/>
            <a:ext cx="1222375" cy="685800"/>
          </a:xfrm>
          <a:custGeom>
            <a:avLst/>
            <a:gdLst/>
            <a:ahLst/>
            <a:cxnLst>
              <a:cxn ang="0">
                <a:pos x="0" y="635"/>
              </a:cxn>
              <a:cxn ang="0">
                <a:pos x="2758" y="1270"/>
              </a:cxn>
              <a:cxn ang="0">
                <a:pos x="853" y="1905"/>
              </a:cxn>
            </a:cxnLst>
            <a:rect l="0" t="0" r="r" b="b"/>
            <a:pathLst>
              <a:path w="3394" h="1906">
                <a:moveTo>
                  <a:pt x="0" y="635"/>
                </a:moveTo>
                <a:cubicBezTo>
                  <a:pt x="1905" y="0"/>
                  <a:pt x="3393" y="635"/>
                  <a:pt x="2758" y="1270"/>
                </a:cubicBezTo>
                <a:cubicBezTo>
                  <a:pt x="2123" y="1905"/>
                  <a:pt x="853" y="1905"/>
                  <a:pt x="853" y="1905"/>
                </a:cubicBezTo>
              </a:path>
            </a:pathLst>
          </a:custGeom>
          <a:noFill/>
          <a:ln w="25560">
            <a:solidFill>
              <a:srgbClr val="000000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10" name="Picture 9" descr="Pstmetho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905503"/>
            <a:ext cx="8229600" cy="199009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1" name="Rectangle 10"/>
          <p:cNvSpPr/>
          <p:nvPr/>
        </p:nvSpPr>
        <p:spPr>
          <a:xfrm>
            <a:off x="1600200" y="5105400"/>
            <a:ext cx="5562600" cy="12003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6350" indent="-3175" algn="ctr">
              <a:tabLst>
                <a:tab pos="6350" algn="l"/>
                <a:tab pos="920750" algn="l"/>
                <a:tab pos="1835150" algn="l"/>
                <a:tab pos="2749550" algn="l"/>
                <a:tab pos="3663950" algn="l"/>
                <a:tab pos="4578350" algn="l"/>
                <a:tab pos="5492750" algn="l"/>
                <a:tab pos="6407150" algn="l"/>
                <a:tab pos="7321550" algn="l"/>
                <a:tab pos="8235950" algn="l"/>
                <a:tab pos="9150350" algn="l"/>
                <a:tab pos="10064750" algn="l"/>
              </a:tabLst>
            </a:pPr>
            <a:r>
              <a:rPr lang="en-US" sz="2400" dirty="0" smtClean="0">
                <a:solidFill>
                  <a:srgbClr val="0070C0"/>
                </a:solidFill>
                <a:ea typeface="DejaVu Sans" charset="0"/>
                <a:cs typeface="DejaVu Sans" charset="0"/>
              </a:rPr>
              <a:t>http://......./process.php</a:t>
            </a:r>
          </a:p>
          <a:p>
            <a:pPr marL="6350" indent="-3175">
              <a:tabLst>
                <a:tab pos="6350" algn="l"/>
                <a:tab pos="920750" algn="l"/>
                <a:tab pos="1835150" algn="l"/>
                <a:tab pos="2749550" algn="l"/>
                <a:tab pos="3663950" algn="l"/>
                <a:tab pos="4578350" algn="l"/>
                <a:tab pos="5492750" algn="l"/>
                <a:tab pos="6407150" algn="l"/>
                <a:tab pos="7321550" algn="l"/>
                <a:tab pos="8235950" algn="l"/>
                <a:tab pos="9150350" algn="l"/>
                <a:tab pos="10064750" algn="l"/>
              </a:tabLst>
            </a:pPr>
            <a:endParaRPr lang="en-US" sz="2400" dirty="0" smtClean="0">
              <a:solidFill>
                <a:srgbClr val="0070C0"/>
              </a:solidFill>
              <a:ea typeface="DejaVu Sans" charset="0"/>
              <a:cs typeface="DejaVu Sans" charset="0"/>
            </a:endParaRPr>
          </a:p>
          <a:p>
            <a:pPr marL="6350" indent="-3175" algn="ctr">
              <a:tabLst>
                <a:tab pos="6350" algn="l"/>
                <a:tab pos="920750" algn="l"/>
                <a:tab pos="1835150" algn="l"/>
                <a:tab pos="2749550" algn="l"/>
                <a:tab pos="3663950" algn="l"/>
                <a:tab pos="4578350" algn="l"/>
                <a:tab pos="5492750" algn="l"/>
                <a:tab pos="6407150" algn="l"/>
                <a:tab pos="7321550" algn="l"/>
                <a:tab pos="8235950" algn="l"/>
                <a:tab pos="9150350" algn="l"/>
                <a:tab pos="10064750" algn="l"/>
              </a:tabLst>
            </a:pPr>
            <a:r>
              <a:rPr lang="en-US" sz="2400" dirty="0" smtClean="0">
                <a:solidFill>
                  <a:srgbClr val="0070C0"/>
                </a:solidFill>
                <a:ea typeface="DejaVu Sans" charset="0"/>
                <a:cs typeface="DejaVu Sans" charset="0"/>
              </a:rPr>
              <a:t>(</a:t>
            </a:r>
            <a:r>
              <a:rPr lang="en-US" sz="2400" dirty="0" err="1" smtClean="0">
                <a:solidFill>
                  <a:srgbClr val="0070C0"/>
                </a:solidFill>
                <a:ea typeface="DejaVu Sans" charset="0"/>
                <a:cs typeface="DejaVu Sans" charset="0"/>
              </a:rPr>
              <a:t>không</a:t>
            </a:r>
            <a:r>
              <a:rPr lang="en-US" sz="2400" dirty="0" smtClean="0">
                <a:solidFill>
                  <a:srgbClr val="0070C0"/>
                </a:solidFill>
                <a:ea typeface="DejaVu Sans" charset="0"/>
                <a:cs typeface="DejaVu Sans" charset="0"/>
              </a:rPr>
              <a:t> </a:t>
            </a:r>
            <a:r>
              <a:rPr lang="en-US" sz="2400" dirty="0" err="1" smtClean="0">
                <a:solidFill>
                  <a:srgbClr val="0070C0"/>
                </a:solidFill>
                <a:ea typeface="DejaVu Sans" charset="0"/>
                <a:cs typeface="DejaVu Sans" charset="0"/>
              </a:rPr>
              <a:t>có</a:t>
            </a:r>
            <a:r>
              <a:rPr lang="en-US" sz="2400" dirty="0" smtClean="0">
                <a:solidFill>
                  <a:srgbClr val="0070C0"/>
                </a:solidFill>
                <a:ea typeface="DejaVu Sans" charset="0"/>
                <a:cs typeface="DejaVu Sans" charset="0"/>
              </a:rPr>
              <a:t> </a:t>
            </a:r>
            <a:r>
              <a:rPr lang="en-US" sz="2400" dirty="0" err="1" smtClean="0">
                <a:solidFill>
                  <a:srgbClr val="0070C0"/>
                </a:solidFill>
                <a:ea typeface="DejaVu Sans" charset="0"/>
                <a:cs typeface="DejaVu Sans" charset="0"/>
              </a:rPr>
              <a:t>gì</a:t>
            </a:r>
            <a:r>
              <a:rPr lang="en-US" sz="2400" dirty="0" smtClean="0">
                <a:solidFill>
                  <a:srgbClr val="0070C0"/>
                </a:solidFill>
                <a:ea typeface="DejaVu Sans" charset="0"/>
                <a:cs typeface="DejaVu Sans" charset="0"/>
              </a:rPr>
              <a:t> </a:t>
            </a:r>
            <a:r>
              <a:rPr lang="en-US" sz="2400" dirty="0" err="1" smtClean="0">
                <a:solidFill>
                  <a:srgbClr val="0070C0"/>
                </a:solidFill>
                <a:ea typeface="DejaVu Sans" charset="0"/>
                <a:cs typeface="DejaVu Sans" charset="0"/>
              </a:rPr>
              <a:t>sau</a:t>
            </a:r>
            <a:r>
              <a:rPr lang="en-US" sz="2400" dirty="0" smtClean="0">
                <a:solidFill>
                  <a:srgbClr val="0070C0"/>
                </a:solidFill>
                <a:ea typeface="DejaVu Sans" charset="0"/>
                <a:cs typeface="DejaVu Sans" charset="0"/>
              </a:rPr>
              <a:t> process.php)</a:t>
            </a:r>
            <a:r>
              <a:rPr lang="en-US" dirty="0" smtClean="0">
                <a:solidFill>
                  <a:srgbClr val="0070C0"/>
                </a:solidFill>
                <a:ea typeface="DejaVu Sans" charset="0"/>
                <a:cs typeface="DejaVu Sans" charset="0"/>
              </a:rPr>
              <a:t> ‏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2" name="Curved Up Arrow 11"/>
          <p:cNvSpPr/>
          <p:nvPr/>
        </p:nvSpPr>
        <p:spPr bwMode="auto">
          <a:xfrm rot="14891913">
            <a:off x="5846461" y="5296961"/>
            <a:ext cx="919335" cy="536279"/>
          </a:xfrm>
          <a:prstGeom prst="curvedUpArrow">
            <a:avLst/>
          </a:pr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itchFamily="32" charset="0"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Calibri" pitchFamily="32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609600"/>
            <a:ext cx="7179854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680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2895600"/>
            <a:ext cx="7179854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680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362200" y="4038600"/>
            <a:ext cx="6506123" cy="2057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ext Box 1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46800" rIns="0" bIns="46800" anchor="ctr"/>
          <a:lstStyle/>
          <a:p>
            <a:pPr algn="ctr">
              <a:buClr>
                <a:srgbClr val="FFFFFF"/>
              </a:buCl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e-DE" sz="2800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Phương thức GET</a:t>
            </a:r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736600"/>
            <a:ext cx="8229600" cy="4437063"/>
          </a:xfrm>
          <a:ln/>
        </p:spPr>
        <p:txBody>
          <a:bodyPr lIns="0" tIns="0" rIns="0" bIns="0"/>
          <a:lstStyle/>
          <a:p>
            <a:pPr marL="171450" indent="-171450" algn="just">
              <a:lnSpc>
                <a:spcPct val="150000"/>
              </a:lnSpc>
              <a:buFont typeface="Wingdings" pitchFamily="2" charset="2"/>
              <a:buChar char="§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</a:pPr>
            <a:r>
              <a:rPr lang="en-US" sz="2400" dirty="0" err="1">
                <a:latin typeface="Verdana" pitchFamily="34" charset="0"/>
              </a:rPr>
              <a:t>Các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 err="1">
                <a:latin typeface="Verdana" pitchFamily="34" charset="0"/>
              </a:rPr>
              <a:t>đối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 err="1">
                <a:latin typeface="Verdana" pitchFamily="34" charset="0"/>
              </a:rPr>
              <a:t>số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 err="1">
                <a:latin typeface="Verdana" pitchFamily="34" charset="0"/>
              </a:rPr>
              <a:t>của</a:t>
            </a:r>
            <a:r>
              <a:rPr lang="en-US" sz="2400" dirty="0">
                <a:latin typeface="Verdana" pitchFamily="34" charset="0"/>
              </a:rPr>
              <a:t> Form </a:t>
            </a:r>
            <a:r>
              <a:rPr lang="en-US" sz="2400" dirty="0" err="1">
                <a:latin typeface="Verdana" pitchFamily="34" charset="0"/>
              </a:rPr>
              <a:t>được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 err="1">
                <a:solidFill>
                  <a:srgbClr val="00B0F0"/>
                </a:solidFill>
                <a:latin typeface="Verdana" pitchFamily="34" charset="0"/>
              </a:rPr>
              <a:t>ghi</a:t>
            </a:r>
            <a:r>
              <a:rPr lang="en-US" sz="2400" dirty="0">
                <a:solidFill>
                  <a:srgbClr val="00B0F0"/>
                </a:solidFill>
                <a:latin typeface="Verdana" pitchFamily="34" charset="0"/>
              </a:rPr>
              <a:t> </a:t>
            </a:r>
            <a:r>
              <a:rPr lang="en-US" sz="2400" dirty="0" err="1">
                <a:solidFill>
                  <a:srgbClr val="00B0F0"/>
                </a:solidFill>
                <a:latin typeface="Verdana" pitchFamily="34" charset="0"/>
              </a:rPr>
              <a:t>kèm</a:t>
            </a:r>
            <a:r>
              <a:rPr lang="en-US" sz="2400" dirty="0">
                <a:solidFill>
                  <a:srgbClr val="00B0F0"/>
                </a:solidFill>
                <a:latin typeface="Verdana" pitchFamily="34" charset="0"/>
              </a:rPr>
              <a:t> </a:t>
            </a:r>
            <a:r>
              <a:rPr lang="en-US" sz="2400" dirty="0" err="1">
                <a:solidFill>
                  <a:srgbClr val="00B0F0"/>
                </a:solidFill>
                <a:latin typeface="Verdana" pitchFamily="34" charset="0"/>
              </a:rPr>
              <a:t>theo</a:t>
            </a:r>
            <a:r>
              <a:rPr lang="en-US" sz="2400" dirty="0">
                <a:solidFill>
                  <a:srgbClr val="00B0F0"/>
                </a:solidFill>
                <a:latin typeface="Verdana" pitchFamily="34" charset="0"/>
              </a:rPr>
              <a:t> </a:t>
            </a:r>
            <a:r>
              <a:rPr lang="en-US" sz="2400" dirty="0" err="1">
                <a:solidFill>
                  <a:srgbClr val="00B0F0"/>
                </a:solidFill>
                <a:latin typeface="Verdana" pitchFamily="34" charset="0"/>
              </a:rPr>
              <a:t>vào</a:t>
            </a:r>
            <a:r>
              <a:rPr lang="en-US" sz="2400" dirty="0">
                <a:solidFill>
                  <a:srgbClr val="00B0F0"/>
                </a:solidFill>
                <a:latin typeface="Verdana" pitchFamily="34" charset="0"/>
              </a:rPr>
              <a:t> </a:t>
            </a:r>
            <a:r>
              <a:rPr lang="en-US" sz="2400" dirty="0" err="1">
                <a:solidFill>
                  <a:srgbClr val="00B0F0"/>
                </a:solidFill>
                <a:latin typeface="Verdana" pitchFamily="34" charset="0"/>
              </a:rPr>
              <a:t>đường</a:t>
            </a:r>
            <a:r>
              <a:rPr lang="en-US" sz="2400" dirty="0">
                <a:solidFill>
                  <a:srgbClr val="00B0F0"/>
                </a:solidFill>
                <a:latin typeface="Verdana" pitchFamily="34" charset="0"/>
              </a:rPr>
              <a:t> </a:t>
            </a:r>
            <a:r>
              <a:rPr lang="en-US" sz="2400" dirty="0" err="1">
                <a:solidFill>
                  <a:srgbClr val="00B0F0"/>
                </a:solidFill>
                <a:latin typeface="Verdana" pitchFamily="34" charset="0"/>
              </a:rPr>
              <a:t>dẫn</a:t>
            </a:r>
            <a:r>
              <a:rPr lang="en-US" sz="2400" dirty="0">
                <a:solidFill>
                  <a:srgbClr val="00B0F0"/>
                </a:solidFill>
                <a:latin typeface="Verdana" pitchFamily="34" charset="0"/>
              </a:rPr>
              <a:t> URL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 err="1">
                <a:latin typeface="Verdana" pitchFamily="34" charset="0"/>
              </a:rPr>
              <a:t>của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 err="1">
                <a:latin typeface="Verdana" pitchFamily="34" charset="0"/>
              </a:rPr>
              <a:t>thuộc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 err="1">
                <a:latin typeface="Verdana" pitchFamily="34" charset="0"/>
              </a:rPr>
              <a:t>tính</a:t>
            </a:r>
            <a:r>
              <a:rPr lang="en-US" sz="2400" dirty="0">
                <a:latin typeface="Verdana" pitchFamily="34" charset="0"/>
              </a:rPr>
              <a:t> Action </a:t>
            </a:r>
            <a:r>
              <a:rPr lang="en-US" sz="2400" dirty="0" err="1">
                <a:latin typeface="Verdana" pitchFamily="34" charset="0"/>
              </a:rPr>
              <a:t>trong</a:t>
            </a:r>
            <a:r>
              <a:rPr lang="en-US" sz="2400" dirty="0">
                <a:latin typeface="Verdana" pitchFamily="34" charset="0"/>
              </a:rPr>
              <a:t> tag &lt;Form&gt;</a:t>
            </a:r>
          </a:p>
          <a:p>
            <a:pPr marL="171450" indent="-171450" algn="just">
              <a:lnSpc>
                <a:spcPct val="150000"/>
              </a:lnSpc>
              <a:buFont typeface="Wingdings" pitchFamily="2" charset="2"/>
              <a:buChar char="§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</a:pPr>
            <a:r>
              <a:rPr lang="en-US" sz="2400" dirty="0" err="1">
                <a:latin typeface="Verdana" pitchFamily="34" charset="0"/>
              </a:rPr>
              <a:t>Lượng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 err="1">
                <a:latin typeface="Verdana" pitchFamily="34" charset="0"/>
              </a:rPr>
              <a:t>dữ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 err="1">
                <a:latin typeface="Verdana" pitchFamily="34" charset="0"/>
              </a:rPr>
              <a:t>liệu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 err="1">
                <a:latin typeface="Verdana" pitchFamily="34" charset="0"/>
              </a:rPr>
              <a:t>được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 err="1">
                <a:latin typeface="Verdana" pitchFamily="34" charset="0"/>
              </a:rPr>
              <a:t>đối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 err="1">
                <a:latin typeface="Verdana" pitchFamily="34" charset="0"/>
              </a:rPr>
              <a:t>số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 err="1">
                <a:latin typeface="Verdana" pitchFamily="34" charset="0"/>
              </a:rPr>
              <a:t>truyền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 err="1">
                <a:latin typeface="Verdana" pitchFamily="34" charset="0"/>
              </a:rPr>
              <a:t>đi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 err="1">
                <a:latin typeface="Verdana" pitchFamily="34" charset="0"/>
              </a:rPr>
              <a:t>bị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 err="1">
                <a:latin typeface="Verdana" pitchFamily="34" charset="0"/>
              </a:rPr>
              <a:t>giới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 err="1">
                <a:latin typeface="Verdana" pitchFamily="34" charset="0"/>
              </a:rPr>
              <a:t>hạn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 err="1">
                <a:latin typeface="Verdana" pitchFamily="34" charset="0"/>
              </a:rPr>
              <a:t>bởi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 err="1">
                <a:latin typeface="Verdana" pitchFamily="34" charset="0"/>
              </a:rPr>
              <a:t>chiều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 err="1">
                <a:latin typeface="Verdana" pitchFamily="34" charset="0"/>
              </a:rPr>
              <a:t>dài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 err="1">
                <a:latin typeface="Verdana" pitchFamily="34" charset="0"/>
              </a:rPr>
              <a:t>tối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 err="1">
                <a:latin typeface="Verdana" pitchFamily="34" charset="0"/>
              </a:rPr>
              <a:t>đa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 err="1">
                <a:latin typeface="Verdana" pitchFamily="34" charset="0"/>
              </a:rPr>
              <a:t>của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 err="1">
                <a:latin typeface="Verdana" pitchFamily="34" charset="0"/>
              </a:rPr>
              <a:t>một</a:t>
            </a:r>
            <a:r>
              <a:rPr lang="en-US" sz="2400" dirty="0">
                <a:latin typeface="Verdana" pitchFamily="34" charset="0"/>
              </a:rPr>
              <a:t> URL </a:t>
            </a:r>
            <a:r>
              <a:rPr lang="en-US" sz="2400" dirty="0" err="1">
                <a:latin typeface="Verdana" pitchFamily="34" charset="0"/>
              </a:rPr>
              <a:t>trên</a:t>
            </a:r>
            <a:r>
              <a:rPr lang="en-US" sz="2400" dirty="0">
                <a:latin typeface="Verdana" pitchFamily="34" charset="0"/>
              </a:rPr>
              <a:t> Address bar (max = </a:t>
            </a:r>
            <a:r>
              <a:rPr lang="en-US" sz="2400" dirty="0">
                <a:solidFill>
                  <a:srgbClr val="00B0F0"/>
                </a:solidFill>
                <a:latin typeface="Verdana" pitchFamily="34" charset="0"/>
              </a:rPr>
              <a:t>2048 bytes</a:t>
            </a:r>
            <a:r>
              <a:rPr lang="en-US" sz="2400" dirty="0">
                <a:latin typeface="Verdana" pitchFamily="34" charset="0"/>
              </a:rPr>
              <a:t>).</a:t>
            </a:r>
          </a:p>
          <a:p>
            <a:pPr marL="171450" indent="-171450" algn="just">
              <a:lnSpc>
                <a:spcPct val="150000"/>
              </a:lnSpc>
              <a:buFont typeface="Wingdings" pitchFamily="2" charset="2"/>
              <a:buChar char="§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</a:pPr>
            <a:r>
              <a:rPr lang="en-US" sz="2400" dirty="0" err="1">
                <a:latin typeface="Verdana" pitchFamily="34" charset="0"/>
              </a:rPr>
              <a:t>Ưu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 err="1">
                <a:latin typeface="Verdana" pitchFamily="34" charset="0"/>
              </a:rPr>
              <a:t>điểm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 err="1">
                <a:latin typeface="Verdana" pitchFamily="34" charset="0"/>
              </a:rPr>
              <a:t>là</a:t>
            </a:r>
            <a:r>
              <a:rPr lang="en-US" sz="2400" dirty="0">
                <a:latin typeface="Verdana" pitchFamily="34" charset="0"/>
              </a:rPr>
              <a:t> user </a:t>
            </a:r>
            <a:r>
              <a:rPr lang="en-US" sz="2400" dirty="0" err="1">
                <a:latin typeface="Verdana" pitchFamily="34" charset="0"/>
              </a:rPr>
              <a:t>có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 err="1">
                <a:latin typeface="Verdana" pitchFamily="34" charset="0"/>
              </a:rPr>
              <a:t>thể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 err="1">
                <a:latin typeface="Verdana" pitchFamily="34" charset="0"/>
              </a:rPr>
              <a:t>thấy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 err="1">
                <a:latin typeface="Verdana" pitchFamily="34" charset="0"/>
              </a:rPr>
              <a:t>được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 err="1">
                <a:latin typeface="Verdana" pitchFamily="34" charset="0"/>
              </a:rPr>
              <a:t>dữ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 err="1">
                <a:latin typeface="Verdana" pitchFamily="34" charset="0"/>
              </a:rPr>
              <a:t>liệu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 err="1">
                <a:latin typeface="Verdana" pitchFamily="34" charset="0"/>
              </a:rPr>
              <a:t>nhập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 err="1">
                <a:latin typeface="Verdana" pitchFamily="34" charset="0"/>
              </a:rPr>
              <a:t>vào</a:t>
            </a:r>
            <a:r>
              <a:rPr lang="en-US" sz="2400" dirty="0">
                <a:latin typeface="Verdana" pitchFamily="34" charset="0"/>
              </a:rPr>
              <a:t> form </a:t>
            </a:r>
            <a:r>
              <a:rPr lang="en-US" sz="2400" dirty="0" err="1">
                <a:latin typeface="Verdana" pitchFamily="34" charset="0"/>
              </a:rPr>
              <a:t>truyền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 err="1">
                <a:latin typeface="Verdana" pitchFamily="34" charset="0"/>
              </a:rPr>
              <a:t>lên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 err="1">
                <a:latin typeface="Verdana" pitchFamily="34" charset="0"/>
              </a:rPr>
              <a:t>trang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 err="1">
                <a:latin typeface="Verdana" pitchFamily="34" charset="0"/>
              </a:rPr>
              <a:t>xử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 err="1">
                <a:latin typeface="Verdana" pitchFamily="34" charset="0"/>
              </a:rPr>
              <a:t>lý</a:t>
            </a:r>
            <a:r>
              <a:rPr lang="en-US" sz="2400" dirty="0">
                <a:latin typeface="Verdana" pitchFamily="34" charset="0"/>
              </a:rPr>
              <a:t> (</a:t>
            </a:r>
            <a:r>
              <a:rPr lang="en-US" sz="2400" dirty="0" err="1">
                <a:latin typeface="Verdana" pitchFamily="34" charset="0"/>
              </a:rPr>
              <a:t>thông</a:t>
            </a:r>
            <a:r>
              <a:rPr lang="en-US" sz="2400" dirty="0">
                <a:latin typeface="Verdana" pitchFamily="34" charset="0"/>
              </a:rPr>
              <a:t> qua </a:t>
            </a:r>
            <a:r>
              <a:rPr lang="en-US" sz="2400" dirty="0" err="1">
                <a:latin typeface="Verdana" pitchFamily="34" charset="0"/>
              </a:rPr>
              <a:t>những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 err="1">
                <a:latin typeface="Verdana" pitchFamily="34" charset="0"/>
              </a:rPr>
              <a:t>đối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 err="1">
                <a:latin typeface="Verdana" pitchFamily="34" charset="0"/>
              </a:rPr>
              <a:t>số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 err="1">
                <a:latin typeface="Verdana" pitchFamily="34" charset="0"/>
              </a:rPr>
              <a:t>kèm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 err="1">
                <a:latin typeface="Verdana" pitchFamily="34" charset="0"/>
              </a:rPr>
              <a:t>vào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 err="1">
                <a:latin typeface="Verdana" pitchFamily="34" charset="0"/>
              </a:rPr>
              <a:t>đường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 err="1">
                <a:latin typeface="Verdana" pitchFamily="34" charset="0"/>
              </a:rPr>
              <a:t>dẫn</a:t>
            </a:r>
            <a:r>
              <a:rPr lang="en-US" sz="2400" dirty="0">
                <a:latin typeface="Verdana" pitchFamily="34" charset="0"/>
              </a:rPr>
              <a:t> URL)‏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ext Box 1"/>
          <p:cNvSpPr txBox="1">
            <a:spLocks noChangeArrowheads="1"/>
          </p:cNvSpPr>
          <p:nvPr/>
        </p:nvSpPr>
        <p:spPr bwMode="auto">
          <a:xfrm>
            <a:off x="76200" y="0"/>
            <a:ext cx="8915400" cy="600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46800" rIns="0" bIns="46800" anchor="ctr"/>
          <a:lstStyle/>
          <a:p>
            <a:pPr algn="ctr">
              <a:buClr>
                <a:srgbClr val="FFFFFF"/>
              </a:buCl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e-DE" sz="2800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Phương thức GET</a:t>
            </a: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152400" y="533400"/>
            <a:ext cx="1298575" cy="365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5000" rIns="90000" bIns="45000"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Ví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dụ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:</a:t>
            </a:r>
          </a:p>
        </p:txBody>
      </p:sp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1" y="2819400"/>
            <a:ext cx="8991600" cy="22844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5000" rIns="90000" bIns="45000"/>
          <a:lstStyle/>
          <a:p>
            <a:pPr marL="171450" indent="-168275" algn="just">
              <a:lnSpc>
                <a:spcPct val="150000"/>
              </a:lnSpc>
              <a:buSzPct val="45000"/>
              <a:buFont typeface="Wingdings" charset="2"/>
              <a:buChar char=""/>
              <a:tabLst>
                <a:tab pos="920750" algn="l"/>
                <a:tab pos="1835150" algn="l"/>
                <a:tab pos="2749550" algn="l"/>
                <a:tab pos="3663950" algn="l"/>
                <a:tab pos="4578350" algn="l"/>
                <a:tab pos="5492750" algn="l"/>
                <a:tab pos="6407150" algn="l"/>
                <a:tab pos="7321550" algn="l"/>
                <a:tab pos="8235950" algn="l"/>
                <a:tab pos="9150350" algn="l"/>
                <a:tab pos="10064750" algn="l"/>
              </a:tabLst>
            </a:pPr>
            <a:r>
              <a:rPr lang="en-US" sz="22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Sau</a:t>
            </a:r>
            <a:r>
              <a:rPr lang="en-US" sz="22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khi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nhấn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Submit,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dữ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liệu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user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nhập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vào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text field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FirstName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và</a:t>
            </a:r>
            <a:r>
              <a:rPr lang="en-US" sz="22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LastName</a:t>
            </a:r>
            <a:r>
              <a:rPr lang="en-US" sz="22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sẽ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được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gửi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đến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trang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process.php.</a:t>
            </a:r>
          </a:p>
          <a:p>
            <a:pPr marL="171450" indent="-168275" algn="just">
              <a:lnSpc>
                <a:spcPct val="150000"/>
              </a:lnSpc>
              <a:buSzPct val="45000"/>
              <a:buFont typeface="Wingdings" charset="2"/>
              <a:buChar char=""/>
              <a:tabLst>
                <a:tab pos="920750" algn="l"/>
                <a:tab pos="1835150" algn="l"/>
                <a:tab pos="2749550" algn="l"/>
                <a:tab pos="3663950" algn="l"/>
                <a:tab pos="4578350" algn="l"/>
                <a:tab pos="5492750" algn="l"/>
                <a:tab pos="6407150" algn="l"/>
                <a:tab pos="7321550" algn="l"/>
                <a:tab pos="8235950" algn="l"/>
                <a:tab pos="9150350" algn="l"/>
                <a:tab pos="10064750" algn="l"/>
              </a:tabLst>
            </a:pPr>
            <a:r>
              <a:rPr lang="en-US" sz="22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Khi</a:t>
            </a:r>
            <a:r>
              <a:rPr lang="en-US" sz="22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trang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process.php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được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server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xử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lý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xong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và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hiển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thị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lại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trên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2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web 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browser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thì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address bar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của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browser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sẽ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thể</a:t>
            </a:r>
            <a:r>
              <a:rPr lang="en-US" sz="2200" dirty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hiện</a:t>
            </a:r>
            <a:r>
              <a:rPr lang="en-US" sz="2200" dirty="0" smtClean="0">
                <a:solidFill>
                  <a:srgbClr val="000000"/>
                </a:solidFill>
                <a:latin typeface="Verdana" pitchFamily="34" charset="0"/>
                <a:ea typeface="DejaVu Sans" charset="0"/>
                <a:cs typeface="DejaVu Sans" charset="0"/>
              </a:rPr>
              <a:t>.</a:t>
            </a:r>
            <a:endParaRPr lang="en-US" sz="2200" dirty="0">
              <a:solidFill>
                <a:srgbClr val="000000"/>
              </a:solidFill>
              <a:latin typeface="Verdana" pitchFamily="34" charset="0"/>
              <a:ea typeface="DejaVu Sans" charset="0"/>
              <a:cs typeface="DejaVu Sans" charset="0"/>
            </a:endParaRPr>
          </a:p>
          <a:p>
            <a:pPr marL="6350" indent="-3175">
              <a:tabLst>
                <a:tab pos="6350" algn="l"/>
                <a:tab pos="920750" algn="l"/>
                <a:tab pos="1835150" algn="l"/>
                <a:tab pos="2749550" algn="l"/>
                <a:tab pos="3663950" algn="l"/>
                <a:tab pos="4578350" algn="l"/>
                <a:tab pos="5492750" algn="l"/>
                <a:tab pos="6407150" algn="l"/>
                <a:tab pos="7321550" algn="l"/>
                <a:tab pos="8235950" algn="l"/>
                <a:tab pos="9150350" algn="l"/>
                <a:tab pos="10064750" algn="l"/>
              </a:tabLst>
            </a:pPr>
            <a:endParaRPr lang="en-US" dirty="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pic>
        <p:nvPicPr>
          <p:cNvPr id="7" name="Picture 6" descr="GetMetho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914400"/>
            <a:ext cx="8458200" cy="182343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685800" y="5029200"/>
            <a:ext cx="7924800" cy="11079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6350" indent="-3175" algn="ctr">
              <a:tabLst>
                <a:tab pos="6350" algn="l"/>
                <a:tab pos="920750" algn="l"/>
                <a:tab pos="1835150" algn="l"/>
                <a:tab pos="2749550" algn="l"/>
                <a:tab pos="3663950" algn="l"/>
                <a:tab pos="4578350" algn="l"/>
                <a:tab pos="5492750" algn="l"/>
                <a:tab pos="6407150" algn="l"/>
                <a:tab pos="7321550" algn="l"/>
                <a:tab pos="8235950" algn="l"/>
                <a:tab pos="9150350" algn="l"/>
                <a:tab pos="10064750" algn="l"/>
              </a:tabLst>
            </a:pPr>
            <a:r>
              <a:rPr lang="en-US" sz="2200" dirty="0" smtClean="0">
                <a:solidFill>
                  <a:srgbClr val="0070C0"/>
                </a:solidFill>
                <a:ea typeface="DejaVu Sans" charset="0"/>
                <a:cs typeface="DejaVu Sans" charset="0"/>
              </a:rPr>
              <a:t>http://......./</a:t>
            </a:r>
            <a:r>
              <a:rPr lang="en-US" sz="2200" dirty="0" err="1" smtClean="0">
                <a:solidFill>
                  <a:srgbClr val="0070C0"/>
                </a:solidFill>
                <a:ea typeface="DejaVu Sans" charset="0"/>
                <a:cs typeface="DejaVu Sans" charset="0"/>
              </a:rPr>
              <a:t>process.php?FirstName</a:t>
            </a:r>
            <a:r>
              <a:rPr lang="en-US" sz="2200" dirty="0" smtClean="0">
                <a:solidFill>
                  <a:srgbClr val="0070C0"/>
                </a:solidFill>
                <a:ea typeface="DejaVu Sans" charset="0"/>
                <a:cs typeface="DejaVu Sans" charset="0"/>
              </a:rPr>
              <a:t>=...&amp;</a:t>
            </a:r>
            <a:r>
              <a:rPr lang="en-US" sz="2200" dirty="0" err="1" smtClean="0">
                <a:solidFill>
                  <a:srgbClr val="0070C0"/>
                </a:solidFill>
                <a:ea typeface="DejaVu Sans" charset="0"/>
                <a:cs typeface="DejaVu Sans" charset="0"/>
              </a:rPr>
              <a:t>LastName</a:t>
            </a:r>
            <a:r>
              <a:rPr lang="en-US" sz="2200" dirty="0" smtClean="0">
                <a:solidFill>
                  <a:srgbClr val="0070C0"/>
                </a:solidFill>
                <a:ea typeface="DejaVu Sans" charset="0"/>
                <a:cs typeface="DejaVu Sans" charset="0"/>
              </a:rPr>
              <a:t>=....</a:t>
            </a:r>
          </a:p>
          <a:p>
            <a:pPr marL="6350" indent="-3175">
              <a:tabLst>
                <a:tab pos="6350" algn="l"/>
                <a:tab pos="920750" algn="l"/>
                <a:tab pos="1835150" algn="l"/>
                <a:tab pos="2749550" algn="l"/>
                <a:tab pos="3663950" algn="l"/>
                <a:tab pos="4578350" algn="l"/>
                <a:tab pos="5492750" algn="l"/>
                <a:tab pos="6407150" algn="l"/>
                <a:tab pos="7321550" algn="l"/>
                <a:tab pos="8235950" algn="l"/>
                <a:tab pos="9150350" algn="l"/>
                <a:tab pos="10064750" algn="l"/>
              </a:tabLst>
            </a:pPr>
            <a:endParaRPr lang="en-US" sz="2200" dirty="0" smtClean="0">
              <a:solidFill>
                <a:srgbClr val="0070C0"/>
              </a:solidFill>
              <a:ea typeface="DejaVu Sans" charset="0"/>
              <a:cs typeface="DejaVu Sans" charset="0"/>
            </a:endParaRPr>
          </a:p>
          <a:p>
            <a:pPr marL="6350" indent="-3175" algn="ctr">
              <a:tabLst>
                <a:tab pos="6350" algn="l"/>
                <a:tab pos="920750" algn="l"/>
                <a:tab pos="1835150" algn="l"/>
                <a:tab pos="2749550" algn="l"/>
                <a:tab pos="3663950" algn="l"/>
                <a:tab pos="4578350" algn="l"/>
                <a:tab pos="5492750" algn="l"/>
                <a:tab pos="6407150" algn="l"/>
                <a:tab pos="7321550" algn="l"/>
                <a:tab pos="8235950" algn="l"/>
                <a:tab pos="9150350" algn="l"/>
                <a:tab pos="10064750" algn="l"/>
              </a:tabLst>
            </a:pPr>
            <a:r>
              <a:rPr lang="en-US" sz="2200" dirty="0" smtClean="0">
                <a:solidFill>
                  <a:srgbClr val="0070C0"/>
                </a:solidFill>
                <a:ea typeface="DejaVu Sans" charset="0"/>
                <a:cs typeface="DejaVu Sans" charset="0"/>
              </a:rPr>
              <a:t>(</a:t>
            </a:r>
            <a:r>
              <a:rPr lang="en-US" sz="2200" dirty="0" err="1" smtClean="0">
                <a:solidFill>
                  <a:srgbClr val="0070C0"/>
                </a:solidFill>
                <a:ea typeface="DejaVu Sans" charset="0"/>
                <a:cs typeface="DejaVu Sans" charset="0"/>
              </a:rPr>
              <a:t>dữ</a:t>
            </a:r>
            <a:r>
              <a:rPr lang="en-US" sz="2200" dirty="0" smtClean="0">
                <a:solidFill>
                  <a:srgbClr val="0070C0"/>
                </a:solidFill>
                <a:ea typeface="DejaVu Sans" charset="0"/>
                <a:cs typeface="DejaVu Sans" charset="0"/>
              </a:rPr>
              <a:t> </a:t>
            </a:r>
            <a:r>
              <a:rPr lang="en-US" sz="2200" dirty="0" err="1" smtClean="0">
                <a:solidFill>
                  <a:srgbClr val="0070C0"/>
                </a:solidFill>
                <a:ea typeface="DejaVu Sans" charset="0"/>
                <a:cs typeface="DejaVu Sans" charset="0"/>
              </a:rPr>
              <a:t>liệu</a:t>
            </a:r>
            <a:r>
              <a:rPr lang="en-US" sz="2200" dirty="0" smtClean="0">
                <a:solidFill>
                  <a:srgbClr val="0070C0"/>
                </a:solidFill>
                <a:ea typeface="DejaVu Sans" charset="0"/>
                <a:cs typeface="DejaVu Sans" charset="0"/>
              </a:rPr>
              <a:t> user </a:t>
            </a:r>
            <a:r>
              <a:rPr lang="en-US" sz="2200" dirty="0" err="1" smtClean="0">
                <a:solidFill>
                  <a:srgbClr val="0070C0"/>
                </a:solidFill>
                <a:ea typeface="DejaVu Sans" charset="0"/>
                <a:cs typeface="DejaVu Sans" charset="0"/>
              </a:rPr>
              <a:t>nhập</a:t>
            </a:r>
            <a:r>
              <a:rPr lang="en-US" sz="2200" dirty="0" smtClean="0">
                <a:solidFill>
                  <a:srgbClr val="0070C0"/>
                </a:solidFill>
                <a:ea typeface="DejaVu Sans" charset="0"/>
                <a:cs typeface="DejaVu Sans" charset="0"/>
              </a:rPr>
              <a:t> </a:t>
            </a:r>
            <a:r>
              <a:rPr lang="en-US" sz="2200" dirty="0" err="1" smtClean="0">
                <a:solidFill>
                  <a:srgbClr val="0070C0"/>
                </a:solidFill>
                <a:ea typeface="DejaVu Sans" charset="0"/>
                <a:cs typeface="DejaVu Sans" charset="0"/>
              </a:rPr>
              <a:t>đưa</a:t>
            </a:r>
            <a:r>
              <a:rPr lang="en-US" sz="2200" dirty="0" smtClean="0">
                <a:solidFill>
                  <a:srgbClr val="0070C0"/>
                </a:solidFill>
                <a:ea typeface="DejaVu Sans" charset="0"/>
                <a:cs typeface="DejaVu Sans" charset="0"/>
              </a:rPr>
              <a:t> </a:t>
            </a:r>
            <a:r>
              <a:rPr lang="en-US" sz="2200" dirty="0" err="1" smtClean="0">
                <a:solidFill>
                  <a:srgbClr val="0070C0"/>
                </a:solidFill>
                <a:ea typeface="DejaVu Sans" charset="0"/>
                <a:cs typeface="DejaVu Sans" charset="0"/>
              </a:rPr>
              <a:t>thẳng</a:t>
            </a:r>
            <a:r>
              <a:rPr lang="en-US" sz="2200" dirty="0" smtClean="0">
                <a:solidFill>
                  <a:srgbClr val="0070C0"/>
                </a:solidFill>
                <a:ea typeface="DejaVu Sans" charset="0"/>
                <a:cs typeface="DejaVu Sans" charset="0"/>
              </a:rPr>
              <a:t> </a:t>
            </a:r>
            <a:r>
              <a:rPr lang="en-US" sz="2200" dirty="0" err="1" smtClean="0">
                <a:solidFill>
                  <a:srgbClr val="0070C0"/>
                </a:solidFill>
                <a:ea typeface="DejaVu Sans" charset="0"/>
                <a:cs typeface="DejaVu Sans" charset="0"/>
              </a:rPr>
              <a:t>vào</a:t>
            </a:r>
            <a:r>
              <a:rPr lang="en-US" sz="2200" dirty="0" smtClean="0">
                <a:solidFill>
                  <a:srgbClr val="0070C0"/>
                </a:solidFill>
                <a:ea typeface="DejaVu Sans" charset="0"/>
                <a:cs typeface="DejaVu Sans" charset="0"/>
              </a:rPr>
              <a:t> </a:t>
            </a:r>
            <a:r>
              <a:rPr lang="en-US" sz="2200" dirty="0" err="1" smtClean="0">
                <a:solidFill>
                  <a:srgbClr val="0070C0"/>
                </a:solidFill>
                <a:ea typeface="DejaVu Sans" charset="0"/>
                <a:cs typeface="DejaVu Sans" charset="0"/>
              </a:rPr>
              <a:t>địa</a:t>
            </a:r>
            <a:r>
              <a:rPr lang="en-US" sz="2200" dirty="0" smtClean="0">
                <a:solidFill>
                  <a:srgbClr val="0070C0"/>
                </a:solidFill>
                <a:ea typeface="DejaVu Sans" charset="0"/>
                <a:cs typeface="DejaVu Sans" charset="0"/>
              </a:rPr>
              <a:t> </a:t>
            </a:r>
            <a:r>
              <a:rPr lang="en-US" sz="2200" dirty="0" err="1" smtClean="0">
                <a:solidFill>
                  <a:srgbClr val="0070C0"/>
                </a:solidFill>
                <a:ea typeface="DejaVu Sans" charset="0"/>
                <a:cs typeface="DejaVu Sans" charset="0"/>
              </a:rPr>
              <a:t>chỉ</a:t>
            </a:r>
            <a:r>
              <a:rPr lang="en-US" sz="2200" dirty="0" smtClean="0">
                <a:solidFill>
                  <a:srgbClr val="0070C0"/>
                </a:solidFill>
                <a:ea typeface="DejaVu Sans" charset="0"/>
                <a:cs typeface="DejaVu Sans" charset="0"/>
              </a:rPr>
              <a:t> process.php)‏</a:t>
            </a:r>
            <a:endParaRPr lang="en-US" sz="2200" dirty="0">
              <a:solidFill>
                <a:srgbClr val="0070C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9" name="Curved Up Arrow 8"/>
          <p:cNvSpPr/>
          <p:nvPr/>
        </p:nvSpPr>
        <p:spPr bwMode="auto">
          <a:xfrm rot="14891913">
            <a:off x="7580010" y="5211236"/>
            <a:ext cx="919335" cy="536279"/>
          </a:xfrm>
          <a:prstGeom prst="curvedUpArrow">
            <a:avLst/>
          </a:pr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itchFamily="32" charset="0"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Calibri" pitchFamily="32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533400"/>
            <a:ext cx="7315200" cy="2329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2819400"/>
            <a:ext cx="7315200" cy="2329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15036" y="4038601"/>
            <a:ext cx="6538439" cy="2057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ext Box 1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46800" rIns="0" bIns="46800" anchor="ctr"/>
          <a:lstStyle/>
          <a:p>
            <a:pPr algn="ctr">
              <a:buClr>
                <a:srgbClr val="FFFFFF"/>
              </a:buCl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e-DE" sz="2800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Thẻ Marquee</a:t>
            </a:r>
          </a:p>
        </p:txBody>
      </p:sp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76200" y="558800"/>
            <a:ext cx="8686800" cy="58435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marL="334963" lvl="1" indent="-334963" algn="just">
              <a:lnSpc>
                <a:spcPct val="150000"/>
              </a:lnSpc>
              <a:buFont typeface="Wingdings" charset="2"/>
              <a:buChar char=""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Dùng để tạo hiệu ứng chữ chạy trên màn hình trình duyệt.</a:t>
            </a:r>
          </a:p>
          <a:p>
            <a:pPr marL="334963" lvl="1" indent="-334963" algn="just">
              <a:lnSpc>
                <a:spcPct val="150000"/>
              </a:lnSpc>
              <a:spcBef>
                <a:spcPts val="600"/>
              </a:spcBef>
              <a:buFont typeface="Wingdings" charset="2"/>
              <a:buChar char=""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Cú pháp:</a:t>
            </a:r>
          </a:p>
          <a:p>
            <a:pPr marL="334963" lvl="1" indent="-334963" algn="just">
              <a:lnSpc>
                <a:spcPct val="130000"/>
              </a:lnSpc>
              <a:buClr>
                <a:srgbClr val="E46C0A"/>
              </a:buClr>
              <a:buFont typeface="Verdana" pitchFamily="32" charset="0"/>
              <a:buNone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&lt;MARQUEE</a:t>
            </a:r>
          </a:p>
          <a:p>
            <a:pPr marL="334963" lvl="1" indent="-334963" algn="just">
              <a:lnSpc>
                <a:spcPct val="130000"/>
              </a:lnSpc>
              <a:buFont typeface="Verdana" pitchFamily="32" charset="0"/>
              <a:buNone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		</a:t>
            </a:r>
            <a:r>
              <a:rPr lang="en-US" sz="24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behavior 	   = </a:t>
            </a:r>
            <a:r>
              <a:rPr lang="en-US" sz="2400">
                <a:solidFill>
                  <a:srgbClr val="0070C0"/>
                </a:solidFill>
                <a:latin typeface="Verdana" pitchFamily="32" charset="0"/>
                <a:ea typeface="DejaVu Sans" charset="0"/>
                <a:cs typeface="DejaVu Sans" charset="0"/>
              </a:rPr>
              <a:t>ALTERNATE | SCROLL | SLIDE</a:t>
            </a:r>
          </a:p>
          <a:p>
            <a:pPr marL="334963" lvl="1" indent="-334963" algn="just">
              <a:lnSpc>
                <a:spcPct val="130000"/>
              </a:lnSpc>
              <a:buFont typeface="Verdana" pitchFamily="32" charset="0"/>
              <a:buNone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		</a:t>
            </a:r>
            <a:r>
              <a:rPr lang="en-US" sz="24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director   	   = </a:t>
            </a:r>
            <a:r>
              <a:rPr lang="en-US" sz="2400">
                <a:solidFill>
                  <a:srgbClr val="0070C0"/>
                </a:solidFill>
                <a:latin typeface="Verdana" pitchFamily="32" charset="0"/>
                <a:ea typeface="DejaVu Sans" charset="0"/>
                <a:cs typeface="DejaVu Sans" charset="0"/>
              </a:rPr>
              <a:t>DOWN | LEFT | RIGHT | UP</a:t>
            </a:r>
          </a:p>
          <a:p>
            <a:pPr marL="334963" lvl="1" indent="-334963" algn="just">
              <a:lnSpc>
                <a:spcPct val="130000"/>
              </a:lnSpc>
              <a:buFont typeface="Verdana" pitchFamily="32" charset="0"/>
              <a:buNone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		</a:t>
            </a:r>
            <a:r>
              <a:rPr lang="en-US" sz="24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loop 		   = </a:t>
            </a: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string</a:t>
            </a:r>
          </a:p>
          <a:p>
            <a:pPr marL="334963" lvl="1" indent="-334963" algn="just">
              <a:lnSpc>
                <a:spcPct val="130000"/>
              </a:lnSpc>
              <a:buFont typeface="Verdana" pitchFamily="32" charset="0"/>
              <a:buNone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		</a:t>
            </a:r>
            <a:r>
              <a:rPr lang="en-US" sz="24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scrollamount  =</a:t>
            </a: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long</a:t>
            </a:r>
          </a:p>
          <a:p>
            <a:pPr marL="334963" lvl="1" indent="-334963" algn="just">
              <a:lnSpc>
                <a:spcPct val="130000"/>
              </a:lnSpc>
              <a:buFont typeface="Verdana" pitchFamily="32" charset="0"/>
              <a:buNone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		</a:t>
            </a:r>
            <a:r>
              <a:rPr lang="en-US" sz="24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scrolldelay	   = </a:t>
            </a: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long </a:t>
            </a:r>
            <a:r>
              <a:rPr lang="en-US" sz="24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&gt;</a:t>
            </a: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Text Content</a:t>
            </a:r>
          </a:p>
          <a:p>
            <a:pPr marL="334963" lvl="1" indent="-334963" algn="just">
              <a:lnSpc>
                <a:spcPct val="130000"/>
              </a:lnSpc>
              <a:buClr>
                <a:srgbClr val="E46C0A"/>
              </a:buClr>
              <a:buFont typeface="Verdana" pitchFamily="32" charset="0"/>
              <a:buNone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&lt;/MARQUEE&gt;</a:t>
            </a:r>
          </a:p>
          <a:p>
            <a:pPr marL="334963" lvl="1" indent="-334963" algn="just">
              <a:lnSpc>
                <a:spcPct val="150000"/>
              </a:lnSpc>
              <a:spcBef>
                <a:spcPts val="1200"/>
              </a:spcBef>
              <a:buFont typeface="Wingdings" charset="2"/>
              <a:buChar char=""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Ví dụ: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ext Box 1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46800" rIns="0" bIns="46800" anchor="ctr"/>
          <a:lstStyle/>
          <a:p>
            <a:pPr algn="ctr">
              <a:buClr>
                <a:srgbClr val="FFFFFF"/>
              </a:buCl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e-DE" sz="2800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Chuyển hướng trang web</a:t>
            </a:r>
          </a:p>
        </p:txBody>
      </p:sp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76200" y="558800"/>
            <a:ext cx="8686800" cy="43418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marL="334963" lvl="1" indent="-334963" algn="just">
              <a:lnSpc>
                <a:spcPct val="150000"/>
              </a:lnSpc>
              <a:buFont typeface="Wingdings" charset="2"/>
              <a:buChar char=""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Tự động chuyển hướng trang web</a:t>
            </a:r>
          </a:p>
          <a:p>
            <a:pPr marL="334963" lvl="1" indent="-334963" algn="just">
              <a:lnSpc>
                <a:spcPct val="150000"/>
              </a:lnSpc>
              <a:spcBef>
                <a:spcPts val="600"/>
              </a:spcBef>
              <a:buFont typeface="Wingdings" charset="2"/>
              <a:buChar char=""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Tự động chuyển hướng trang sang trang web khác (URL) sau một khoảng thời gian t (tính theo giây).</a:t>
            </a:r>
          </a:p>
          <a:p>
            <a:pPr marL="334963" lvl="1" indent="-334963" algn="just">
              <a:lnSpc>
                <a:spcPct val="150000"/>
              </a:lnSpc>
              <a:spcBef>
                <a:spcPts val="600"/>
              </a:spcBef>
              <a:buFont typeface="Wingdings" charset="2"/>
              <a:buChar char=""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Cú pháp:</a:t>
            </a:r>
          </a:p>
          <a:p>
            <a:pPr marL="334963" lvl="1" indent="-334963" algn="just">
              <a:lnSpc>
                <a:spcPct val="130000"/>
              </a:lnSpc>
              <a:buClr>
                <a:srgbClr val="E46C0A"/>
              </a:buClr>
              <a:buFont typeface="Verdana" pitchFamily="32" charset="0"/>
              <a:buNone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&lt;HEAD&gt;</a:t>
            </a:r>
          </a:p>
          <a:p>
            <a:pPr marL="334963" lvl="1" indent="-334963" algn="just">
              <a:lnSpc>
                <a:spcPct val="130000"/>
              </a:lnSpc>
              <a:buFont typeface="Verdana" pitchFamily="32" charset="0"/>
              <a:buNone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		</a:t>
            </a:r>
            <a:r>
              <a:rPr lang="en-US" sz="24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&lt;META </a:t>
            </a:r>
            <a:r>
              <a:rPr lang="en-US" sz="2400">
                <a:solidFill>
                  <a:srgbClr val="0070C0"/>
                </a:solidFill>
                <a:latin typeface="Verdana" pitchFamily="32" charset="0"/>
                <a:ea typeface="DejaVu Sans" charset="0"/>
                <a:cs typeface="DejaVu Sans" charset="0"/>
              </a:rPr>
              <a:t>HTTP-EQUIV=</a:t>
            </a: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“refresh” </a:t>
            </a:r>
          </a:p>
          <a:p>
            <a:pPr marL="334963" lvl="1" indent="-334963" algn="just">
              <a:lnSpc>
                <a:spcPct val="130000"/>
              </a:lnSpc>
              <a:buFont typeface="Verdana" pitchFamily="32" charset="0"/>
              <a:buNone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			  </a:t>
            </a:r>
            <a:r>
              <a:rPr lang="en-US" sz="2400">
                <a:solidFill>
                  <a:srgbClr val="0070C0"/>
                </a:solidFill>
                <a:latin typeface="Verdana" pitchFamily="32" charset="0"/>
                <a:ea typeface="DejaVu Sans" charset="0"/>
                <a:cs typeface="DejaVu Sans" charset="0"/>
              </a:rPr>
              <a:t>CONTENT =</a:t>
            </a: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“t”; </a:t>
            </a:r>
            <a:r>
              <a:rPr lang="en-US" sz="2400">
                <a:solidFill>
                  <a:srgbClr val="0070C0"/>
                </a:solidFill>
                <a:latin typeface="Verdana" pitchFamily="32" charset="0"/>
                <a:ea typeface="DejaVu Sans" charset="0"/>
                <a:cs typeface="DejaVu Sans" charset="0"/>
              </a:rPr>
              <a:t>URL =</a:t>
            </a:r>
            <a:r>
              <a:rPr lang="en-US" sz="240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“URL” </a:t>
            </a:r>
            <a:r>
              <a:rPr lang="en-US" sz="24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&gt;</a:t>
            </a:r>
          </a:p>
          <a:p>
            <a:pPr marL="334963" lvl="1" indent="-334963" algn="just">
              <a:lnSpc>
                <a:spcPct val="130000"/>
              </a:lnSpc>
              <a:buClr>
                <a:srgbClr val="E46C0A"/>
              </a:buClr>
              <a:buFont typeface="Verdana" pitchFamily="32" charset="0"/>
              <a:buNone/>
              <a:tabLst>
                <a:tab pos="334963" algn="l"/>
                <a:tab pos="1249363" algn="l"/>
                <a:tab pos="2163763" algn="l"/>
                <a:tab pos="3078163" algn="l"/>
                <a:tab pos="3992563" algn="l"/>
                <a:tab pos="4906963" algn="l"/>
                <a:tab pos="5821363" algn="l"/>
                <a:tab pos="6735763" algn="l"/>
                <a:tab pos="7650163" algn="l"/>
                <a:tab pos="8564563" algn="l"/>
                <a:tab pos="9478963" algn="l"/>
                <a:tab pos="10393363" algn="l"/>
              </a:tabLst>
            </a:pPr>
            <a:r>
              <a:rPr lang="en-US" sz="2400">
                <a:solidFill>
                  <a:srgbClr val="E46C0A"/>
                </a:solidFill>
                <a:latin typeface="Verdana" pitchFamily="32" charset="0"/>
                <a:ea typeface="DejaVu Sans" charset="0"/>
                <a:cs typeface="DejaVu Sans" charset="0"/>
              </a:rPr>
              <a:t>&lt;/HEAD&gt;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ext Box 1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46800" rIns="0" bIns="46800" anchor="ctr"/>
          <a:lstStyle/>
          <a:p>
            <a:pPr algn="ctr">
              <a:buClr>
                <a:srgbClr val="FFFFFF"/>
              </a:buCl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dirty="0" err="1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Bài</a:t>
            </a:r>
            <a:r>
              <a:rPr lang="en-US" sz="2800" dirty="0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thực</a:t>
            </a:r>
            <a:r>
              <a:rPr lang="en-US" sz="2800" dirty="0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hành</a:t>
            </a:r>
            <a:endParaRPr lang="en-US" sz="2800" dirty="0">
              <a:solidFill>
                <a:srgbClr val="FFFFFF"/>
              </a:solidFill>
              <a:latin typeface="Verdana" pitchFamily="32" charset="0"/>
              <a:ea typeface="DejaVu Sans" charset="0"/>
              <a:cs typeface="DejaVu Sans" charset="0"/>
            </a:endParaRPr>
          </a:p>
        </p:txBody>
      </p:sp>
      <p:sp>
        <p:nvSpPr>
          <p:cNvPr id="38914" name="Rectangle 2"/>
          <p:cNvSpPr>
            <a:spLocks noChangeArrowheads="1"/>
          </p:cNvSpPr>
          <p:nvPr/>
        </p:nvSpPr>
        <p:spPr bwMode="auto">
          <a:xfrm>
            <a:off x="0" y="381000"/>
            <a:ext cx="9144000" cy="57531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marL="0" lvl="1">
              <a:lnSpc>
                <a:spcPct val="130000"/>
              </a:lnSpc>
              <a:buFont typeface="Wingdings" charset="2"/>
              <a:buChar char="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Chấm</a:t>
            </a:r>
            <a:r>
              <a:rPr lang="en-US" sz="28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và</a:t>
            </a:r>
            <a:r>
              <a:rPr lang="en-US" sz="28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nhận</a:t>
            </a:r>
            <a:r>
              <a:rPr lang="en-US" sz="28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xét</a:t>
            </a:r>
            <a:r>
              <a:rPr lang="en-US" sz="28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bài</a:t>
            </a:r>
            <a:r>
              <a:rPr lang="en-US" sz="28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tập</a:t>
            </a:r>
            <a:r>
              <a:rPr lang="en-US" sz="28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giao</a:t>
            </a:r>
            <a:r>
              <a:rPr lang="en-US" sz="28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tuần</a:t>
            </a:r>
            <a:r>
              <a:rPr lang="en-US" sz="28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trước</a:t>
            </a:r>
            <a:endParaRPr lang="en-US" sz="2800" dirty="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0" lvl="1">
              <a:lnSpc>
                <a:spcPct val="130000"/>
              </a:lnSpc>
              <a:buFont typeface="Wingdings" charset="2"/>
              <a:buChar char="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Tìm</a:t>
            </a:r>
            <a:r>
              <a:rPr lang="en-US" sz="28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hiểu</a:t>
            </a:r>
            <a:r>
              <a:rPr lang="en-US" sz="28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thêm</a:t>
            </a:r>
            <a:r>
              <a:rPr lang="en-US" sz="28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các</a:t>
            </a:r>
            <a:r>
              <a:rPr lang="en-US" sz="28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thuộc</a:t>
            </a:r>
            <a:r>
              <a:rPr lang="en-US" sz="28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tính</a:t>
            </a:r>
            <a:r>
              <a:rPr lang="en-US" sz="28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của</a:t>
            </a:r>
            <a:r>
              <a:rPr lang="en-US" sz="28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Form Fields.</a:t>
            </a:r>
          </a:p>
          <a:p>
            <a:pPr marL="0" lvl="1">
              <a:lnSpc>
                <a:spcPct val="130000"/>
              </a:lnSpc>
              <a:buFont typeface="Wingdings" charset="2"/>
              <a:buChar char="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Thực</a:t>
            </a:r>
            <a:r>
              <a:rPr lang="en-US" sz="28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hành</a:t>
            </a:r>
            <a:r>
              <a:rPr lang="en-US" sz="28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Form </a:t>
            </a:r>
            <a:r>
              <a:rPr lang="en-US" sz="28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cơ</a:t>
            </a:r>
            <a:r>
              <a:rPr lang="en-US" sz="28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bản</a:t>
            </a:r>
            <a:r>
              <a:rPr lang="en-US" sz="28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: </a:t>
            </a:r>
            <a:r>
              <a:rPr lang="en-US" sz="2400" b="1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Đăng</a:t>
            </a:r>
            <a:r>
              <a:rPr lang="en-US" sz="2400" b="1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ký</a:t>
            </a:r>
            <a:r>
              <a:rPr lang="en-US" sz="2400" b="1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người</a:t>
            </a:r>
            <a:r>
              <a:rPr lang="en-US" sz="2400" b="1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dùng</a:t>
            </a:r>
            <a:endParaRPr lang="en-US" sz="2400" b="1" dirty="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0" lvl="1">
              <a:lnSpc>
                <a:spcPct val="150000"/>
              </a:lnSpc>
              <a:buFont typeface="Wingdings" charset="2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1" dirty="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0" lvl="1">
              <a:lnSpc>
                <a:spcPct val="150000"/>
              </a:lnSpc>
              <a:buFont typeface="Wingdings" charset="2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1" dirty="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0" lvl="1">
              <a:lnSpc>
                <a:spcPct val="150000"/>
              </a:lnSpc>
              <a:buFont typeface="Wingdings" charset="2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1" dirty="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0" lvl="1">
              <a:lnSpc>
                <a:spcPct val="150000"/>
              </a:lnSpc>
              <a:buFont typeface="Wingdings" charset="2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1" dirty="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0" lvl="1">
              <a:lnSpc>
                <a:spcPct val="150000"/>
              </a:lnSpc>
              <a:buFont typeface="Wingdings" charset="2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1" dirty="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0" lvl="1">
              <a:lnSpc>
                <a:spcPct val="150000"/>
              </a:lnSpc>
              <a:buFont typeface="Wingdings" charset="2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1" dirty="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0" lvl="1">
              <a:lnSpc>
                <a:spcPct val="130000"/>
              </a:lnSpc>
              <a:spcBef>
                <a:spcPts val="1800"/>
              </a:spcBef>
              <a:buFont typeface="Wingdings" charset="2"/>
              <a:buChar char="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dirty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</a:p>
        </p:txBody>
      </p:sp>
      <p:pic>
        <p:nvPicPr>
          <p:cNvPr id="3891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09800" y="2209800"/>
            <a:ext cx="4772025" cy="3200400"/>
          </a:xfrm>
          <a:prstGeom prst="rect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3725" y="471487"/>
            <a:ext cx="7924800" cy="5853113"/>
          </a:xfrm>
          <a:prstGeom prst="rect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</p:pic>
      <p:sp>
        <p:nvSpPr>
          <p:cNvPr id="3" name="Text Box 1"/>
          <p:cNvSpPr txBox="1">
            <a:spLocks noChangeArrowheads="1"/>
          </p:cNvSpPr>
          <p:nvPr/>
        </p:nvSpPr>
        <p:spPr bwMode="auto">
          <a:xfrm>
            <a:off x="27709" y="-76201"/>
            <a:ext cx="8915400" cy="600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46800" rIns="0" bIns="46800" anchor="ctr"/>
          <a:lstStyle/>
          <a:p>
            <a:pPr algn="ctr">
              <a:buClr>
                <a:srgbClr val="FFFFFF"/>
              </a:buClr>
              <a:buFont typeface="Verdan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dirty="0" err="1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Bài</a:t>
            </a:r>
            <a:r>
              <a:rPr lang="en-US" sz="2800" dirty="0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thực</a:t>
            </a:r>
            <a:r>
              <a:rPr lang="en-US" sz="2800" dirty="0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hành</a:t>
            </a:r>
            <a:r>
              <a:rPr lang="en-US" sz="2800" dirty="0" smtClean="0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 – </a:t>
            </a:r>
            <a:r>
              <a:rPr lang="en-US" sz="2800" dirty="0" err="1" smtClean="0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Đăng</a:t>
            </a:r>
            <a:r>
              <a:rPr lang="en-US" sz="2800" dirty="0" smtClean="0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ký</a:t>
            </a:r>
            <a:r>
              <a:rPr lang="en-US" sz="2800" dirty="0" smtClean="0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người</a:t>
            </a:r>
            <a:r>
              <a:rPr lang="en-US" sz="2800" dirty="0" smtClean="0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 smtClean="0">
                <a:solidFill>
                  <a:srgbClr val="FFFFFF"/>
                </a:solidFill>
                <a:latin typeface="Verdana" pitchFamily="32" charset="0"/>
                <a:ea typeface="DejaVu Sans" charset="0"/>
                <a:cs typeface="DejaVu Sans" charset="0"/>
              </a:rPr>
              <a:t>dùng</a:t>
            </a:r>
            <a:endParaRPr lang="en-US" sz="2800" dirty="0">
              <a:solidFill>
                <a:srgbClr val="FFFFFF"/>
              </a:solidFill>
              <a:latin typeface="Verdana" pitchFamily="32" charset="0"/>
              <a:ea typeface="DejaVu Sans" charset="0"/>
              <a:cs typeface="DejaVu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4219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866656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DejaVu Sans"/>
        <a:cs typeface="DejaVu Sans"/>
      </a:majorFont>
      <a:minorFont>
        <a:latin typeface="Calibri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Calibri" pitchFamily="32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Calibri" pitchFamily="3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Calibri" pitchFamily="32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Calibri" pitchFamily="32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</TotalTime>
  <Words>1151</Words>
  <Application>Microsoft Office PowerPoint</Application>
  <PresentationFormat>On-screen Show (4:3)</PresentationFormat>
  <Paragraphs>321</Paragraphs>
  <Slides>34</Slides>
  <Notes>30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Custom Design</vt:lpstr>
      <vt:lpstr>Office Theme</vt:lpstr>
      <vt:lpstr>1_Custom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LoanPhan</dc:creator>
  <cp:lastModifiedBy>admin</cp:lastModifiedBy>
  <cp:revision>33</cp:revision>
  <cp:lastPrinted>2012-06-25T15:35:00Z</cp:lastPrinted>
  <dcterms:modified xsi:type="dcterms:W3CDTF">2018-08-10T09:49:25Z</dcterms:modified>
</cp:coreProperties>
</file>